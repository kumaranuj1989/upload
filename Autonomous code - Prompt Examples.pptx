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2" r:id="rId5"/>
    <p:sldId id="258" r:id="rId6"/>
    <p:sldId id="259"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D3252-4F51-73FF-88B6-9B26B6DEEA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FB3D58-7B31-1AF0-2A18-9EB388DB6C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BFE0C1-5815-3CC7-07B8-B3EBE7F0284B}"/>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5" name="Footer Placeholder 4">
            <a:extLst>
              <a:ext uri="{FF2B5EF4-FFF2-40B4-BE49-F238E27FC236}">
                <a16:creationId xmlns:a16="http://schemas.microsoft.com/office/drawing/2014/main" id="{257ADBFC-1D44-CD87-30CC-76F53AD332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0AE76-B2F2-0DEC-E0AB-65DCAAC205C9}"/>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038864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C5E89-40F2-6A0B-5CED-DB37C3C7FD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40089A-D503-DF80-F96E-8A99C8A9A0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DC9985-FA83-CA1D-FB22-953AE41A5CC8}"/>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5" name="Footer Placeholder 4">
            <a:extLst>
              <a:ext uri="{FF2B5EF4-FFF2-40B4-BE49-F238E27FC236}">
                <a16:creationId xmlns:a16="http://schemas.microsoft.com/office/drawing/2014/main" id="{33AAFE8C-7BD7-1138-09FE-63A984C39C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9EB8FC-BEA1-2895-01FF-5AA2F8FADC73}"/>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1898794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5710B-7EA2-C65D-A7C5-3A4B2D0C1F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9D6567-F6FC-A97E-BED2-2D1F8F01A5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17D6E-B92D-2A24-A83F-2AAA77CA4DA3}"/>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5" name="Footer Placeholder 4">
            <a:extLst>
              <a:ext uri="{FF2B5EF4-FFF2-40B4-BE49-F238E27FC236}">
                <a16:creationId xmlns:a16="http://schemas.microsoft.com/office/drawing/2014/main" id="{1FFE2E13-D3CF-5E56-12FE-D65C37A7E3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7FC873-8C6F-997A-B2F6-78ED3F7C75AD}"/>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1316506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D8181-1083-08AC-728C-943E2B5850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26EE1B-7B3D-F51B-6281-AB5D102DE5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724374-11D6-1FBD-FD7D-F294ADC402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85C067-D8C0-9739-2CCB-41BC2365F4EB}"/>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6" name="Footer Placeholder 5">
            <a:extLst>
              <a:ext uri="{FF2B5EF4-FFF2-40B4-BE49-F238E27FC236}">
                <a16:creationId xmlns:a16="http://schemas.microsoft.com/office/drawing/2014/main" id="{4756A1FD-3CDB-960E-1485-91F4507919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DC1C92-C339-D7CF-D02F-5202F4EF3C25}"/>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811149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17652-7C5E-98B0-C1F6-8B4B5D5E37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E701AB-C51D-3BAC-C93D-CCCAE2CAFE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051DB0-4334-EB63-20E6-0684F6FE83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53AC49-BBED-5791-F1AE-8D9D96D499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8BBF1B-79C8-4BF4-B95B-3375026BA6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1D84DF-DFA5-DD59-F854-E72D1DEB8DCA}"/>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8" name="Footer Placeholder 7">
            <a:extLst>
              <a:ext uri="{FF2B5EF4-FFF2-40B4-BE49-F238E27FC236}">
                <a16:creationId xmlns:a16="http://schemas.microsoft.com/office/drawing/2014/main" id="{8AF280C2-6173-55BC-5006-0FBF2A6251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51668F-E43D-4F40-D6F3-0758211E2819}"/>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175485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0842C-C92D-80BF-3177-48CD7C23A4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551DD9-E5C3-E190-4BCB-D3D8CCF10366}"/>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4" name="Footer Placeholder 3">
            <a:extLst>
              <a:ext uri="{FF2B5EF4-FFF2-40B4-BE49-F238E27FC236}">
                <a16:creationId xmlns:a16="http://schemas.microsoft.com/office/drawing/2014/main" id="{D3E97363-434D-B731-6BAA-0580005794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A13D7F-AC9B-6B3B-97EB-F52D4CDAA9E3}"/>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856806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9DF046-6673-45E7-557E-B38DC7F322E6}"/>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3" name="Footer Placeholder 2">
            <a:extLst>
              <a:ext uri="{FF2B5EF4-FFF2-40B4-BE49-F238E27FC236}">
                <a16:creationId xmlns:a16="http://schemas.microsoft.com/office/drawing/2014/main" id="{08E4A23F-148A-0D75-A1EF-E2564F3E57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5DABB3-3F82-2968-2D90-F62A77C63D4D}"/>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232410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32DE6-A62B-A084-BFAA-485F013629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B32FFA-A3CF-BE98-7ACC-E4B47340EE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7876F3-0E96-6672-8C19-491DDB62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815644-6579-0437-052E-5319887E36A5}"/>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6" name="Footer Placeholder 5">
            <a:extLst>
              <a:ext uri="{FF2B5EF4-FFF2-40B4-BE49-F238E27FC236}">
                <a16:creationId xmlns:a16="http://schemas.microsoft.com/office/drawing/2014/main" id="{51D84FA4-11C3-B047-941D-C072980A1B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34FECC-5C4E-7581-EBA6-3B77AEA0043E}"/>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1667675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75675-61E1-2934-07AD-21A949A18A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0D2305-49E8-B326-CB32-4BDA553624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AA32C8-573B-1807-D2C9-07AF621A4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3EF39C-CCB9-4E69-8394-1F8DBA944372}"/>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6" name="Footer Placeholder 5">
            <a:extLst>
              <a:ext uri="{FF2B5EF4-FFF2-40B4-BE49-F238E27FC236}">
                <a16:creationId xmlns:a16="http://schemas.microsoft.com/office/drawing/2014/main" id="{AC1FB334-6E74-5AC4-8C1E-204EEE5A68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497B21-FC3E-D1F0-F10F-D95F54CBF17B}"/>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797327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9A66D-1F66-2E9F-BBDD-9221F3E60BC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C94177-9CF7-B30B-AFBD-30E74C7753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C9EE58-5068-2C47-C214-DB0B8100CAFD}"/>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5" name="Footer Placeholder 4">
            <a:extLst>
              <a:ext uri="{FF2B5EF4-FFF2-40B4-BE49-F238E27FC236}">
                <a16:creationId xmlns:a16="http://schemas.microsoft.com/office/drawing/2014/main" id="{DBA20DB3-14D2-C83A-D531-DE8947025F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61D12F-BC3C-4D8D-1CDA-766E462E62CE}"/>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589268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55B5B0-3364-95A8-B5D1-23C60AC064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D73470-04D6-26B2-A75F-3C4E0D0D9B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0D3F28-AE23-3C61-D025-9FCB083DFDE5}"/>
              </a:ext>
            </a:extLst>
          </p:cNvPr>
          <p:cNvSpPr>
            <a:spLocks noGrp="1"/>
          </p:cNvSpPr>
          <p:nvPr>
            <p:ph type="dt" sz="half" idx="10"/>
          </p:nvPr>
        </p:nvSpPr>
        <p:spPr/>
        <p:txBody>
          <a:bodyPr/>
          <a:lstStyle/>
          <a:p>
            <a:fld id="{3E11ED9A-1AC7-4F56-B725-3F5B1A637226}" type="datetimeFigureOut">
              <a:rPr lang="en-US" smtClean="0"/>
              <a:t>5/27/2024</a:t>
            </a:fld>
            <a:endParaRPr lang="en-US"/>
          </a:p>
        </p:txBody>
      </p:sp>
      <p:sp>
        <p:nvSpPr>
          <p:cNvPr id="5" name="Footer Placeholder 4">
            <a:extLst>
              <a:ext uri="{FF2B5EF4-FFF2-40B4-BE49-F238E27FC236}">
                <a16:creationId xmlns:a16="http://schemas.microsoft.com/office/drawing/2014/main" id="{38761F33-ECAC-E3F4-FF21-EDAF39CE8E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6ED027-1EB3-E909-1016-1E3F58851118}"/>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835005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B49482-7623-72DC-8A0E-9EBC729D28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2A41E3-6840-FC3A-AC7F-41D10F29D8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0F86A-C486-A9D9-A532-74576838C9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11ED9A-1AC7-4F56-B725-3F5B1A637226}" type="datetimeFigureOut">
              <a:rPr lang="en-US" smtClean="0"/>
              <a:t>5/27/2024</a:t>
            </a:fld>
            <a:endParaRPr lang="en-US"/>
          </a:p>
        </p:txBody>
      </p:sp>
      <p:sp>
        <p:nvSpPr>
          <p:cNvPr id="5" name="Footer Placeholder 4">
            <a:extLst>
              <a:ext uri="{FF2B5EF4-FFF2-40B4-BE49-F238E27FC236}">
                <a16:creationId xmlns:a16="http://schemas.microsoft.com/office/drawing/2014/main" id="{19C28A58-E96F-E776-FCF9-ED0DA74AAB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694861-3AC2-8735-09A7-0E2659B56D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474012-8112-4BB0-9860-02B3C2CF114F}" type="slidenum">
              <a:rPr lang="en-US" smtClean="0"/>
              <a:t>‹#›</a:t>
            </a:fld>
            <a:endParaRPr lang="en-US"/>
          </a:p>
        </p:txBody>
      </p:sp>
    </p:spTree>
    <p:extLst>
      <p:ext uri="{BB962C8B-B14F-4D97-AF65-F5344CB8AC3E}">
        <p14:creationId xmlns:p14="http://schemas.microsoft.com/office/powerpoint/2010/main" val="2044568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226E732-DD6B-8CE8-1EB5-E08181A5A49D}"/>
              </a:ext>
            </a:extLst>
          </p:cNvPr>
          <p:cNvSpPr txBox="1">
            <a:spLocks/>
          </p:cNvSpPr>
          <p:nvPr/>
        </p:nvSpPr>
        <p:spPr>
          <a:xfrm>
            <a:off x="569939" y="245987"/>
            <a:ext cx="11201400" cy="342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1219170"/>
            <a:r>
              <a:rPr lang="en-US" sz="32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Autonomous code</a:t>
            </a:r>
          </a:p>
        </p:txBody>
      </p:sp>
      <p:sp>
        <p:nvSpPr>
          <p:cNvPr id="7" name="Title 1">
            <a:extLst>
              <a:ext uri="{FF2B5EF4-FFF2-40B4-BE49-F238E27FC236}">
                <a16:creationId xmlns:a16="http://schemas.microsoft.com/office/drawing/2014/main" id="{D021D8B4-A4FF-701F-51F0-536EF452A8B0}"/>
              </a:ext>
            </a:extLst>
          </p:cNvPr>
          <p:cNvSpPr txBox="1">
            <a:spLocks/>
          </p:cNvSpPr>
          <p:nvPr/>
        </p:nvSpPr>
        <p:spPr>
          <a:xfrm>
            <a:off x="495299" y="6269112"/>
            <a:ext cx="11201400" cy="342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1219170"/>
            <a:r>
              <a:rPr lang="en-US" sz="3200" b="1" u="sng"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Input Prompt examples</a:t>
            </a:r>
          </a:p>
        </p:txBody>
      </p:sp>
      <p:pic>
        <p:nvPicPr>
          <p:cNvPr id="11" name="Picture 10" descr="A group of gears in a circle&#10;&#10;Description automatically generated">
            <a:extLst>
              <a:ext uri="{FF2B5EF4-FFF2-40B4-BE49-F238E27FC236}">
                <a16:creationId xmlns:a16="http://schemas.microsoft.com/office/drawing/2014/main" id="{A6943FB2-A8A0-5179-28D2-279E29EA69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0456" y="722449"/>
            <a:ext cx="5131085" cy="5131085"/>
          </a:xfrm>
          <a:prstGeom prst="rect">
            <a:avLst/>
          </a:prstGeom>
        </p:spPr>
      </p:pic>
      <p:sp>
        <p:nvSpPr>
          <p:cNvPr id="12" name="Rectangle 11">
            <a:extLst>
              <a:ext uri="{FF2B5EF4-FFF2-40B4-BE49-F238E27FC236}">
                <a16:creationId xmlns:a16="http://schemas.microsoft.com/office/drawing/2014/main" id="{7718C841-1068-9CDE-556C-31FC8B910EC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Tree>
    <p:extLst>
      <p:ext uri="{BB962C8B-B14F-4D97-AF65-F5344CB8AC3E}">
        <p14:creationId xmlns:p14="http://schemas.microsoft.com/office/powerpoint/2010/main" val="2938364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212436"/>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Autonomous code – Prompt Examples</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36008" y="3894060"/>
            <a:ext cx="11291881" cy="1569660"/>
          </a:xfrm>
          <a:prstGeom prst="rect">
            <a:avLst/>
          </a:prstGeom>
          <a:noFill/>
          <a:ln>
            <a:solidFill>
              <a:schemeClr val="accent6">
                <a:lumMod val="75000"/>
              </a:schemeClr>
            </a:solidFill>
          </a:ln>
        </p:spPr>
        <p:txBody>
          <a:bodyPr wrap="square">
            <a:spAutoFit/>
          </a:bodyPr>
          <a:lstStyle/>
          <a:p>
            <a:r>
              <a:rPr lang="en-US" sz="1200" dirty="0"/>
              <a:t>This document contains the examples of prompts which are useful on Autonomous code platform. There are few guidelines :</a:t>
            </a:r>
          </a:p>
          <a:p>
            <a:pPr marL="285750" indent="-285750" algn="just">
              <a:buFont typeface="Arial" panose="020B0604020202020204" pitchFamily="34" charset="0"/>
              <a:buChar char="•"/>
            </a:pPr>
            <a:r>
              <a:rPr lang="en-US" sz="1200" dirty="0"/>
              <a:t>The prompts given are as examples for users’ understanding to come up with better user prompts for their own requirements. </a:t>
            </a:r>
          </a:p>
          <a:p>
            <a:pPr marL="285750" indent="-285750" algn="just">
              <a:buFont typeface="Arial" panose="020B0604020202020204" pitchFamily="34" charset="0"/>
              <a:buChar char="•"/>
            </a:pPr>
            <a:r>
              <a:rPr lang="en-US" sz="1200" dirty="0"/>
              <a:t>The source document for all the information required to write good prompt is functional specification or user story document. Users are advice to read such documents in detail to come up with better prompts</a:t>
            </a:r>
          </a:p>
          <a:p>
            <a:pPr marL="285750" indent="-285750" algn="just">
              <a:buFont typeface="Arial" panose="020B0604020202020204" pitchFamily="34" charset="0"/>
              <a:buChar char="•"/>
            </a:pPr>
            <a:r>
              <a:rPr lang="en-US" sz="1200" dirty="0"/>
              <a:t>Autonomous code platform provides various options(Normal Mode – Expert mode , Background processing etc.) to execute the user prompt efficiently. Developers are advised to make better use of these tools to enhance the output and their experience.   </a:t>
            </a:r>
          </a:p>
          <a:p>
            <a:pPr marL="285750" indent="-285750" algn="just">
              <a:buFont typeface="Arial" panose="020B0604020202020204" pitchFamily="34" charset="0"/>
              <a:buChar char="•"/>
            </a:pPr>
            <a:r>
              <a:rPr lang="en-US" sz="1200" dirty="0"/>
              <a:t>Writing better prompts that could produce the expected output needs the series of refinements in prompts as per subsequent output received. Users are advised to refine their prompt to include missing information to get expected output. </a:t>
            </a:r>
          </a:p>
        </p:txBody>
      </p:sp>
      <p:pic>
        <p:nvPicPr>
          <p:cNvPr id="2" name="Picture 1">
            <a:extLst>
              <a:ext uri="{FF2B5EF4-FFF2-40B4-BE49-F238E27FC236}">
                <a16:creationId xmlns:a16="http://schemas.microsoft.com/office/drawing/2014/main" id="{2FDAC2F7-908D-D373-7085-885970D037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299" y="952385"/>
            <a:ext cx="11173301" cy="2318598"/>
          </a:xfrm>
          <a:prstGeom prst="rect">
            <a:avLst/>
          </a:prstGeom>
          <a:noFill/>
          <a:ln>
            <a:noFill/>
          </a:ln>
        </p:spPr>
      </p:pic>
    </p:spTree>
    <p:extLst>
      <p:ext uri="{BB962C8B-B14F-4D97-AF65-F5344CB8AC3E}">
        <p14:creationId xmlns:p14="http://schemas.microsoft.com/office/powerpoint/2010/main" val="753856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212436"/>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CDS - Example</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67201" y="1237678"/>
            <a:ext cx="11291881" cy="5500352"/>
          </a:xfrm>
          <a:prstGeom prst="rect">
            <a:avLst/>
          </a:prstGeom>
          <a:noFill/>
          <a:ln>
            <a:solidFill>
              <a:schemeClr val="accent6">
                <a:lumMod val="75000"/>
              </a:schemeClr>
            </a:solidFill>
          </a:ln>
        </p:spPr>
        <p:txBody>
          <a:bodyPr wrap="square">
            <a:spAutoFit/>
          </a:bodyPr>
          <a:lstStyle/>
          <a:p>
            <a:r>
              <a:rPr lang="en-US" sz="1200" b="1" dirty="0">
                <a:effectLst/>
                <a:ea typeface="Calibri" panose="020F0502020204030204" pitchFamily="34" charset="0"/>
                <a:cs typeface="Times New Roman" panose="02020603050405020304" pitchFamily="18" charset="0"/>
              </a:rPr>
              <a:t>1. Defining short prompt with basic requirement will generate vague output</a:t>
            </a:r>
            <a:endParaRPr lang="en-US" sz="1200" dirty="0">
              <a:effectLst/>
              <a:ea typeface="Calibri" panose="020F0502020204030204" pitchFamily="34" charset="0"/>
              <a:cs typeface="Times New Roman" panose="02020603050405020304" pitchFamily="18" charset="0"/>
            </a:endParaRPr>
          </a:p>
          <a:p>
            <a:endParaRPr lang="en-US" sz="1200" dirty="0"/>
          </a:p>
          <a:p>
            <a:r>
              <a:rPr lang="en-US" sz="1200" dirty="0">
                <a:effectLst/>
                <a:ea typeface="Calibri" panose="020F0502020204030204" pitchFamily="34" charset="0"/>
                <a:cs typeface="Times New Roman" panose="02020603050405020304" pitchFamily="18" charset="0"/>
              </a:rPr>
              <a:t>Ex: Generate Report for Accounts Receivables Aging Report</a:t>
            </a:r>
          </a:p>
          <a:p>
            <a:endParaRPr lang="en-US" sz="1200" dirty="0"/>
          </a:p>
          <a:p>
            <a:pPr marL="0" marR="0">
              <a:lnSpc>
                <a:spcPct val="107000"/>
              </a:lnSpc>
              <a:spcBef>
                <a:spcPts val="0"/>
              </a:spcBef>
              <a:spcAft>
                <a:spcPts val="800"/>
              </a:spcAft>
            </a:pPr>
            <a:r>
              <a:rPr lang="en-US" sz="1200" b="1" dirty="0">
                <a:effectLst/>
                <a:ea typeface="Calibri" panose="020F0502020204030204" pitchFamily="34" charset="0"/>
                <a:cs typeface="Times New Roman" panose="02020603050405020304" pitchFamily="18" charset="0"/>
              </a:rPr>
              <a:t>2. Defining The Driver table for the Report in Prompt helps generate proper Output</a:t>
            </a:r>
            <a:endParaRPr lang="en-US" sz="12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ea typeface="Calibri" panose="020F0502020204030204" pitchFamily="34" charset="0"/>
                <a:cs typeface="Times New Roman" panose="02020603050405020304" pitchFamily="18" charset="0"/>
              </a:rPr>
              <a:t>Ex: Generate Report for Accounts Receivables Aging Report using ACDOCA as Driver table.</a:t>
            </a:r>
            <a:endParaRPr lang="en-US" sz="1200" b="1"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ea typeface="Calibri" panose="020F0502020204030204" pitchFamily="34" charset="0"/>
                <a:cs typeface="Times New Roman" panose="02020603050405020304" pitchFamily="18" charset="0"/>
              </a:rPr>
              <a:t>3. Getting more inputs from FSD for given User Story in Prompt will help in defining better output</a:t>
            </a:r>
            <a:endParaRPr lang="en-US" sz="12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ea typeface="Calibri" panose="020F0502020204030204" pitchFamily="34" charset="0"/>
                <a:cs typeface="Times New Roman" panose="02020603050405020304" pitchFamily="18" charset="0"/>
              </a:rPr>
              <a:t>Ex: Generate Report for Accounts Receivables Aging Report using ACDOCA table as driver with master data associations for Company Code plant and material with Amount in Company Code Currency for different </a:t>
            </a:r>
            <a:r>
              <a:rPr lang="en-US" sz="1200">
                <a:effectLst/>
                <a:ea typeface="Calibri" panose="020F0502020204030204" pitchFamily="34" charset="0"/>
                <a:cs typeface="Times New Roman" panose="02020603050405020304" pitchFamily="18" charset="0"/>
              </a:rPr>
              <a:t>Aging buckets of </a:t>
            </a:r>
            <a:r>
              <a:rPr lang="en-US" sz="1200" dirty="0">
                <a:effectLst/>
                <a:ea typeface="Calibri" panose="020F0502020204030204" pitchFamily="34" charset="0"/>
                <a:cs typeface="Times New Roman" panose="02020603050405020304" pitchFamily="18" charset="0"/>
              </a:rPr>
              <a:t>30 days 60 days and 90 days.</a:t>
            </a:r>
            <a:endParaRPr lang="en-US" sz="1200" b="1"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ea typeface="Calibri" panose="020F0502020204030204" pitchFamily="34" charset="0"/>
                <a:cs typeface="Times New Roman" panose="02020603050405020304" pitchFamily="18" charset="0"/>
              </a:rPr>
              <a:t>4. Defining Important KPI/Metrics context explicitly helps in clear output of Code for them.</a:t>
            </a:r>
            <a:endParaRPr lang="en-US" sz="12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ea typeface="Calibri" panose="020F0502020204030204" pitchFamily="34" charset="0"/>
                <a:cs typeface="Times New Roman" panose="02020603050405020304" pitchFamily="18" charset="0"/>
              </a:rPr>
              <a:t> Ex: Generate Report for Accounts Receivables Aging Report using ACDOCA table as driver with master data associations for Company Code plant and material with three separate KPIs of Aging Buckets ,First KPI as within range of 30 days from under inputted date for Amount in Company Code Currency, second KPI as within range of 60 days from under inputted date for Amount in Company Code Currency and third KPI as within range of 90 days from under inputted date for Amount in Company Code Currency</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5. Defining more information as special joining condition in prompt helps to let Model know precedence of Join over Association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 Ex: Generate Report for Accounts Receivables Aging Report using ACDOCA table as driver with master data associations for Company Code plant and material with three separate KPIs of Aging Buckets , First KPI as within range of 30 days from under inputted date for Amount in Company Code Currency, second KPI as within range of 60 days from under inputted date for Amount in Company Code Currency and third KPI as within range of 90 days from under inputted date for Amount in Company Code Currency and Join with BSEG table for getting Document Type field.</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6. We can add User Prompts requirement in Prompt for getting complete code output.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Ex: Generate Report for Accounts Receivables Aging Report using ACDOCA table as driver with master data associations for Company Code plant and material with three separate KPIs of Aging Buckets , First KPI as within range of 30 days from under inputted date for Amount in Company Code Currency, second KPI as within range of 60 days from under inputted date for Amount in Company Code Currency and third KPI as within range of 90 days from under inputted date for Amount in Company Code Currency and Join with BSEG table for getting Document Type field with User Prompt on Company Code, Plant and Material.</a:t>
            </a:r>
          </a:p>
        </p:txBody>
      </p:sp>
      <p:sp>
        <p:nvSpPr>
          <p:cNvPr id="2" name="TextBox 1">
            <a:extLst>
              <a:ext uri="{FF2B5EF4-FFF2-40B4-BE49-F238E27FC236}">
                <a16:creationId xmlns:a16="http://schemas.microsoft.com/office/drawing/2014/main" id="{E2062759-43C4-2DEB-682A-686FD4EE90B1}"/>
              </a:ext>
            </a:extLst>
          </p:cNvPr>
          <p:cNvSpPr txBox="1"/>
          <p:nvPr/>
        </p:nvSpPr>
        <p:spPr>
          <a:xfrm>
            <a:off x="495300" y="711774"/>
            <a:ext cx="11291881" cy="461665"/>
          </a:xfrm>
          <a:prstGeom prst="rect">
            <a:avLst/>
          </a:prstGeom>
          <a:noFill/>
          <a:ln>
            <a:solidFill>
              <a:schemeClr val="accent6">
                <a:lumMod val="75000"/>
              </a:schemeClr>
            </a:solidFill>
          </a:ln>
        </p:spPr>
        <p:txBody>
          <a:bodyPr wrap="square">
            <a:spAutoFit/>
          </a:bodyPr>
          <a:lstStyle/>
          <a:p>
            <a:r>
              <a:rPr lang="en-US" sz="1200" dirty="0"/>
              <a:t>Below CDS analytics example shows the series of refinements to the initial prompt that resulted the expected output. </a:t>
            </a:r>
          </a:p>
          <a:p>
            <a:r>
              <a:rPr lang="en-US" sz="1200" b="1" u="sng" dirty="0"/>
              <a:t>Users are advised to follow similar series of refinements in further sections of this document.</a:t>
            </a:r>
          </a:p>
        </p:txBody>
      </p:sp>
    </p:spTree>
    <p:extLst>
      <p:ext uri="{BB962C8B-B14F-4D97-AF65-F5344CB8AC3E}">
        <p14:creationId xmlns:p14="http://schemas.microsoft.com/office/powerpoint/2010/main" val="1031901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212436"/>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Conversion - Example</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67201" y="736254"/>
            <a:ext cx="11291881" cy="3970318"/>
          </a:xfrm>
          <a:prstGeom prst="rect">
            <a:avLst/>
          </a:prstGeom>
          <a:noFill/>
          <a:ln>
            <a:solidFill>
              <a:schemeClr val="accent6">
                <a:lumMod val="75000"/>
              </a:schemeClr>
            </a:solidFill>
          </a:ln>
        </p:spPr>
        <p:txBody>
          <a:bodyPr wrap="square">
            <a:spAutoFit/>
          </a:bodyPr>
          <a:lstStyle/>
          <a:p>
            <a:r>
              <a:rPr lang="en-US" sz="1200" dirty="0"/>
              <a:t>1.Custom program is required to create profit center using BAPI.</a:t>
            </a:r>
          </a:p>
          <a:p>
            <a:r>
              <a:rPr lang="en-US" sz="1200" dirty="0"/>
              <a:t>2.Input for the Profit center creation will be a flat file having following fields </a:t>
            </a:r>
          </a:p>
          <a:p>
            <a:r>
              <a:rPr lang="en-US" sz="1200" dirty="0"/>
              <a:t>	a) CONTROLLING_AREA</a:t>
            </a:r>
          </a:p>
          <a:p>
            <a:r>
              <a:rPr lang="en-US" sz="1200" dirty="0"/>
              <a:t>	b) COMP_CODE</a:t>
            </a:r>
          </a:p>
          <a:p>
            <a:r>
              <a:rPr lang="en-US" sz="1200" dirty="0"/>
              <a:t>	c) PROFITCENTER</a:t>
            </a:r>
          </a:p>
          <a:p>
            <a:r>
              <a:rPr lang="en-US" sz="1200" dirty="0"/>
              <a:t>	d) PROFIT_CNTR_NAME</a:t>
            </a:r>
          </a:p>
          <a:p>
            <a:r>
              <a:rPr lang="en-US" sz="1200" dirty="0"/>
              <a:t>	e) LONG_TEXT</a:t>
            </a:r>
          </a:p>
          <a:p>
            <a:r>
              <a:rPr lang="en-US" sz="1200" dirty="0"/>
              <a:t>	f) PERSON_RESPONSIBLE</a:t>
            </a:r>
          </a:p>
          <a:p>
            <a:r>
              <a:rPr lang="en-US" sz="1200" dirty="0"/>
              <a:t>	g) DEPARTMENT</a:t>
            </a:r>
          </a:p>
          <a:p>
            <a:r>
              <a:rPr lang="en-US" sz="1200" dirty="0"/>
              <a:t>	h) PROFIT_CNTR_GRP</a:t>
            </a:r>
          </a:p>
          <a:p>
            <a:r>
              <a:rPr lang="en-US" sz="1200" dirty="0"/>
              <a:t>	i) VALIDFROM</a:t>
            </a:r>
          </a:p>
          <a:p>
            <a:r>
              <a:rPr lang="en-US" sz="1200" dirty="0"/>
              <a:t>	j) VALIDTO</a:t>
            </a:r>
          </a:p>
          <a:p>
            <a:r>
              <a:rPr lang="en-US" sz="1200" dirty="0"/>
              <a:t>	k) LANGUAGE</a:t>
            </a:r>
          </a:p>
          <a:p>
            <a:r>
              <a:rPr lang="en-US" sz="1200" dirty="0"/>
              <a:t>	l) STREET</a:t>
            </a:r>
          </a:p>
          <a:p>
            <a:r>
              <a:rPr lang="en-US" sz="1200" dirty="0"/>
              <a:t>	m) LOCATION</a:t>
            </a:r>
          </a:p>
          <a:p>
            <a:r>
              <a:rPr lang="en-US" sz="1200" dirty="0"/>
              <a:t>	n) DISTRICT</a:t>
            </a:r>
          </a:p>
          <a:p>
            <a:r>
              <a:rPr lang="en-US" sz="1200" dirty="0"/>
              <a:t>	o) COUNTRY</a:t>
            </a:r>
          </a:p>
          <a:p>
            <a:r>
              <a:rPr lang="en-US" sz="1200" dirty="0"/>
              <a:t>	p) POSTAL_CODE</a:t>
            </a:r>
          </a:p>
          <a:p>
            <a:r>
              <a:rPr lang="en-US" sz="1200" dirty="0"/>
              <a:t>	q) REGION.</a:t>
            </a:r>
          </a:p>
          <a:p>
            <a:r>
              <a:rPr lang="en-US" sz="1200" dirty="0"/>
              <a:t>3.Created by should be the updated with the user id of user  executing the program.</a:t>
            </a:r>
          </a:p>
          <a:p>
            <a:r>
              <a:rPr lang="en-US" sz="1200" dirty="0"/>
              <a:t>4.Program should create success file for success records and error file for the records which could not be created.</a:t>
            </a:r>
          </a:p>
        </p:txBody>
      </p:sp>
    </p:spTree>
    <p:extLst>
      <p:ext uri="{BB962C8B-B14F-4D97-AF65-F5344CB8AC3E}">
        <p14:creationId xmlns:p14="http://schemas.microsoft.com/office/powerpoint/2010/main" val="1605059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181614"/>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Enhancement - Example</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24514"/>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67201" y="705432"/>
            <a:ext cx="11291881" cy="1200329"/>
          </a:xfrm>
          <a:prstGeom prst="rect">
            <a:avLst/>
          </a:prstGeom>
          <a:noFill/>
          <a:ln>
            <a:solidFill>
              <a:schemeClr val="accent6">
                <a:lumMod val="75000"/>
              </a:schemeClr>
            </a:solidFill>
          </a:ln>
        </p:spPr>
        <p:txBody>
          <a:bodyPr wrap="square">
            <a:spAutoFit/>
          </a:bodyPr>
          <a:lstStyle/>
          <a:p>
            <a:r>
              <a:rPr lang="en-US" sz="1200" b="1" u="sng" dirty="0"/>
              <a:t>Plant determination in sales orders should happen based on below parameters:</a:t>
            </a:r>
          </a:p>
          <a:p>
            <a:r>
              <a:rPr lang="en-US" sz="1200" dirty="0"/>
              <a:t>Get the general plant and virtual plant based on sales organization and text ‘Local Stock’ and ‘Time Limited Consignment’ using TVKWZ and T001W table. </a:t>
            </a:r>
          </a:p>
          <a:p>
            <a:r>
              <a:rPr lang="en-US" sz="1200" dirty="0"/>
              <a:t>a.	If VBAK-AUGRU = ‘CFC’, then get the general plant.</a:t>
            </a:r>
          </a:p>
          <a:p>
            <a:r>
              <a:rPr lang="en-US" sz="1200" dirty="0"/>
              <a:t>b.	If VBAK-AUGRU = ‘CTL’ or ‘TSC’, then get the virtual plant.</a:t>
            </a:r>
          </a:p>
          <a:p>
            <a:r>
              <a:rPr lang="en-US" sz="1200" dirty="0"/>
              <a:t>c.	if VBAK-AUART = ‘ZKAF’, then get the general plant.</a:t>
            </a:r>
          </a:p>
          <a:p>
            <a:r>
              <a:rPr lang="en-US" sz="1200" dirty="0"/>
              <a:t>Please suggest the enhancement point where the code can be added in SAP.</a:t>
            </a:r>
          </a:p>
        </p:txBody>
      </p:sp>
      <p:sp>
        <p:nvSpPr>
          <p:cNvPr id="14" name="Title 1">
            <a:extLst>
              <a:ext uri="{FF2B5EF4-FFF2-40B4-BE49-F238E27FC236}">
                <a16:creationId xmlns:a16="http://schemas.microsoft.com/office/drawing/2014/main" id="{8AEF458B-90CB-2CF8-56F8-97AC257C029A}"/>
              </a:ext>
            </a:extLst>
          </p:cNvPr>
          <p:cNvSpPr txBox="1">
            <a:spLocks/>
          </p:cNvSpPr>
          <p:nvPr/>
        </p:nvSpPr>
        <p:spPr>
          <a:xfrm>
            <a:off x="439103" y="2072869"/>
            <a:ext cx="11201400" cy="3429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219170"/>
            <a:r>
              <a:rPr lang="en-US" sz="2400" b="1">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Interface – Example - 1</a:t>
            </a:r>
            <a:endPar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15" name="Rectangle 14">
            <a:extLst>
              <a:ext uri="{FF2B5EF4-FFF2-40B4-BE49-F238E27FC236}">
                <a16:creationId xmlns:a16="http://schemas.microsoft.com/office/drawing/2014/main" id="{EEAF67FD-4728-2874-CC87-426FABF07DFB}"/>
              </a:ext>
            </a:extLst>
          </p:cNvPr>
          <p:cNvSpPr/>
          <p:nvPr/>
        </p:nvSpPr>
        <p:spPr bwMode="gray">
          <a:xfrm>
            <a:off x="467202" y="2415769"/>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16" name="TextBox 15">
            <a:extLst>
              <a:ext uri="{FF2B5EF4-FFF2-40B4-BE49-F238E27FC236}">
                <a16:creationId xmlns:a16="http://schemas.microsoft.com/office/drawing/2014/main" id="{C5D20439-2B36-E006-9010-0A6FD7B087CD}"/>
              </a:ext>
            </a:extLst>
          </p:cNvPr>
          <p:cNvSpPr txBox="1"/>
          <p:nvPr/>
        </p:nvSpPr>
        <p:spPr>
          <a:xfrm>
            <a:off x="439104" y="2514495"/>
            <a:ext cx="11201400" cy="646331"/>
          </a:xfrm>
          <a:prstGeom prst="rect">
            <a:avLst/>
          </a:prstGeom>
          <a:noFill/>
          <a:ln>
            <a:solidFill>
              <a:schemeClr val="accent6">
                <a:lumMod val="50000"/>
              </a:schemeClr>
            </a:solidFill>
          </a:ln>
        </p:spPr>
        <p:txBody>
          <a:bodyPr wrap="square">
            <a:spAutoFit/>
          </a:bodyPr>
          <a:lstStyle/>
          <a:p>
            <a:r>
              <a:rPr lang="en-US" sz="1200" b="1" u="sng" dirty="0"/>
              <a:t>Using the abstract of the FS / user story, below prompt was used for creating API based interface</a:t>
            </a:r>
          </a:p>
          <a:p>
            <a:r>
              <a:rPr lang="en-US" sz="1200" dirty="0"/>
              <a:t>Create an inbound Interface from third party system to SAP using IDOC to create goods receipt. Also, to handle the Errors, create an error handling using AIF error application for the above IDOC types</a:t>
            </a:r>
          </a:p>
        </p:txBody>
      </p:sp>
      <p:sp>
        <p:nvSpPr>
          <p:cNvPr id="17" name="Title 1">
            <a:extLst>
              <a:ext uri="{FF2B5EF4-FFF2-40B4-BE49-F238E27FC236}">
                <a16:creationId xmlns:a16="http://schemas.microsoft.com/office/drawing/2014/main" id="{E423D9BD-DA42-2AD9-3089-0B01BE2151D1}"/>
              </a:ext>
            </a:extLst>
          </p:cNvPr>
          <p:cNvSpPr txBox="1">
            <a:spLocks/>
          </p:cNvSpPr>
          <p:nvPr/>
        </p:nvSpPr>
        <p:spPr>
          <a:xfrm>
            <a:off x="439102" y="3432266"/>
            <a:ext cx="11201400" cy="3429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219170"/>
            <a:r>
              <a:rPr lang="en-US" sz="2400" b="1">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Interface – Example - 2</a:t>
            </a:r>
            <a:endPar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18" name="Rectangle 17">
            <a:extLst>
              <a:ext uri="{FF2B5EF4-FFF2-40B4-BE49-F238E27FC236}">
                <a16:creationId xmlns:a16="http://schemas.microsoft.com/office/drawing/2014/main" id="{AC05354D-CA31-7646-3FEA-1B0321376FA1}"/>
              </a:ext>
            </a:extLst>
          </p:cNvPr>
          <p:cNvSpPr/>
          <p:nvPr/>
        </p:nvSpPr>
        <p:spPr bwMode="gray">
          <a:xfrm>
            <a:off x="467201" y="377516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19" name="TextBox 18">
            <a:extLst>
              <a:ext uri="{FF2B5EF4-FFF2-40B4-BE49-F238E27FC236}">
                <a16:creationId xmlns:a16="http://schemas.microsoft.com/office/drawing/2014/main" id="{39F003BD-831D-1A90-E498-D09B5FF3A971}"/>
              </a:ext>
            </a:extLst>
          </p:cNvPr>
          <p:cNvSpPr txBox="1"/>
          <p:nvPr/>
        </p:nvSpPr>
        <p:spPr>
          <a:xfrm>
            <a:off x="439103" y="3873892"/>
            <a:ext cx="11201400" cy="646331"/>
          </a:xfrm>
          <a:prstGeom prst="rect">
            <a:avLst/>
          </a:prstGeom>
          <a:noFill/>
          <a:ln>
            <a:solidFill>
              <a:schemeClr val="accent6">
                <a:lumMod val="50000"/>
              </a:schemeClr>
            </a:solidFill>
          </a:ln>
        </p:spPr>
        <p:txBody>
          <a:bodyPr wrap="square">
            <a:spAutoFit/>
          </a:bodyPr>
          <a:lstStyle/>
          <a:p>
            <a:r>
              <a:rPr lang="en-US" sz="1200" b="1" u="sng" dirty="0"/>
              <a:t>Using the abstract of the FS / user story, below prompt was used for creating IDOC interface</a:t>
            </a:r>
          </a:p>
          <a:p>
            <a:r>
              <a:rPr lang="en-US" sz="1200" dirty="0"/>
              <a:t>Create an inbound Interface from third party system to SAP using IDOC to create goods receipt. Also, to handle the Errors, create an error handling using AIF error application for the above IDOC types</a:t>
            </a:r>
          </a:p>
        </p:txBody>
      </p:sp>
      <p:sp>
        <p:nvSpPr>
          <p:cNvPr id="20" name="Title 1">
            <a:extLst>
              <a:ext uri="{FF2B5EF4-FFF2-40B4-BE49-F238E27FC236}">
                <a16:creationId xmlns:a16="http://schemas.microsoft.com/office/drawing/2014/main" id="{A8B21DC0-4D77-9EFF-1FA7-6F9867D17F36}"/>
              </a:ext>
            </a:extLst>
          </p:cNvPr>
          <p:cNvSpPr txBox="1">
            <a:spLocks/>
          </p:cNvSpPr>
          <p:nvPr/>
        </p:nvSpPr>
        <p:spPr>
          <a:xfrm>
            <a:off x="358620" y="4859273"/>
            <a:ext cx="11201400" cy="3429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Interface – Example - 3</a:t>
            </a:r>
          </a:p>
        </p:txBody>
      </p:sp>
      <p:sp>
        <p:nvSpPr>
          <p:cNvPr id="21" name="Rectangle 20">
            <a:extLst>
              <a:ext uri="{FF2B5EF4-FFF2-40B4-BE49-F238E27FC236}">
                <a16:creationId xmlns:a16="http://schemas.microsoft.com/office/drawing/2014/main" id="{A8B26664-F0D2-3CA4-1569-FDC5D1D7F18B}"/>
              </a:ext>
            </a:extLst>
          </p:cNvPr>
          <p:cNvSpPr/>
          <p:nvPr/>
        </p:nvSpPr>
        <p:spPr bwMode="gray">
          <a:xfrm>
            <a:off x="439102" y="5191684"/>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22" name="TextBox 21">
            <a:extLst>
              <a:ext uri="{FF2B5EF4-FFF2-40B4-BE49-F238E27FC236}">
                <a16:creationId xmlns:a16="http://schemas.microsoft.com/office/drawing/2014/main" id="{C844873A-C976-E7C6-6392-686F3202F39B}"/>
              </a:ext>
            </a:extLst>
          </p:cNvPr>
          <p:cNvSpPr txBox="1"/>
          <p:nvPr/>
        </p:nvSpPr>
        <p:spPr>
          <a:xfrm>
            <a:off x="439102" y="5378724"/>
            <a:ext cx="11201400" cy="1384995"/>
          </a:xfrm>
          <a:prstGeom prst="rect">
            <a:avLst/>
          </a:prstGeom>
          <a:noFill/>
          <a:ln>
            <a:solidFill>
              <a:schemeClr val="accent6">
                <a:lumMod val="50000"/>
              </a:schemeClr>
            </a:solidFill>
          </a:ln>
        </p:spPr>
        <p:txBody>
          <a:bodyPr wrap="square">
            <a:spAutoFit/>
          </a:bodyPr>
          <a:lstStyle/>
          <a:p>
            <a:r>
              <a:rPr lang="en-US" sz="1200" b="1" u="sng" dirty="0"/>
              <a:t>Using the abstract of the FS / user story, below prompt was used for creating another IDOC interface</a:t>
            </a:r>
          </a:p>
          <a:p>
            <a:endParaRPr lang="en-US" sz="1200" dirty="0"/>
          </a:p>
          <a:p>
            <a:r>
              <a:rPr lang="en-US" sz="1200" dirty="0"/>
              <a:t>Create an Outbound Interface from SAP to third party system (B2B) using IDOC to share the details of the HR details.</a:t>
            </a:r>
            <a:br>
              <a:rPr lang="en-US" sz="1200" dirty="0"/>
            </a:br>
            <a:r>
              <a:rPr lang="en-US" sz="1200" dirty="0"/>
              <a:t>Use Message type HRMD_A with corresponding IDOC type HRMD_A09 for triggering the output.</a:t>
            </a:r>
            <a:br>
              <a:rPr lang="en-US" sz="1200" dirty="0"/>
            </a:br>
            <a:r>
              <a:rPr lang="en-US" sz="1200" dirty="0"/>
              <a:t>An entry to be created in the partner profile for the third-party system(B2B).</a:t>
            </a:r>
            <a:br>
              <a:rPr lang="en-US" sz="1200" dirty="0"/>
            </a:br>
            <a:r>
              <a:rPr lang="en-US" sz="1200" dirty="0"/>
              <a:t>Create an Extension ZEXT_HRMD_A09 for the IDOC type to send additional details such as fields: SUPERVISOR, ROLLOFF,ADMIN fields </a:t>
            </a:r>
            <a:br>
              <a:rPr lang="en-US" sz="1200" dirty="0"/>
            </a:br>
            <a:r>
              <a:rPr lang="en-US" sz="1200" dirty="0"/>
              <a:t>Implement the BADI - HRALE00OUTBOUND_IDOC and Method-IDOC_DATA_FOR_RECEIVER_MODIFY to send the additional information on the HR details.</a:t>
            </a:r>
          </a:p>
        </p:txBody>
      </p:sp>
    </p:spTree>
    <p:extLst>
      <p:ext uri="{BB962C8B-B14F-4D97-AF65-F5344CB8AC3E}">
        <p14:creationId xmlns:p14="http://schemas.microsoft.com/office/powerpoint/2010/main" val="1377538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212436"/>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Report – Example - 1</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67202" y="736254"/>
            <a:ext cx="11201400" cy="4893647"/>
          </a:xfrm>
          <a:prstGeom prst="rect">
            <a:avLst/>
          </a:prstGeom>
          <a:noFill/>
          <a:ln>
            <a:solidFill>
              <a:schemeClr val="accent6">
                <a:lumMod val="75000"/>
              </a:schemeClr>
            </a:solidFill>
          </a:ln>
        </p:spPr>
        <p:txBody>
          <a:bodyPr wrap="square">
            <a:spAutoFit/>
          </a:bodyPr>
          <a:lstStyle/>
          <a:p>
            <a:r>
              <a:rPr lang="en-US" sz="1200" dirty="0"/>
              <a:t>•	Generate a report to extract inventory information from S4.</a:t>
            </a:r>
          </a:p>
          <a:p>
            <a:r>
              <a:rPr lang="en-US" sz="1200" dirty="0"/>
              <a:t>•	Selection screen should have below parameters:</a:t>
            </a:r>
          </a:p>
          <a:p>
            <a:pPr lvl="2"/>
            <a:r>
              <a:rPr lang="en-US" sz="1200" dirty="0"/>
              <a:t>a.	Plant</a:t>
            </a:r>
          </a:p>
          <a:p>
            <a:pPr lvl="2"/>
            <a:r>
              <a:rPr lang="en-US" sz="1200" dirty="0"/>
              <a:t>b.	Storage location</a:t>
            </a:r>
          </a:p>
          <a:p>
            <a:pPr lvl="2"/>
            <a:r>
              <a:rPr lang="en-US" sz="1200" dirty="0"/>
              <a:t>c.	Material type</a:t>
            </a:r>
          </a:p>
          <a:p>
            <a:pPr lvl="2"/>
            <a:r>
              <a:rPr lang="en-US" sz="1200" dirty="0"/>
              <a:t>d.	Material </a:t>
            </a:r>
          </a:p>
          <a:p>
            <a:pPr lvl="2"/>
            <a:r>
              <a:rPr lang="en-US" sz="1200" dirty="0"/>
              <a:t>e.	Batch</a:t>
            </a:r>
          </a:p>
          <a:p>
            <a:r>
              <a:rPr lang="en-US" sz="1200" dirty="0"/>
              <a:t>•	Radio button should have below fields:</a:t>
            </a:r>
          </a:p>
          <a:p>
            <a:pPr lvl="2"/>
            <a:r>
              <a:rPr lang="en-US" sz="1200" dirty="0"/>
              <a:t>a.	ALV Report output</a:t>
            </a:r>
          </a:p>
          <a:p>
            <a:pPr lvl="2"/>
            <a:r>
              <a:rPr lang="en-US" sz="1200" dirty="0"/>
              <a:t>b.	Generate File</a:t>
            </a:r>
          </a:p>
          <a:p>
            <a:r>
              <a:rPr lang="en-US" sz="1200" dirty="0"/>
              <a:t>•	The data extracted will be displayed in ALV format and also text file will be uploaded in application server in AL11 directory based on the radio button selected.</a:t>
            </a:r>
          </a:p>
          <a:p>
            <a:r>
              <a:rPr lang="en-US" sz="1200" dirty="0"/>
              <a:t>•	The extract program should generate an excel output based on the selection screen parameters, with the fields mentioned below. </a:t>
            </a:r>
          </a:p>
          <a:p>
            <a:pPr lvl="2"/>
            <a:r>
              <a:rPr lang="en-US" sz="1200" dirty="0"/>
              <a:t>a.	WERKS – Plant</a:t>
            </a:r>
          </a:p>
          <a:p>
            <a:pPr lvl="2"/>
            <a:r>
              <a:rPr lang="en-US" sz="1200" dirty="0"/>
              <a:t>b.	MATNR - Material Number</a:t>
            </a:r>
          </a:p>
          <a:p>
            <a:pPr lvl="2"/>
            <a:r>
              <a:rPr lang="en-US" sz="1200" dirty="0"/>
              <a:t>c.	MTART - Material Type</a:t>
            </a:r>
          </a:p>
          <a:p>
            <a:pPr lvl="2"/>
            <a:r>
              <a:rPr lang="en-US" sz="1200" dirty="0"/>
              <a:t>d.	LGORT - Storage location</a:t>
            </a:r>
          </a:p>
          <a:p>
            <a:pPr lvl="2"/>
            <a:r>
              <a:rPr lang="en-US" sz="1200" dirty="0"/>
              <a:t>e.	CHARG - Batch</a:t>
            </a:r>
          </a:p>
          <a:p>
            <a:pPr lvl="2"/>
            <a:r>
              <a:rPr lang="en-US" sz="1200" dirty="0"/>
              <a:t>f.	SERNR - Serial Number</a:t>
            </a:r>
          </a:p>
          <a:p>
            <a:pPr lvl="2"/>
            <a:r>
              <a:rPr lang="en-US" sz="1200" dirty="0"/>
              <a:t>g.	SOBKZ - Special Stock Indicator</a:t>
            </a:r>
          </a:p>
          <a:p>
            <a:pPr lvl="2"/>
            <a:r>
              <a:rPr lang="en-US" sz="1200" dirty="0"/>
              <a:t>h.	CLABS for batch managed or LABST for non-batch managed - Unrestricted Stock</a:t>
            </a:r>
          </a:p>
          <a:p>
            <a:pPr lvl="2"/>
            <a:r>
              <a:rPr lang="en-US" sz="1200" dirty="0"/>
              <a:t>i.	CEINM for batch managed or EINME for non-batch managed - Restricted Stock </a:t>
            </a:r>
          </a:p>
          <a:p>
            <a:pPr lvl="2"/>
            <a:r>
              <a:rPr lang="en-US" sz="1200" dirty="0"/>
              <a:t>j.	CSPEM for batch managed or SPEME for non-batch managed - Blocked Stock</a:t>
            </a:r>
          </a:p>
          <a:p>
            <a:pPr lvl="2"/>
            <a:r>
              <a:rPr lang="en-US" sz="1200" dirty="0"/>
              <a:t>k.	MAKTX - Material description</a:t>
            </a:r>
          </a:p>
          <a:p>
            <a:pPr lvl="2"/>
            <a:r>
              <a:rPr lang="en-US" sz="1200" dirty="0"/>
              <a:t>l.	MEINS - Unit of measure</a:t>
            </a:r>
          </a:p>
          <a:p>
            <a:pPr lvl="2"/>
            <a:r>
              <a:rPr lang="en-US" sz="1200" dirty="0"/>
              <a:t>m.	SALEORD – Sales order number</a:t>
            </a:r>
          </a:p>
          <a:p>
            <a:pPr lvl="2"/>
            <a:r>
              <a:rPr lang="en-US" sz="1200" dirty="0"/>
              <a:t>n.	ORDITEM - Sales order line item</a:t>
            </a:r>
          </a:p>
        </p:txBody>
      </p:sp>
    </p:spTree>
    <p:extLst>
      <p:ext uri="{BB962C8B-B14F-4D97-AF65-F5344CB8AC3E}">
        <p14:creationId xmlns:p14="http://schemas.microsoft.com/office/powerpoint/2010/main" val="3022791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212436"/>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Report – Example - 2</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67202" y="654062"/>
            <a:ext cx="11201400" cy="5816977"/>
          </a:xfrm>
          <a:prstGeom prst="rect">
            <a:avLst/>
          </a:prstGeom>
          <a:noFill/>
          <a:ln>
            <a:solidFill>
              <a:schemeClr val="accent6">
                <a:lumMod val="50000"/>
              </a:schemeClr>
            </a:solidFill>
          </a:ln>
        </p:spPr>
        <p:txBody>
          <a:bodyPr wrap="square">
            <a:spAutoFit/>
          </a:bodyPr>
          <a:lstStyle/>
          <a:p>
            <a:r>
              <a:rPr lang="en-US" sz="1200" dirty="0"/>
              <a:t>Generate a Sales Order Aging ALV report with detailed inventory assigned to sales orders.</a:t>
            </a:r>
          </a:p>
          <a:p>
            <a:r>
              <a:rPr lang="en-US" sz="1200" dirty="0"/>
              <a:t>Report should have following selection screen parameters:</a:t>
            </a:r>
          </a:p>
          <a:p>
            <a:r>
              <a:rPr lang="en-US" sz="1200" dirty="0"/>
              <a:t>MBEW-MATNR </a:t>
            </a:r>
          </a:p>
          <a:p>
            <a:r>
              <a:rPr lang="en-US" sz="1200" dirty="0"/>
              <a:t>MBEW-BWKEY  </a:t>
            </a:r>
          </a:p>
          <a:p>
            <a:r>
              <a:rPr lang="en-US" sz="1200" dirty="0"/>
              <a:t>MBEW-BWTAR  </a:t>
            </a:r>
          </a:p>
          <a:p>
            <a:r>
              <a:rPr lang="en-US" sz="1200" dirty="0"/>
              <a:t>MBEW-SOBKZ  </a:t>
            </a:r>
          </a:p>
          <a:p>
            <a:r>
              <a:rPr lang="en-US" sz="1200" dirty="0"/>
              <a:t>MBEW-VBELN  </a:t>
            </a:r>
          </a:p>
          <a:p>
            <a:r>
              <a:rPr lang="en-US" sz="1200" dirty="0"/>
              <a:t>MBEW-POSNR  </a:t>
            </a:r>
          </a:p>
          <a:p>
            <a:r>
              <a:rPr lang="en-US" sz="1200" dirty="0"/>
              <a:t>VBAK-KUNAG  </a:t>
            </a:r>
          </a:p>
          <a:p>
            <a:endParaRPr lang="en-US" sz="1200" dirty="0"/>
          </a:p>
          <a:p>
            <a:r>
              <a:rPr lang="en-US" sz="1200" dirty="0"/>
              <a:t>Output ALV should have below columns:</a:t>
            </a:r>
          </a:p>
          <a:p>
            <a:r>
              <a:rPr lang="en-US" sz="1200" dirty="0"/>
              <a:t>1 Material:(MBEW-MATNR </a:t>
            </a:r>
          </a:p>
          <a:p>
            <a:r>
              <a:rPr lang="en-US" sz="1200" dirty="0"/>
              <a:t>2 Valuation area: MBEW-BWKEY  </a:t>
            </a:r>
          </a:p>
          <a:p>
            <a:r>
              <a:rPr lang="en-US" sz="1200" dirty="0"/>
              <a:t>3 Valuation type: MBEW-BWTAR  </a:t>
            </a:r>
          </a:p>
          <a:p>
            <a:r>
              <a:rPr lang="en-US" sz="1200" dirty="0"/>
              <a:t>4 Special stock indicator: MBEW-SOBKZ  </a:t>
            </a:r>
          </a:p>
          <a:p>
            <a:r>
              <a:rPr lang="en-US" sz="1200" dirty="0"/>
              <a:t>5 Document: MBEW-VBELN </a:t>
            </a:r>
          </a:p>
          <a:p>
            <a:r>
              <a:rPr lang="en-US" sz="1200" dirty="0"/>
              <a:t>6 Item: MBEW-POSNR  </a:t>
            </a:r>
          </a:p>
          <a:p>
            <a:r>
              <a:rPr lang="en-US" sz="1200" dirty="0"/>
              <a:t>7 Customer: VBAK-KUNAG  </a:t>
            </a:r>
          </a:p>
          <a:p>
            <a:r>
              <a:rPr lang="en-US" sz="1200" dirty="0"/>
              <a:t>8 Profit Center: </a:t>
            </a:r>
            <a:r>
              <a:rPr lang="en-US" sz="1200" dirty="0" err="1"/>
              <a:t>MaARC</a:t>
            </a:r>
            <a:r>
              <a:rPr lang="en-US" sz="1200" dirty="0"/>
              <a:t>-PRCTR  </a:t>
            </a:r>
          </a:p>
          <a:p>
            <a:r>
              <a:rPr lang="en-US" sz="1200" dirty="0"/>
              <a:t>9 Valuated Stock: EBEW-LBKUM  </a:t>
            </a:r>
          </a:p>
          <a:p>
            <a:r>
              <a:rPr lang="en-US" sz="1200" dirty="0"/>
              <a:t>10 Base Unit of Measure: MARA-MEINS  </a:t>
            </a:r>
          </a:p>
          <a:p>
            <a:r>
              <a:rPr lang="en-US" sz="1200" dirty="0"/>
              <a:t>11 Local Currency Amount: EBEW-SALK3  </a:t>
            </a:r>
          </a:p>
          <a:p>
            <a:r>
              <a:rPr lang="en-US" sz="1200" dirty="0"/>
              <a:t>12 Group Currency Amount: EBEW-LBKUM  </a:t>
            </a:r>
          </a:p>
          <a:p>
            <a:r>
              <a:rPr lang="en-US" sz="1200" dirty="0"/>
              <a:t>13 Local Currency: CKMLCR-WAERS  </a:t>
            </a:r>
          </a:p>
          <a:p>
            <a:r>
              <a:rPr lang="en-US" sz="1200" dirty="0"/>
              <a:t>14 Group Currency: CKMLCR-WAERS  </a:t>
            </a:r>
          </a:p>
          <a:p>
            <a:r>
              <a:rPr lang="en-US" sz="1200" dirty="0"/>
              <a:t>15 Ageing – Calculated Field- Aging between Current Date and Timestamp in EBEW Table </a:t>
            </a:r>
          </a:p>
          <a:p>
            <a:r>
              <a:rPr lang="en-US" sz="1200" dirty="0"/>
              <a:t>16 General Name Profit Center: CEPCT-KTEXT  </a:t>
            </a:r>
          </a:p>
          <a:p>
            <a:r>
              <a:rPr lang="en-US" sz="1200" dirty="0"/>
              <a:t>17 Long text Profit Center: CEPCT-LTEXT  </a:t>
            </a:r>
          </a:p>
          <a:p>
            <a:r>
              <a:rPr lang="en-US" sz="1200" dirty="0"/>
              <a:t>18 Department: CEPC-ABTEIL  </a:t>
            </a:r>
          </a:p>
          <a:p>
            <a:r>
              <a:rPr lang="en-US" sz="1200" dirty="0"/>
              <a:t>19 Profit Center Area: CEPC-KHINR  </a:t>
            </a:r>
          </a:p>
          <a:p>
            <a:r>
              <a:rPr lang="en-US" sz="1200" dirty="0"/>
              <a:t>20 Segment: CEPC-FB_SEGMENT</a:t>
            </a:r>
          </a:p>
        </p:txBody>
      </p:sp>
    </p:spTree>
    <p:extLst>
      <p:ext uri="{BB962C8B-B14F-4D97-AF65-F5344CB8AC3E}">
        <p14:creationId xmlns:p14="http://schemas.microsoft.com/office/powerpoint/2010/main" val="3764231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1928</TotalTime>
  <Words>1601</Words>
  <Application>Microsoft Office PowerPoint</Application>
  <PresentationFormat>Widescreen</PresentationFormat>
  <Paragraphs>123</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Open Sans</vt:lpstr>
      <vt:lpstr>Open Sans SemiBold</vt:lpstr>
      <vt:lpstr>Wingdings 2</vt:lpstr>
      <vt:lpstr>Office Theme</vt:lpstr>
      <vt:lpstr>PowerPoint Presentation</vt:lpstr>
      <vt:lpstr>Autonomous code – Prompt Examples</vt:lpstr>
      <vt:lpstr>CDS - Example</vt:lpstr>
      <vt:lpstr>Conversion - Example</vt:lpstr>
      <vt:lpstr>Enhancement - Example</vt:lpstr>
      <vt:lpstr>Report – Example - 1</vt:lpstr>
      <vt:lpstr>Report – Example - 2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Tamrakar, Kapil</dc:creator>
  <cp:lastModifiedBy>M S, Madhu</cp:lastModifiedBy>
  <cp:revision>6</cp:revision>
  <dcterms:created xsi:type="dcterms:W3CDTF">2024-02-15T05:45:36Z</dcterms:created>
  <dcterms:modified xsi:type="dcterms:W3CDTF">2024-05-27T17:11:26Z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2024-02-15T05:45:36Z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d09370b7-b663-4c5b-99d8-78b18ec1f1b3</vt:lpwstr>
  </property>
  <property fmtid="{D5CDD505-2E9C-101B-9397-08002B2CF9AE}" pid="8" name="MSIP_Label_ea60d57e-af5b-4752-ac57-3e4f28ca11dc_ContentBits">
    <vt:lpwstr>0</vt:lpwstr>
  </property>
</Properties>
</file>