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406" r:id="rId5"/>
    <p:sldId id="407" r:id="rId6"/>
    <p:sldId id="409" r:id="rId7"/>
    <p:sldId id="410" r:id="rId8"/>
    <p:sldId id="493" r:id="rId9"/>
    <p:sldId id="519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508" r:id="rId24"/>
    <p:sldId id="509" r:id="rId25"/>
    <p:sldId id="510" r:id="rId26"/>
    <p:sldId id="511" r:id="rId27"/>
    <p:sldId id="513" r:id="rId28"/>
    <p:sldId id="514" r:id="rId29"/>
    <p:sldId id="515" r:id="rId30"/>
    <p:sldId id="521" r:id="rId31"/>
    <p:sldId id="524" r:id="rId32"/>
    <p:sldId id="525" r:id="rId33"/>
    <p:sldId id="522" r:id="rId34"/>
    <p:sldId id="523" r:id="rId35"/>
    <p:sldId id="518" r:id="rId36"/>
    <p:sldId id="516" r:id="rId37"/>
    <p:sldId id="517" r:id="rId38"/>
    <p:sldId id="372" r:id="rId39"/>
    <p:sldId id="492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79CBA-8FBD-48C0-8DE1-F471FCA8C220}" v="2" dt="2023-10-18T06:13:17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3817" autoAdjust="0"/>
  </p:normalViewPr>
  <p:slideViewPr>
    <p:cSldViewPr>
      <p:cViewPr varScale="1">
        <p:scale>
          <a:sx n="81" d="100"/>
          <a:sy n="81" d="100"/>
        </p:scale>
        <p:origin x="16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D93CC-DB22-493A-A220-EB7837AA2F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A9569-13D5-489C-9F56-6773E8C0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68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9828" y="4561227"/>
            <a:ext cx="5855547" cy="1692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15F80-3722-40A8-A13B-913CAEEA0A98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2852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9828" y="4561227"/>
            <a:ext cx="5855547" cy="1692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15F80-3722-40A8-A13B-913CAEEA0A98}" type="slidenum">
              <a:rPr lang="en-GB" smtClean="0"/>
              <a:pPr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27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4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7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8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3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70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9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4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5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4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94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newb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9" descr="DEL_COL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13" y="152400"/>
            <a:ext cx="19700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15"/>
          <p:cNvSpPr>
            <a:spLocks noGrp="1"/>
          </p:cNvSpPr>
          <p:nvPr>
            <p:ph type="sldNum" sz="quarter" idx="11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FEDFF2D-72C4-4AA6-B2BF-DEF129B26C92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593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newb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9" descr="DEL_COL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13" y="152400"/>
            <a:ext cx="19700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15"/>
          <p:cNvSpPr>
            <a:spLocks noGrp="1"/>
          </p:cNvSpPr>
          <p:nvPr>
            <p:ph type="sldNum" sz="quarter" idx="11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FEDFF2D-72C4-4AA6-B2BF-DEF129B26C92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593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newb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9" descr="DEL_COL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13" y="152400"/>
            <a:ext cx="19700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15"/>
          <p:cNvSpPr>
            <a:spLocks noGrp="1"/>
          </p:cNvSpPr>
          <p:nvPr>
            <p:ph type="sldNum" sz="quarter" idx="11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FEDFF2D-72C4-4AA6-B2BF-DEF129B26C92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593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newb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9" descr="DEL_COL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13" y="152400"/>
            <a:ext cx="19700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15"/>
          <p:cNvSpPr>
            <a:spLocks noGrp="1"/>
          </p:cNvSpPr>
          <p:nvPr>
            <p:ph type="sldNum" sz="quarter" idx="11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FEDFF2D-72C4-4AA6-B2BF-DEF129B26C92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59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50C19-1B0B-4E6C-8707-9D46A5AC541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D427F-CEAB-4C26-A4C0-1CEAB9875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4" r:id="rId14"/>
    <p:sldLayoutId id="214748366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slide" Target="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8858" y="2590800"/>
            <a:ext cx="3900741" cy="769441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cs typeface="Times New Roman" pitchFamily="18" charset="0"/>
              </a:rPr>
              <a:t>IDOCS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 rot="5400000">
            <a:off x="2036581" y="3695700"/>
            <a:ext cx="4800600" cy="0"/>
          </a:xfrm>
          <a:prstGeom prst="line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4505225" y="4663043"/>
            <a:ext cx="259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rgbClr val="002060"/>
                </a:solidFill>
                <a:latin typeface="Calibri" pitchFamily="34" charset="0"/>
                <a:cs typeface="Times New Roman" pitchFamily="18" charset="0"/>
              </a:rPr>
              <a:t>- </a:t>
            </a:r>
            <a:r>
              <a:rPr lang="en-US" dirty="0">
                <a:solidFill>
                  <a:srgbClr val="002060"/>
                </a:solidFill>
                <a:latin typeface="Calibri" pitchFamily="34" charset="0"/>
                <a:cs typeface="Times New Roman" pitchFamily="18" charset="0"/>
              </a:rPr>
              <a:t>Vinay Shenoy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10212" y="4663043"/>
            <a:ext cx="434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lang="en-US" dirty="0">
                <a:solidFill>
                  <a:srgbClr val="002060"/>
                </a:solidFill>
                <a:latin typeface="Calibri" pitchFamily="34" charset="0"/>
                <a:cs typeface="Times New Roman" pitchFamily="18" charset="0"/>
              </a:rPr>
              <a:t>SAP IDOC Training – (12</a:t>
            </a:r>
            <a:r>
              <a:rPr lang="en-US" baseline="30000" dirty="0">
                <a:solidFill>
                  <a:srgbClr val="002060"/>
                </a:solidFill>
                <a:latin typeface="Calibri" pitchFamily="34" charset="0"/>
                <a:cs typeface="Times New Roman" pitchFamily="18" charset="0"/>
              </a:rPr>
              <a:t>th</a:t>
            </a:r>
            <a:r>
              <a:rPr lang="en-US" dirty="0">
                <a:solidFill>
                  <a:srgbClr val="002060"/>
                </a:solidFill>
                <a:latin typeface="Calibri" pitchFamily="34" charset="0"/>
                <a:cs typeface="Times New Roman" pitchFamily="18" charset="0"/>
              </a:rPr>
              <a:t> Sep)</a:t>
            </a:r>
          </a:p>
        </p:txBody>
      </p:sp>
    </p:spTree>
    <p:extLst>
      <p:ext uri="{BB962C8B-B14F-4D97-AF65-F5344CB8AC3E}">
        <p14:creationId xmlns:p14="http://schemas.microsoft.com/office/powerpoint/2010/main" val="83357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5181600" cy="685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altLang="en-US" sz="5400" b="1">
                <a:solidFill>
                  <a:schemeClr val="bg1"/>
                </a:solidFill>
                <a:latin typeface="Calibri" pitchFamily="34" charset="0"/>
              </a:rPr>
              <a:t>Course Content</a:t>
            </a:r>
          </a:p>
        </p:txBody>
      </p:sp>
      <p:sp>
        <p:nvSpPr>
          <p:cNvPr id="12291" name="Rectangle 14"/>
          <p:cNvSpPr>
            <a:spLocks noChangeArrowheads="1"/>
          </p:cNvSpPr>
          <p:nvPr/>
        </p:nvSpPr>
        <p:spPr bwMode="auto">
          <a:xfrm>
            <a:off x="152400" y="838200"/>
            <a:ext cx="70866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sz="1800" b="1" dirty="0">
                <a:solidFill>
                  <a:srgbClr val="002060"/>
                </a:solidFill>
                <a:latin typeface="Calibri" panose="020F0502020204030204" pitchFamily="34" charset="0"/>
              </a:rPr>
              <a:t>DAY 1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  IDOC Overview 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IDOC Content &amp; IDOC Structure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ALE – Application Link Enabling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Application Link Enabling Components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Application Link Enabling Configuration / Steps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IDOC Statuses Numbers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Change Pointers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IDOC Extensions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IDOCS Monitoring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IDOCS Filtering</a:t>
            </a:r>
          </a:p>
          <a:p>
            <a:pPr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</a:rPr>
              <a:t>Q&amp;A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sz="1600" dirty="0">
              <a:solidFill>
                <a:srgbClr val="002060"/>
              </a:solidFill>
              <a:latin typeface="Calibri" panose="020F0502020204030204" pitchFamily="34" charset="0"/>
            </a:endParaRP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00206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7262" y="838200"/>
            <a:ext cx="4343400" cy="304800"/>
          </a:xfrm>
          <a:prstGeom prst="roundRect">
            <a:avLst/>
          </a:prstGeom>
          <a:solidFill>
            <a:srgbClr val="002060">
              <a:alpha val="25000"/>
            </a:srgb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5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br>
              <a:rPr lang="en-GB" sz="28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</a:rPr>
            </a:br>
            <a:r>
              <a:rPr lang="en-GB" sz="2800" b="1" dirty="0">
                <a:solidFill>
                  <a:srgbClr val="002060"/>
                </a:solidFill>
                <a:latin typeface="Calibri" pitchFamily="34" charset="0"/>
              </a:rPr>
              <a:t>IDOC Overview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114800"/>
          </a:xfrm>
        </p:spPr>
        <p:txBody>
          <a:bodyPr>
            <a:normAutofit fontScale="77500" lnSpcReduction="20000"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IDoc is an SAP object that carries data of a business transaction from one system to another in the form of electronic message.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IDoc is an acronym for Intermediate Document. The purpose of an IDoc is to transfer data or information from SAP to other systems and vice versa.  </a:t>
            </a:r>
          </a:p>
          <a:p>
            <a:pPr marL="0" indent="0" algn="l">
              <a:buNone/>
            </a:pPr>
            <a:endParaRPr lang="en-US" sz="260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The transfer from SAP to non-SAP system is done via EDI (Electronic Data Interchange) subsystems whereas for transfer between two SAP systems, ALE is used.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002060"/>
              </a:solidFill>
              <a:latin typeface="Calibri" pitchFamily="34" charset="0"/>
              <a:ea typeface="+mj-ea"/>
              <a:cs typeface="+mj-cs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Calibri" pitchFamily="34" charset="0"/>
                <a:ea typeface="+mj-ea"/>
                <a:cs typeface="+mj-cs"/>
              </a:rPr>
              <a:t>IDocs sent outside the system are termed as Outbound IDocs and the ones that are received into the system, are called as Inbound IDocs.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US" sz="2800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IDOC Concept</a:t>
            </a:r>
            <a:r>
              <a:rPr lang="en-US" sz="2800" b="1" dirty="0">
                <a:latin typeface="Calibri" pitchFamily="34" charset="0"/>
              </a:rPr>
              <a:t>	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073568-4ED7-CFB5-3D06-4245CF20F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74" y="1905000"/>
            <a:ext cx="7648361" cy="32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9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IDOC Structure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B6A03-18DC-48C4-BB26-E963A49D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05000"/>
            <a:ext cx="6513336" cy="426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5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IDOC Structure ( Contd. ).. 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BB23F-4393-03BB-23A6-B7747B48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6846939" cy="438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IDOC Structure ( Contd. ).. 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3209CF-61DC-4668-4CD8-5435DE162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05000"/>
            <a:ext cx="3065124" cy="4168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63BE54-1766-80B1-957A-5CDBAD335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33600"/>
            <a:ext cx="2863217" cy="393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8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Application Link Enabling</a:t>
            </a:r>
            <a:endParaRPr lang="en-US" sz="2800" b="1" dirty="0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7697C-8EE3-B776-88D0-6816D8388790}"/>
              </a:ext>
            </a:extLst>
          </p:cNvPr>
          <p:cNvSpPr txBox="1"/>
          <p:nvPr/>
        </p:nvSpPr>
        <p:spPr>
          <a:xfrm>
            <a:off x="494122" y="19812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ALE is SAP’s proprietary technology for integrating/ distributing business processes across several SAP systems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06DE6-8F42-C657-C09B-2EC327147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671018"/>
            <a:ext cx="7391400" cy="34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2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IDOC Terminologies</a:t>
            </a:r>
            <a:endParaRPr lang="en-US" sz="2800" b="1" dirty="0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7697C-8EE3-B776-88D0-6816D8388790}"/>
              </a:ext>
            </a:extLst>
          </p:cNvPr>
          <p:cNvSpPr txBox="1"/>
          <p:nvPr/>
        </p:nvSpPr>
        <p:spPr>
          <a:xfrm>
            <a:off x="494122" y="1981200"/>
            <a:ext cx="8229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Logical System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Message Type 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IDoc Type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Segments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RFC Destination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Ports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Partner Profiles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Process Codes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Customer Distribution Model</a:t>
            </a:r>
          </a:p>
        </p:txBody>
      </p:sp>
    </p:spTree>
    <p:extLst>
      <p:ext uri="{BB962C8B-B14F-4D97-AF65-F5344CB8AC3E}">
        <p14:creationId xmlns:p14="http://schemas.microsoft.com/office/powerpoint/2010/main" val="402006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IDOC Segments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E46251-47AE-3234-C5C1-49102DAEA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7061462" cy="438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94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IDOC Type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33DA45-2297-ED91-159A-EF9FBA439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531" y="1752600"/>
            <a:ext cx="6501312" cy="44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5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Message Type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70832-44D5-0BF3-56F3-9A365C828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04503"/>
            <a:ext cx="7060264" cy="433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1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144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Maintain RFC Destinations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3" name="Content Placeholder 26">
            <a:extLst>
              <a:ext uri="{FF2B5EF4-FFF2-40B4-BE49-F238E27FC236}">
                <a16:creationId xmlns:a16="http://schemas.microsoft.com/office/drawing/2014/main" id="{110E6843-EE12-DA5B-AEA4-7AC50F6C2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914400" y="1600200"/>
            <a:ext cx="6400800" cy="46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14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Ports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DDEEEC-F507-4F3D-902A-8988FD40C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6681424" cy="445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3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>
                <a:solidFill>
                  <a:schemeClr val="tx2"/>
                </a:solidFill>
                <a:latin typeface="Calibri" pitchFamily="34" charset="0"/>
              </a:rPr>
              <a:t>Process </a:t>
            </a: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Code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7ED1DC-E927-A1C6-041F-CD72CA493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8440767" cy="444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83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ALE Configuration Steps</a:t>
            </a:r>
            <a:endParaRPr lang="en-US" sz="2800" b="1" dirty="0">
              <a:latin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D6DEB-2CF7-7C58-48DA-9C21A73AB617}"/>
              </a:ext>
            </a:extLst>
          </p:cNvPr>
          <p:cNvSpPr txBox="1"/>
          <p:nvPr/>
        </p:nvSpPr>
        <p:spPr>
          <a:xfrm>
            <a:off x="914400" y="1868920"/>
            <a:ext cx="59436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Logical Systems (SALE or BD54)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 Logical Systems to Clients (SALE or SCC4)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RFC Destination (SM59)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Port Definition (WE21) 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 Partner Profile (WE20) 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Maintain Distribution Model (BD64)</a:t>
            </a:r>
          </a:p>
        </p:txBody>
      </p:sp>
    </p:spTree>
    <p:extLst>
      <p:ext uri="{BB962C8B-B14F-4D97-AF65-F5344CB8AC3E}">
        <p14:creationId xmlns:p14="http://schemas.microsoft.com/office/powerpoint/2010/main" val="4291836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</a:rPr>
              <a:t>Define Logical System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F203BC-8FA3-A1F5-5163-414B752F5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4" y="1600200"/>
            <a:ext cx="8588484" cy="46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71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</a:rPr>
              <a:t>Allocate Logical System to Client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D3C68E-6887-03E5-AF41-95C0BB6CD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76400"/>
            <a:ext cx="7088393" cy="457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7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</a:rPr>
              <a:t>Create RFC Destination</a:t>
            </a:r>
            <a:endParaRPr lang="en-US" sz="2800" b="1" dirty="0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9E186-6B4B-F0D2-AD6B-E3916DDA1076}"/>
              </a:ext>
            </a:extLst>
          </p:cNvPr>
          <p:cNvSpPr txBox="1"/>
          <p:nvPr/>
        </p:nvSpPr>
        <p:spPr>
          <a:xfrm>
            <a:off x="838200" y="1676400"/>
            <a:ext cx="63276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Transaction </a:t>
            </a:r>
            <a:r>
              <a:rPr lang="en-US" sz="2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SM59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ABAP Connections and click on ‘Create’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C2F7D-1964-AD3D-3A8F-9DB3D704E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21726"/>
            <a:ext cx="7382349" cy="357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75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</a:rPr>
              <a:t>Define Port Definition</a:t>
            </a:r>
            <a:endParaRPr lang="en-US" sz="2800" b="1" dirty="0"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CD87AA-E8C6-DFDB-E8D2-2B8715974392}"/>
              </a:ext>
            </a:extLst>
          </p:cNvPr>
          <p:cNvSpPr txBox="1"/>
          <p:nvPr/>
        </p:nvSpPr>
        <p:spPr>
          <a:xfrm>
            <a:off x="990600" y="1600200"/>
            <a:ext cx="63276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Transaction WE21</a:t>
            </a:r>
            <a:endParaRPr lang="en-US" sz="20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 Transaction RFC and click on ‘Create’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B452A-E5BF-E33C-A638-EFEF4D820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2786"/>
            <a:ext cx="7910245" cy="386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31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</a:rPr>
              <a:t>Define Partner Profiles</a:t>
            </a:r>
            <a:endParaRPr lang="en-US" sz="2800" b="1" dirty="0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9CFC3-4E23-5F30-1451-3B38120FF8F3}"/>
              </a:ext>
            </a:extLst>
          </p:cNvPr>
          <p:cNvSpPr txBox="1"/>
          <p:nvPr/>
        </p:nvSpPr>
        <p:spPr>
          <a:xfrm>
            <a:off x="838200" y="1600200"/>
            <a:ext cx="73152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Transaction </a:t>
            </a: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WE20</a:t>
            </a:r>
            <a:endParaRPr lang="en-US" sz="20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Partner type LS and Create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Enter the partner number and configure the outbound parameter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Enter the Message Type, Receiver port name, Output Mode &amp; Basic Type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C4741-AB2B-FE5F-A20D-650B99E98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76600"/>
            <a:ext cx="4200145" cy="31067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726AA-C40F-3125-B02D-5357981EC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658" y="3308374"/>
            <a:ext cx="3260992" cy="256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20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</a:rPr>
              <a:t>Maintain Distribution Model</a:t>
            </a:r>
            <a:endParaRPr lang="en-US" sz="2800" b="1" dirty="0">
              <a:latin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35E73-E7B9-AE45-EA68-48C3A4E073C7}"/>
              </a:ext>
            </a:extLst>
          </p:cNvPr>
          <p:cNvSpPr txBox="1"/>
          <p:nvPr/>
        </p:nvSpPr>
        <p:spPr>
          <a:xfrm>
            <a:off x="762000" y="1600200"/>
            <a:ext cx="632764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Transaction </a:t>
            </a: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BD64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Model View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Message Type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 Partner Profiles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Distribute Model View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Save Model View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Go-to Environment -&gt; Generate Partner Profiles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6CCD11-B351-86D0-5CE8-C4BA5140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54" y="3919190"/>
            <a:ext cx="6812870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56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</a:rPr>
              <a:t>Check IDOC status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C44A6-F4F5-9155-C210-90B5D90233D9}"/>
              </a:ext>
            </a:extLst>
          </p:cNvPr>
          <p:cNvSpPr txBox="1"/>
          <p:nvPr/>
        </p:nvSpPr>
        <p:spPr>
          <a:xfrm>
            <a:off x="818308" y="1676400"/>
            <a:ext cx="8325691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T Code WE05 and check for your IDOC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Output Mode has been specified as Transfer immediately,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status will be 03.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Collect IDOC’s has been selected, the status will be 30. In that case the program RSEOUT00 needs to be executed to change the status to 03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E6F0F-5F72-F7C8-222D-D3A3B9C5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276600"/>
            <a:ext cx="6525958" cy="281210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68096BDD-C59A-115C-54C5-7AEFEE9CC3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8345927"/>
                  </p:ext>
                </p:extLst>
              </p:nvPr>
            </p:nvGraphicFramePr>
            <p:xfrm>
              <a:off x="-2990654" y="4502918"/>
              <a:ext cx="2286000" cy="1714500"/>
            </p:xfrm>
            <a:graphic>
              <a:graphicData uri="http://schemas.microsoft.com/office/powerpoint/2016/slidezoom">
                <pslz:sldZm>
                  <pslz:sldZmObj sldId="511" cId="3220182067">
                    <pslz:zmPr id="{82EDF6D3-B54D-4108-84D1-CD63375B9A9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8096BDD-C59A-115C-54C5-7AEFEE9CC3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990654" y="4502918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0182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 Status Numbers</a:t>
            </a:r>
            <a:endParaRPr lang="en-US" sz="2800" b="1" dirty="0">
              <a:latin typeface="Calibr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05B99-C45E-8CC1-6F7D-75E768CB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7772400" cy="457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61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</a:rPr>
              <a:t>Change Pointers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F9D46-024F-F815-5EC1-28C367ADADA9}"/>
              </a:ext>
            </a:extLst>
          </p:cNvPr>
          <p:cNvSpPr txBox="1"/>
          <p:nvPr/>
        </p:nvSpPr>
        <p:spPr>
          <a:xfrm>
            <a:off x="914400" y="1835926"/>
            <a:ext cx="7696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Pointers are R/3 objects that mark changes to SAP Master data.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CD objects record the changes in table CDHDR &amp; CDPOS.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mechanisms update table BDCP &amp; BDCPS which host the change pointer.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Activate change pointers for message type or generally.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 Change Pointers globally - Transaction – BD61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 Change Pointer for a Message Type  - Transaction BD50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pointer Configuration has to be done in Receiver system also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480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 Extensions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B5A3B-969E-B0AB-663D-CA3DA3349150}"/>
              </a:ext>
            </a:extLst>
          </p:cNvPr>
          <p:cNvSpPr txBox="1"/>
          <p:nvPr/>
        </p:nvSpPr>
        <p:spPr>
          <a:xfrm>
            <a:off x="704278" y="1864992"/>
            <a:ext cx="69919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SAP IDoc structure can be extended by appending new subsegments with additional data.</a:t>
            </a: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136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 Extensions Steps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B5A3B-969E-B0AB-663D-CA3DA3349150}"/>
              </a:ext>
            </a:extLst>
          </p:cNvPr>
          <p:cNvSpPr txBox="1"/>
          <p:nvPr/>
        </p:nvSpPr>
        <p:spPr>
          <a:xfrm>
            <a:off x="804576" y="1490008"/>
            <a:ext cx="69919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: WE30 – Create Custom IDOC type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EB7F0B-513B-1BBB-1834-F3C7961F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2328208"/>
            <a:ext cx="69246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9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 Extensions Steps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B5A3B-969E-B0AB-663D-CA3DA3349150}"/>
              </a:ext>
            </a:extLst>
          </p:cNvPr>
          <p:cNvSpPr txBox="1"/>
          <p:nvPr/>
        </p:nvSpPr>
        <p:spPr>
          <a:xfrm>
            <a:off x="804576" y="1490008"/>
            <a:ext cx="69919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: WE30 – Create Custom IDOC type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F20E0-828E-2B6F-9DB9-9647A8B3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91" y="2333763"/>
            <a:ext cx="6782388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23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 Extensions Steps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B5A3B-969E-B0AB-663D-CA3DA3349150}"/>
              </a:ext>
            </a:extLst>
          </p:cNvPr>
          <p:cNvSpPr txBox="1"/>
          <p:nvPr/>
        </p:nvSpPr>
        <p:spPr>
          <a:xfrm>
            <a:off x="804576" y="1490008"/>
            <a:ext cx="69919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: WE30 – Create Custom IDOC type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55315-6F71-BC6B-085D-9A06CC2E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799" y="2380111"/>
            <a:ext cx="7740337" cy="264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24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 Extensions Steps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B5A3B-969E-B0AB-663D-CA3DA3349150}"/>
              </a:ext>
            </a:extLst>
          </p:cNvPr>
          <p:cNvSpPr txBox="1"/>
          <p:nvPr/>
        </p:nvSpPr>
        <p:spPr>
          <a:xfrm>
            <a:off x="762000" y="1490008"/>
            <a:ext cx="69919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: WE31 – Create Segment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BC69C6-BA76-1C6D-6B0C-C6BC002CC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71" y="2347118"/>
            <a:ext cx="6713916" cy="30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46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 Extensions Steps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B5A3B-969E-B0AB-663D-CA3DA3349150}"/>
              </a:ext>
            </a:extLst>
          </p:cNvPr>
          <p:cNvSpPr txBox="1"/>
          <p:nvPr/>
        </p:nvSpPr>
        <p:spPr>
          <a:xfrm>
            <a:off x="762000" y="1490008"/>
            <a:ext cx="69919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: WE81 – Create Message Type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02F54-8A95-EA5C-2060-9326D594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75666"/>
            <a:ext cx="7924800" cy="263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91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Monitoring IDOCS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FA1BF-10C1-4F90-663A-477CF73EF521}"/>
              </a:ext>
            </a:extLst>
          </p:cNvPr>
          <p:cNvSpPr txBox="1"/>
          <p:nvPr/>
        </p:nvSpPr>
        <p:spPr>
          <a:xfrm>
            <a:off x="795528" y="1835926"/>
            <a:ext cx="7891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Transaction: BD87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0E662E-942C-9AC6-9897-3DF443F24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36036"/>
            <a:ext cx="7309762" cy="388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18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Monitoring IDOCS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FA1BF-10C1-4F90-663A-477CF73EF521}"/>
              </a:ext>
            </a:extLst>
          </p:cNvPr>
          <p:cNvSpPr txBox="1"/>
          <p:nvPr/>
        </p:nvSpPr>
        <p:spPr>
          <a:xfrm>
            <a:off x="795528" y="1835926"/>
            <a:ext cx="7891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Transaction: </a:t>
            </a: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WE19</a:t>
            </a: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032D0-8601-255A-FD4E-1D0EFE99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36036"/>
            <a:ext cx="7279942" cy="409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98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90600"/>
            <a:ext cx="8229600" cy="84532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</a:rPr>
              <a:t>IDOCS Filtering</a:t>
            </a:r>
            <a:endParaRPr lang="en-US" sz="28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2FC215-418F-E8B6-A21A-E0FF2648B134}"/>
              </a:ext>
            </a:extLst>
          </p:cNvPr>
          <p:cNvSpPr txBox="1"/>
          <p:nvPr/>
        </p:nvSpPr>
        <p:spPr>
          <a:xfrm>
            <a:off x="626364" y="1676400"/>
            <a:ext cx="78912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Filters can be set in the ALE configuration in the many ways: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Segment Level Filtering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Field Level Filtering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</a:rPr>
              <a:t>Filters in the Distribution Model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2FC10-DFCF-2E67-A0F4-F0C6CA5A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71800"/>
            <a:ext cx="6248400" cy="318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54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725488" y="1306513"/>
            <a:ext cx="7778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1" dirty="0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31596" y="2130425"/>
            <a:ext cx="7826604" cy="1461187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Q &amp; A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725488" y="3657600"/>
            <a:ext cx="4325112" cy="307777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725488" y="1306513"/>
            <a:ext cx="7778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1" dirty="0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31596" y="2130425"/>
            <a:ext cx="7826604" cy="1461187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44683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b43795-58c5-47c6-a222-9314a74e69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BE45457293B344AD19A73E6CBDB99A" ma:contentTypeVersion="12" ma:contentTypeDescription="Create a new document." ma:contentTypeScope="" ma:versionID="cf6fa32afb65302a8d72b634d7abf7ee">
  <xsd:schema xmlns:xsd="http://www.w3.org/2001/XMLSchema" xmlns:xs="http://www.w3.org/2001/XMLSchema" xmlns:p="http://schemas.microsoft.com/office/2006/metadata/properties" xmlns:ns3="fbb43795-58c5-47c6-a222-9314a74e693f" xmlns:ns4="1e52d68e-c727-4131-9848-51e113f64d19" targetNamespace="http://schemas.microsoft.com/office/2006/metadata/properties" ma:root="true" ma:fieldsID="7ee075d7da34ebfd9a70ae108577514f" ns3:_="" ns4:_="">
    <xsd:import namespace="fbb43795-58c5-47c6-a222-9314a74e693f"/>
    <xsd:import namespace="1e52d68e-c727-4131-9848-51e113f64d1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43795-58c5-47c6-a222-9314a74e69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52d68e-c727-4131-9848-51e113f64d1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29D847-959F-42B4-9C98-6906B3F89B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49947E-9373-4078-B04C-266A5F12C641}">
  <ds:schemaRefs>
    <ds:schemaRef ds:uri="http://www.w3.org/XML/1998/namespace"/>
    <ds:schemaRef ds:uri="http://purl.org/dc/terms/"/>
    <ds:schemaRef ds:uri="1e52d68e-c727-4131-9848-51e113f64d19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fbb43795-58c5-47c6-a222-9314a74e693f"/>
  </ds:schemaRefs>
</ds:datastoreItem>
</file>

<file path=customXml/itemProps3.xml><?xml version="1.0" encoding="utf-8"?>
<ds:datastoreItem xmlns:ds="http://schemas.openxmlformats.org/officeDocument/2006/customXml" ds:itemID="{C63509A2-B8CC-4D80-BB7F-3C6FD71257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b43795-58c5-47c6-a222-9314a74e693f"/>
    <ds:schemaRef ds:uri="1e52d68e-c727-4131-9848-51e113f64d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9210</TotalTime>
  <Words>640</Words>
  <Application>Microsoft Office PowerPoint</Application>
  <PresentationFormat>On-screen Show (4:3)</PresentationFormat>
  <Paragraphs>136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Verdana</vt:lpstr>
      <vt:lpstr>Wingdings</vt:lpstr>
      <vt:lpstr>Office Theme</vt:lpstr>
      <vt:lpstr>PowerPoint Presentation</vt:lpstr>
      <vt:lpstr>Course Content</vt:lpstr>
      <vt:lpstr> IDOC Overview</vt:lpstr>
      <vt:lpstr>IDOC Concept </vt:lpstr>
      <vt:lpstr>IDOC Structure </vt:lpstr>
      <vt:lpstr>IDOC Structure ( Contd. ).. </vt:lpstr>
      <vt:lpstr>IDOC Structure ( Contd. ).. </vt:lpstr>
      <vt:lpstr>Application Link Enabling</vt:lpstr>
      <vt:lpstr>IDOC Terminologies</vt:lpstr>
      <vt:lpstr>IDOC Segments</vt:lpstr>
      <vt:lpstr>IDOC Type</vt:lpstr>
      <vt:lpstr>Message Type</vt:lpstr>
      <vt:lpstr>Maintain RFC Destinations</vt:lpstr>
      <vt:lpstr>Ports</vt:lpstr>
      <vt:lpstr>Process Code</vt:lpstr>
      <vt:lpstr>ALE Configuration Steps</vt:lpstr>
      <vt:lpstr>Define Logical System</vt:lpstr>
      <vt:lpstr>Allocate Logical System to Client</vt:lpstr>
      <vt:lpstr>Create RFC Destination</vt:lpstr>
      <vt:lpstr>Define Port Definition</vt:lpstr>
      <vt:lpstr>Define Partner Profiles</vt:lpstr>
      <vt:lpstr>Maintain Distribution Model</vt:lpstr>
      <vt:lpstr>Check IDOC status</vt:lpstr>
      <vt:lpstr>IDOC Status Numbers</vt:lpstr>
      <vt:lpstr>Change Pointers</vt:lpstr>
      <vt:lpstr>IDOC Extensions</vt:lpstr>
      <vt:lpstr>IDOC Extensions Steps</vt:lpstr>
      <vt:lpstr>IDOC Extensions Steps</vt:lpstr>
      <vt:lpstr>IDOC Extensions Steps</vt:lpstr>
      <vt:lpstr>IDOC Extensions Steps</vt:lpstr>
      <vt:lpstr>IDOC Extensions Steps</vt:lpstr>
      <vt:lpstr>Monitoring IDOCS</vt:lpstr>
      <vt:lpstr>Monitoring IDOCS</vt:lpstr>
      <vt:lpstr>IDOCS Filtering</vt:lpstr>
      <vt:lpstr>Q &amp; A</vt:lpstr>
      <vt:lpstr>                     Thank You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Bhan, Arpita</dc:creator>
  <cp:lastModifiedBy>Shenoy, Vinay</cp:lastModifiedBy>
  <cp:revision>192</cp:revision>
  <dcterms:created xsi:type="dcterms:W3CDTF">2014-09-14T12:27:32Z</dcterms:created>
  <dcterms:modified xsi:type="dcterms:W3CDTF">2023-10-18T06:26:03Z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0x01010017BE45457293B344AD19A73E6CBDB99A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2023-09-11T06:06:09Z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fd3ad246-3bed-4cf0-8915-e126b8a66d71</vt:lpwstr>
  </property>
  <property fmtid="{D5CDD505-2E9C-101B-9397-08002B2CF9AE}" pid="9" name="MSIP_Label_ea60d57e-af5b-4752-ac57-3e4f28ca11dc_ContentBits">
    <vt:lpwstr>0</vt:lpwstr>
  </property>
</Properties>
</file>