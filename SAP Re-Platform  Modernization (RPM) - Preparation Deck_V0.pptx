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ags/tag2.xml" ContentType="application/vnd.openxmlformats-officedocument.presentationml.tags+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65" r:id="rId2"/>
  </p:sldMasterIdLst>
  <p:notesMasterIdLst>
    <p:notesMasterId r:id="rId6"/>
  </p:notesMasterIdLst>
  <p:handoutMasterIdLst>
    <p:handoutMasterId r:id="rId7"/>
  </p:handoutMasterIdLst>
  <p:sldIdLst>
    <p:sldId id="340" r:id="rId3"/>
    <p:sldId id="476" r:id="rId4"/>
    <p:sldId id="469" r:id="rId5"/>
  </p:sldIdLst>
  <p:sldSz cx="12192000" cy="6858000"/>
  <p:notesSz cx="7315200" cy="9601200"/>
  <p:custDataLst>
    <p:tags r:id="rId8"/>
  </p:custData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0" userDrawn="1">
          <p15:clr>
            <a:srgbClr val="A4A3A4"/>
          </p15:clr>
        </p15:guide>
        <p15:guide id="11" orient="horz" pos="2047" userDrawn="1">
          <p15:clr>
            <a:srgbClr val="A4A3A4"/>
          </p15:clr>
        </p15:guide>
        <p15:guide id="12" orient="horz" pos="1593" userDrawn="1">
          <p15:clr>
            <a:srgbClr val="A4A3A4"/>
          </p15:clr>
        </p15:guide>
        <p15:guide id="13" orient="horz" pos="2568" userDrawn="1">
          <p15:clr>
            <a:srgbClr val="A4A3A4"/>
          </p15:clr>
        </p15:guide>
        <p15:guide id="14" orient="horz" pos="3090" userDrawn="1">
          <p15:clr>
            <a:srgbClr val="A4A3A4"/>
          </p15:clr>
        </p15:guide>
        <p15:guide id="15" orient="horz" pos="3589"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CD00"/>
    <a:srgbClr val="ED8B00"/>
    <a:srgbClr val="DB291C"/>
    <a:srgbClr val="FF9900"/>
    <a:srgbClr val="C00000"/>
    <a:srgbClr val="3C8A2E"/>
    <a:srgbClr val="DCDCDC"/>
    <a:srgbClr val="B4B4B4"/>
    <a:srgbClr val="575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27" autoAdjust="0"/>
    <p:restoredTop sz="94799" autoAdjust="0"/>
  </p:normalViewPr>
  <p:slideViewPr>
    <p:cSldViewPr snapToGrid="0" showGuides="1">
      <p:cViewPr varScale="1">
        <p:scale>
          <a:sx n="77" d="100"/>
          <a:sy n="77" d="100"/>
        </p:scale>
        <p:origin x="744" y="72"/>
      </p:cViewPr>
      <p:guideLst>
        <p:guide/>
        <p:guide orient="horz" pos="2047"/>
        <p:guide orient="horz" pos="1593"/>
        <p:guide orient="horz" pos="2568"/>
        <p:guide orient="horz" pos="3090"/>
        <p:guide orient="horz" pos="3589"/>
      </p:guideLst>
    </p:cSldViewPr>
  </p:slideViewPr>
  <p:outlineViewPr>
    <p:cViewPr>
      <p:scale>
        <a:sx n="33" d="100"/>
        <a:sy n="33" d="100"/>
      </p:scale>
      <p:origin x="0" y="-59190"/>
    </p:cViewPr>
  </p:outlineViewPr>
  <p:notesTextViewPr>
    <p:cViewPr>
      <p:scale>
        <a:sx n="100" d="100"/>
        <a:sy n="100" d="100"/>
      </p:scale>
      <p:origin x="0" y="0"/>
    </p:cViewPr>
  </p:notesTextViewPr>
  <p:sorterViewPr>
    <p:cViewPr>
      <p:scale>
        <a:sx n="81" d="100"/>
        <a:sy n="81" d="100"/>
      </p:scale>
      <p:origin x="0" y="0"/>
    </p:cViewPr>
  </p:sorterViewPr>
  <p:notesViewPr>
    <p:cSldViewPr snapToGrid="0" showGuides="1">
      <p:cViewPr varScale="1">
        <p:scale>
          <a:sx n="57" d="100"/>
          <a:sy n="57" d="100"/>
        </p:scale>
        <p:origin x="1992" y="90"/>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 Target="slides/slide1.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2/4/2020</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2/4/2020</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3797836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5" name="Slide Image Placeholder 1"/>
          <p:cNvSpPr>
            <a:spLocks noGrp="1" noRot="1" noChangeAspect="1"/>
          </p:cNvSpPr>
          <p:nvPr>
            <p:ph type="sldImg"/>
          </p:nvPr>
        </p:nvSpPr>
        <p:spPr bwMode="auto">
          <a:noFill/>
          <a:ln>
            <a:solidFill>
              <a:srgbClr val="000000"/>
            </a:solidFill>
            <a:miter lim="800000"/>
            <a:headEnd/>
            <a:tailEnd/>
          </a:ln>
        </p:spPr>
      </p:sp>
      <p:sp>
        <p:nvSpPr>
          <p:cNvPr id="845826" name="Notes Placeholder 2"/>
          <p:cNvSpPr>
            <a:spLocks noGrp="1"/>
          </p:cNvSpPr>
          <p:nvPr>
            <p:ph type="body" idx="1"/>
          </p:nvPr>
        </p:nvSpPr>
        <p:spPr>
          <a:noFill/>
          <a:ln/>
        </p:spPr>
        <p:txBody>
          <a:bodyPr/>
          <a:lstStyle/>
          <a:p>
            <a:endParaRPr lang="en-US"/>
          </a:p>
        </p:txBody>
      </p:sp>
      <p:sp>
        <p:nvSpPr>
          <p:cNvPr id="845827" name="Slide Number Placeholder 3"/>
          <p:cNvSpPr>
            <a:spLocks noGrp="1"/>
          </p:cNvSpPr>
          <p:nvPr>
            <p:ph type="sldNum" sz="quarter" idx="5"/>
          </p:nvPr>
        </p:nvSpPr>
        <p:spPr>
          <a:noFill/>
        </p:spPr>
        <p:txBody>
          <a:bodyPr/>
          <a:lstStyle/>
          <a:p>
            <a:fld id="{A559B68C-5915-4D23-A2C6-5B96549FD7A0}" type="slidenum">
              <a:rPr 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3047313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5" name="Slide Image Placeholder 1"/>
          <p:cNvSpPr>
            <a:spLocks noGrp="1" noRot="1" noChangeAspect="1"/>
          </p:cNvSpPr>
          <p:nvPr>
            <p:ph type="sldImg"/>
          </p:nvPr>
        </p:nvSpPr>
        <p:spPr bwMode="auto">
          <a:noFill/>
          <a:ln>
            <a:solidFill>
              <a:srgbClr val="000000"/>
            </a:solidFill>
            <a:miter lim="800000"/>
            <a:headEnd/>
            <a:tailEnd/>
          </a:ln>
        </p:spPr>
      </p:sp>
      <p:sp>
        <p:nvSpPr>
          <p:cNvPr id="845826" name="Notes Placeholder 2"/>
          <p:cNvSpPr>
            <a:spLocks noGrp="1"/>
          </p:cNvSpPr>
          <p:nvPr>
            <p:ph type="body" idx="1"/>
          </p:nvPr>
        </p:nvSpPr>
        <p:spPr>
          <a:noFill/>
          <a:ln/>
        </p:spPr>
        <p:txBody>
          <a:bodyPr/>
          <a:lstStyle/>
          <a:p>
            <a:endParaRPr lang="en-US"/>
          </a:p>
        </p:txBody>
      </p:sp>
      <p:sp>
        <p:nvSpPr>
          <p:cNvPr id="845827" name="Slide Number Placeholder 3"/>
          <p:cNvSpPr>
            <a:spLocks noGrp="1"/>
          </p:cNvSpPr>
          <p:nvPr>
            <p:ph type="sldNum" sz="quarter" idx="5"/>
          </p:nvPr>
        </p:nvSpPr>
        <p:spPr>
          <a:noFill/>
        </p:spPr>
        <p:txBody>
          <a:bodyPr/>
          <a:lstStyle/>
          <a:p>
            <a:fld id="{A559B68C-5915-4D23-A2C6-5B96549FD7A0}" type="slidenum">
              <a:rPr lang="en-US" smtClean="0">
                <a:solidFill>
                  <a:prstClr val="black"/>
                </a:solidFill>
              </a:rPr>
              <a:pPr/>
              <a:t>3</a:t>
            </a:fld>
            <a:endParaRPr lang="en-US">
              <a:solidFill>
                <a:prstClr val="black"/>
              </a:solidFill>
            </a:endParaRPr>
          </a:p>
        </p:txBody>
      </p:sp>
    </p:spTree>
    <p:extLst>
      <p:ext uri="{BB962C8B-B14F-4D97-AF65-F5344CB8AC3E}">
        <p14:creationId xmlns:p14="http://schemas.microsoft.com/office/powerpoint/2010/main" val="27052360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2104557831"/>
      </p:ext>
    </p:extLst>
  </p:cSld>
  <p:clrMapOvr>
    <a:overrideClrMapping bg1="lt1" tx1="dk1" bg2="lt2" tx2="dk2" accent1="accent1" accent2="accent2" accent3="accent3" accent4="accent4" accent5="accent5" accent6="accent6" hlink="hlink" folHlink="folHlink"/>
  </p:clrMapOvr>
  <p:transition>
    <p:fade/>
  </p:transition>
  <p:extLst mod="1">
    <p:ext uri="{DCECCB84-F9BA-43D5-87BE-67443E8EF086}">
      <p15:sldGuideLst xmlns:p15="http://schemas.microsoft.com/office/powerpoint/2012/main">
        <p15:guide id="1" orient="horz" pos="40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2783079461"/>
      </p:ext>
    </p:extLst>
  </p:cSld>
  <p:clrMapOvr>
    <a:masterClrMapping/>
  </p:clrMapOvr>
  <p:transition>
    <p:fade/>
  </p:transition>
  <p:extLst mod="1">
    <p:ext uri="{DCECCB84-F9BA-43D5-87BE-67443E8EF086}">
      <p15:sldGuideLst xmlns:p15="http://schemas.microsoft.com/office/powerpoint/2012/main">
        <p15:guide id="1" orient="horz" pos="408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212220219"/>
      </p:ext>
    </p:extLst>
  </p:cSld>
  <p:clrMapOvr>
    <a:overrideClrMapping bg1="lt1" tx1="dk1" bg2="lt2" tx2="dk2" accent1="accent1" accent2="accent2" accent3="accent3" accent4="accent4" accent5="accent5" accent6="accent6" hlink="hlink" folHlink="folHlink"/>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527611538"/>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7" name="TextBox 6"/>
          <p:cNvSpPr txBox="1"/>
          <p:nvPr userDrawn="1"/>
        </p:nvSpPr>
        <p:spPr>
          <a:xfrm>
            <a:off x="6589224" y="6491067"/>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dirty="0">
                <a:solidFill>
                  <a:schemeClr val="bg1"/>
                </a:solidFill>
              </a:rPr>
              <a:t>SAP Re-Platform &amp; Modernization (RPM): Platform Analyzer Details</a:t>
            </a:r>
          </a:p>
        </p:txBody>
      </p:sp>
      <p:sp>
        <p:nvSpPr>
          <p:cNvPr id="8" name="TextBox 7"/>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Deloitte</a:t>
            </a:r>
            <a:r>
              <a:rPr lang="en-US" sz="650" baseline="0" noProof="0" dirty="0">
                <a:solidFill>
                  <a:schemeClr val="bg1"/>
                </a:solidFill>
              </a:rPr>
              <a:t> Consulting Pty Ltd ©</a:t>
            </a:r>
            <a:endParaRPr lang="en-US" sz="650" noProof="0" dirty="0">
              <a:solidFill>
                <a:schemeClr val="bg1"/>
              </a:solidFill>
            </a:endParaRPr>
          </a:p>
        </p:txBody>
      </p:sp>
    </p:spTree>
    <p:extLst>
      <p:ext uri="{BB962C8B-B14F-4D97-AF65-F5344CB8AC3E}">
        <p14:creationId xmlns:p14="http://schemas.microsoft.com/office/powerpoint/2010/main" val="2104574128"/>
      </p:ext>
    </p:extLst>
  </p:cSld>
  <p:clrMapOvr>
    <a:masterClrMapping/>
  </p:clrMapOvr>
  <p:transition>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7" name="TextBox 6"/>
          <p:cNvSpPr txBox="1"/>
          <p:nvPr userDrawn="1"/>
        </p:nvSpPr>
        <p:spPr>
          <a:xfrm>
            <a:off x="6589224" y="6491067"/>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dirty="0"/>
              <a:t>SAP Re-Platform &amp; Modernization (RPM): Platform Analyzer Details</a:t>
            </a:r>
            <a:endParaRPr lang="en-US" sz="650" noProof="0" dirty="0">
              <a:solidFill>
                <a:schemeClr val="tx1"/>
              </a:solidFill>
            </a:endParaRPr>
          </a:p>
        </p:txBody>
      </p:sp>
      <p:sp>
        <p:nvSpPr>
          <p:cNvPr id="8" name="TextBox 7"/>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Deloitte</a:t>
            </a:r>
            <a:r>
              <a:rPr lang="en-US" sz="650" baseline="0" noProof="0" dirty="0">
                <a:solidFill>
                  <a:schemeClr val="bg1"/>
                </a:solidFill>
              </a:rPr>
              <a:t> Consulting Pty Ltd ©</a:t>
            </a:r>
            <a:endParaRPr lang="en-US" sz="650" noProof="0" dirty="0">
              <a:solidFill>
                <a:schemeClr val="bg1"/>
              </a:solidFill>
            </a:endParaRPr>
          </a:p>
        </p:txBody>
      </p:sp>
    </p:spTree>
    <p:extLst>
      <p:ext uri="{BB962C8B-B14F-4D97-AF65-F5344CB8AC3E}">
        <p14:creationId xmlns:p14="http://schemas.microsoft.com/office/powerpoint/2010/main" val="1976482637"/>
      </p:ext>
    </p:extLst>
  </p:cSld>
  <p:clrMapOvr>
    <a:masterClrMapping/>
  </p:clrMapOvr>
  <p:transition>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0" name="TextBox 9"/>
          <p:cNvSpPr txBox="1"/>
          <p:nvPr userDrawn="1"/>
        </p:nvSpPr>
        <p:spPr>
          <a:xfrm>
            <a:off x="6589224" y="6491067"/>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dirty="0"/>
              <a:t>SAP Re-Platform &amp; Modernization (RPM): Platform Analyzer Details</a:t>
            </a:r>
            <a:endParaRPr lang="en-US" sz="650" noProof="0" dirty="0">
              <a:solidFill>
                <a:schemeClr val="tx1"/>
              </a:solidFill>
            </a:endParaRPr>
          </a:p>
        </p:txBody>
      </p:sp>
      <p:sp>
        <p:nvSpPr>
          <p:cNvPr id="11" name="TextBox 10"/>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Deloitte</a:t>
            </a:r>
            <a:r>
              <a:rPr lang="en-US" sz="650" baseline="0" noProof="0" dirty="0">
                <a:solidFill>
                  <a:schemeClr val="bg1"/>
                </a:solidFill>
              </a:rPr>
              <a:t> Consulting Pty Ltd ©</a:t>
            </a:r>
            <a:endParaRPr lang="en-US" sz="650" noProof="0" dirty="0">
              <a:solidFill>
                <a:schemeClr val="bg1"/>
              </a:solidFill>
            </a:endParaRPr>
          </a:p>
        </p:txBody>
      </p:sp>
    </p:spTree>
    <p:extLst>
      <p:ext uri="{BB962C8B-B14F-4D97-AF65-F5344CB8AC3E}">
        <p14:creationId xmlns:p14="http://schemas.microsoft.com/office/powerpoint/2010/main" val="1654021458"/>
      </p:ext>
    </p:extLst>
  </p:cSld>
  <p:clrMapOvr>
    <a:masterClrMapping/>
  </p:clrMapOvr>
  <p:transition>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7" name="TextBox 6"/>
          <p:cNvSpPr txBox="1"/>
          <p:nvPr userDrawn="1"/>
        </p:nvSpPr>
        <p:spPr>
          <a:xfrm>
            <a:off x="6589224" y="6491067"/>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dirty="0"/>
              <a:t>SAP Re-Platform &amp; Modernization (RPM): Platform Analyzer Details</a:t>
            </a:r>
            <a:endParaRPr lang="en-US" sz="650" noProof="0" dirty="0">
              <a:solidFill>
                <a:schemeClr val="tx1"/>
              </a:solidFill>
            </a:endParaRPr>
          </a:p>
        </p:txBody>
      </p:sp>
      <p:sp>
        <p:nvSpPr>
          <p:cNvPr id="8" name="TextBox 7"/>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Deloitte</a:t>
            </a:r>
            <a:r>
              <a:rPr lang="en-US" sz="650" baseline="0" noProof="0" dirty="0">
                <a:solidFill>
                  <a:schemeClr val="bg1"/>
                </a:solidFill>
              </a:rPr>
              <a:t> Consulting Pty Ltd ©</a:t>
            </a:r>
            <a:endParaRPr lang="en-US" sz="650" noProof="0" dirty="0">
              <a:solidFill>
                <a:schemeClr val="bg1"/>
              </a:solidFill>
            </a:endParaRPr>
          </a:p>
        </p:txBody>
      </p:sp>
    </p:spTree>
    <p:extLst>
      <p:ext uri="{BB962C8B-B14F-4D97-AF65-F5344CB8AC3E}">
        <p14:creationId xmlns:p14="http://schemas.microsoft.com/office/powerpoint/2010/main" val="1272371442"/>
      </p:ext>
    </p:extLst>
  </p:cSld>
  <p:clrMapOvr>
    <a:masterClrMapping/>
  </p:clrMapOvr>
  <p:transition>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1" name="TextBox 20"/>
          <p:cNvSpPr txBox="1"/>
          <p:nvPr userDrawn="1"/>
        </p:nvSpPr>
        <p:spPr>
          <a:xfrm>
            <a:off x="469900" y="6471653"/>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Deloitte</a:t>
            </a:r>
            <a:r>
              <a:rPr lang="en-US" sz="650" baseline="0" noProof="0" dirty="0">
                <a:solidFill>
                  <a:schemeClr val="bg1"/>
                </a:solidFill>
              </a:rPr>
              <a:t> Consulting Pty Ltd ©</a:t>
            </a:r>
            <a:endParaRPr lang="en-US" sz="650" noProof="0" dirty="0">
              <a:solidFill>
                <a:schemeClr val="bg1"/>
              </a:solidFill>
            </a:endParaRP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7" name="TextBox 6"/>
          <p:cNvSpPr txBox="1"/>
          <p:nvPr userDrawn="1"/>
        </p:nvSpPr>
        <p:spPr>
          <a:xfrm>
            <a:off x="6589224" y="6491067"/>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dirty="0">
                <a:solidFill>
                  <a:schemeClr val="bg1"/>
                </a:solidFill>
              </a:rPr>
              <a:t>SAP Re-Platform &amp; Modernization (RPM): Platform Analyzer Details</a:t>
            </a:r>
            <a:endParaRPr lang="en-US" sz="650" noProof="0" dirty="0">
              <a:solidFill>
                <a:schemeClr val="bg1"/>
              </a:solidFill>
            </a:endParaRPr>
          </a:p>
        </p:txBody>
      </p:sp>
    </p:spTree>
    <p:extLst>
      <p:ext uri="{BB962C8B-B14F-4D97-AF65-F5344CB8AC3E}">
        <p14:creationId xmlns:p14="http://schemas.microsoft.com/office/powerpoint/2010/main" val="1936978992"/>
      </p:ext>
    </p:extLst>
  </p:cSld>
  <p:clrMapOvr>
    <a:masterClrMapping/>
  </p:clrMapOvr>
  <p:transition>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879515099"/>
      </p:ext>
    </p:extLst>
  </p:cSld>
  <p:clrMapOvr>
    <a:masterClrMapping/>
  </p:clrMapOvr>
  <p:transition>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6" name="TextBox 5"/>
          <p:cNvSpPr txBox="1"/>
          <p:nvPr userDrawn="1"/>
        </p:nvSpPr>
        <p:spPr>
          <a:xfrm>
            <a:off x="6589224" y="6491067"/>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dirty="0"/>
              <a:t>SAP Re-Platform &amp; Modernization (RPM): Platform Analyzer Details</a:t>
            </a:r>
            <a:endParaRPr lang="en-US" sz="650" noProof="0" dirty="0">
              <a:solidFill>
                <a:schemeClr val="tx1"/>
              </a:solidFill>
            </a:endParaRPr>
          </a:p>
        </p:txBody>
      </p:sp>
      <p:sp>
        <p:nvSpPr>
          <p:cNvPr id="7" name="TextBox 6"/>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Deloitte</a:t>
            </a:r>
            <a:r>
              <a:rPr lang="en-US" sz="650" baseline="0" noProof="0" dirty="0">
                <a:solidFill>
                  <a:schemeClr val="bg1"/>
                </a:solidFill>
              </a:rPr>
              <a:t> Consulting Pty Ltd ©</a:t>
            </a:r>
            <a:endParaRPr lang="en-US" sz="650" noProof="0" dirty="0">
              <a:solidFill>
                <a:schemeClr val="bg1"/>
              </a:solidFill>
            </a:endParaRPr>
          </a:p>
        </p:txBody>
      </p:sp>
    </p:spTree>
    <p:extLst>
      <p:ext uri="{BB962C8B-B14F-4D97-AF65-F5344CB8AC3E}">
        <p14:creationId xmlns:p14="http://schemas.microsoft.com/office/powerpoint/2010/main" val="88688157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6" name="TextBox 5"/>
          <p:cNvSpPr txBox="1"/>
          <p:nvPr userDrawn="1"/>
        </p:nvSpPr>
        <p:spPr>
          <a:xfrm>
            <a:off x="6589224" y="6491067"/>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dirty="0"/>
              <a:t>SAP Re-Platform &amp; Modernization (RPM): Platform Analyzer Details</a:t>
            </a:r>
            <a:endParaRPr lang="en-US" sz="650" noProof="0" dirty="0">
              <a:solidFill>
                <a:schemeClr val="tx1"/>
              </a:solidFill>
            </a:endParaRPr>
          </a:p>
        </p:txBody>
      </p:sp>
      <p:sp>
        <p:nvSpPr>
          <p:cNvPr id="7" name="TextBox 6"/>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Deloitte</a:t>
            </a:r>
            <a:r>
              <a:rPr lang="en-US" sz="650" baseline="0" noProof="0" dirty="0">
                <a:solidFill>
                  <a:schemeClr val="bg1"/>
                </a:solidFill>
              </a:rPr>
              <a:t> Consulting Pty Ltd ©</a:t>
            </a:r>
            <a:endParaRPr lang="en-US" sz="650" noProof="0" dirty="0">
              <a:solidFill>
                <a:schemeClr val="bg1"/>
              </a:solidFill>
            </a:endParaRPr>
          </a:p>
        </p:txBody>
      </p:sp>
    </p:spTree>
    <p:extLst>
      <p:ext uri="{BB962C8B-B14F-4D97-AF65-F5344CB8AC3E}">
        <p14:creationId xmlns:p14="http://schemas.microsoft.com/office/powerpoint/2010/main" val="183856764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6" name="TextBox 5"/>
          <p:cNvSpPr txBox="1"/>
          <p:nvPr userDrawn="1"/>
        </p:nvSpPr>
        <p:spPr>
          <a:xfrm>
            <a:off x="6589224" y="6491067"/>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dirty="0"/>
              <a:t>SAP Re-Platform &amp; Modernization (RPM): Platform Analyzer Details</a:t>
            </a:r>
            <a:endParaRPr lang="en-US" sz="650" noProof="0" dirty="0">
              <a:solidFill>
                <a:schemeClr val="tx1"/>
              </a:solidFill>
            </a:endParaRPr>
          </a:p>
        </p:txBody>
      </p:sp>
      <p:sp>
        <p:nvSpPr>
          <p:cNvPr id="7" name="TextBox 6"/>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Deloitte</a:t>
            </a:r>
            <a:r>
              <a:rPr lang="en-US" sz="650" baseline="0" noProof="0" dirty="0">
                <a:solidFill>
                  <a:schemeClr val="bg1"/>
                </a:solidFill>
              </a:rPr>
              <a:t> Consulting Pty Ltd ©</a:t>
            </a:r>
            <a:endParaRPr lang="en-US" sz="650" noProof="0" dirty="0">
              <a:solidFill>
                <a:schemeClr val="bg1"/>
              </a:solidFill>
            </a:endParaRPr>
          </a:p>
        </p:txBody>
      </p:sp>
    </p:spTree>
    <p:extLst>
      <p:ext uri="{BB962C8B-B14F-4D97-AF65-F5344CB8AC3E}">
        <p14:creationId xmlns:p14="http://schemas.microsoft.com/office/powerpoint/2010/main" val="12673754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6" name="TextBox 5"/>
          <p:cNvSpPr txBox="1"/>
          <p:nvPr userDrawn="1"/>
        </p:nvSpPr>
        <p:spPr>
          <a:xfrm>
            <a:off x="6589224" y="6491067"/>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dirty="0">
                <a:solidFill>
                  <a:schemeClr val="bg1"/>
                </a:solidFill>
              </a:rPr>
              <a:t>SAP Re-Platform &amp; Modernization (RPM): Platform Analyzer Details</a:t>
            </a:r>
          </a:p>
        </p:txBody>
      </p:sp>
      <p:sp>
        <p:nvSpPr>
          <p:cNvPr id="7" name="TextBox 6"/>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Deloitte</a:t>
            </a:r>
            <a:r>
              <a:rPr lang="en-US" sz="650" baseline="0" noProof="0" dirty="0">
                <a:solidFill>
                  <a:schemeClr val="bg1"/>
                </a:solidFill>
              </a:rPr>
              <a:t> Consulting Pty Ltd ©</a:t>
            </a:r>
            <a:endParaRPr lang="en-US" sz="650" noProof="0" dirty="0">
              <a:solidFill>
                <a:schemeClr val="bg1"/>
              </a:solidFill>
            </a:endParaRPr>
          </a:p>
        </p:txBody>
      </p:sp>
    </p:spTree>
    <p:extLst>
      <p:ext uri="{BB962C8B-B14F-4D97-AF65-F5344CB8AC3E}">
        <p14:creationId xmlns:p14="http://schemas.microsoft.com/office/powerpoint/2010/main" val="2522486704"/>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dirty="0"/>
              <a:t>Click to edit Master text styles</a:t>
            </a:r>
          </a:p>
        </p:txBody>
      </p:sp>
      <p:sp>
        <p:nvSpPr>
          <p:cNvPr id="3" name="TextBox 2"/>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tx1"/>
                </a:solidFill>
              </a:rPr>
              <a:t>Deloitte</a:t>
            </a:r>
            <a:r>
              <a:rPr lang="en-US" sz="650" baseline="0" noProof="0" dirty="0">
                <a:solidFill>
                  <a:schemeClr val="tx1"/>
                </a:solidFill>
              </a:rPr>
              <a:t> Consulting Pty Ltd ©</a:t>
            </a:r>
            <a:endParaRPr lang="en-US" sz="650" noProof="0" dirty="0">
              <a:solidFill>
                <a:schemeClr val="tx1"/>
              </a:solidFill>
            </a:endParaRPr>
          </a:p>
        </p:txBody>
      </p:sp>
    </p:spTree>
    <p:extLst>
      <p:ext uri="{BB962C8B-B14F-4D97-AF65-F5344CB8AC3E}">
        <p14:creationId xmlns:p14="http://schemas.microsoft.com/office/powerpoint/2010/main" val="2510221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3651087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a:t>Click icon to add picture</a:t>
            </a:r>
            <a:endParaRPr lang="en-US" noProof="0" dirty="0"/>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63979046"/>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88109111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27264712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1277893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US" noProof="0"/>
              <a:t>Click to 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2970294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Click to edit Master text styles</a:t>
            </a:r>
          </a:p>
        </p:txBody>
      </p:sp>
      <p:sp>
        <p:nvSpPr>
          <p:cNvPr id="11"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US" noProof="0"/>
              <a:t>Click to 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215081642"/>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4289120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031036312"/>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Click to edit Master text styles</a:t>
            </a:r>
          </a:p>
        </p:txBody>
      </p:sp>
      <p:sp>
        <p:nvSpPr>
          <p:cNvPr id="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US" noProof="0"/>
              <a:t>Click to 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179466235"/>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Click to 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a:t>Click icon to add chart</a:t>
            </a:r>
            <a:endParaRPr lang="en-US" noProof="0" dirty="0"/>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Click to edit Master text styles</a:t>
            </a:r>
          </a:p>
        </p:txBody>
      </p:sp>
      <p:sp>
        <p:nvSpPr>
          <p:cNvPr id="14"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US" noProof="0"/>
              <a:t>Click to 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20028567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90274777"/>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98019857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482363" y="3076573"/>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207211" y="3079742"/>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44787" y="3076573"/>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9069636" y="3079742"/>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93032526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a:t>Click icon to add picture</a:t>
            </a:r>
            <a:endParaRPr lang="en-US" noProof="0" dirty="0"/>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a:t>Click icon to add picture</a:t>
            </a:r>
            <a:endParaRPr lang="en-US" noProof="0" dirty="0"/>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a:t>Click icon to add picture</a:t>
            </a:r>
            <a:endParaRPr lang="en-US" noProof="0" dirty="0"/>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a:t>Click icon to add picture</a:t>
            </a:r>
            <a:endParaRPr lang="en-US" noProof="0" dirty="0"/>
          </a:p>
        </p:txBody>
      </p:sp>
      <p:sp>
        <p:nvSpPr>
          <p:cNvPr id="13" name="Text Placeholder 12"/>
          <p:cNvSpPr>
            <a:spLocks noGrp="1"/>
          </p:cNvSpPr>
          <p:nvPr>
            <p:ph type="body" sz="quarter" idx="32"/>
          </p:nvPr>
        </p:nvSpPr>
        <p:spPr>
          <a:xfrm>
            <a:off x="2840780" y="1880213"/>
            <a:ext cx="31728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70504324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69900" y="1700213"/>
            <a:ext cx="3627438" cy="2052830"/>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82784" y="1700213"/>
            <a:ext cx="3639316" cy="2059099"/>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84188" y="1700212"/>
            <a:ext cx="3636962" cy="2057767"/>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469900" y="3832225"/>
            <a:ext cx="3627438" cy="21814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39556094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28195933"/>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14" name="Text Placeholder 8"/>
          <p:cNvSpPr>
            <a:spLocks noGrp="1"/>
          </p:cNvSpPr>
          <p:nvPr>
            <p:ph type="body" sz="quarter" idx="17"/>
          </p:nvPr>
        </p:nvSpPr>
        <p:spPr>
          <a:xfrm>
            <a:off x="469899"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p:cNvSpPr>
            <a:spLocks noGrp="1"/>
          </p:cNvSpPr>
          <p:nvPr>
            <p:ph type="body" sz="quarter" idx="21"/>
          </p:nvPr>
        </p:nvSpPr>
        <p:spPr>
          <a:xfrm>
            <a:off x="6177462"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Tree>
    <p:extLst>
      <p:ext uri="{BB962C8B-B14F-4D97-AF65-F5344CB8AC3E}">
        <p14:creationId xmlns:p14="http://schemas.microsoft.com/office/powerpoint/2010/main" val="4239408974"/>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177462"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69899"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177460"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897561385"/>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3" y="1851441"/>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0" y="1851441"/>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5" y="1851441"/>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735867472"/>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912430734"/>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extBox 13"/>
          <p:cNvSpPr txBox="1"/>
          <p:nvPr userDrawn="1"/>
        </p:nvSpPr>
        <p:spPr>
          <a:xfrm>
            <a:off x="501653" y="6477000"/>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
        <p:nvSpPr>
          <p:cNvPr id="11" name="TextBox 10"/>
          <p:cNvSpPr txBox="1"/>
          <p:nvPr userDrawn="1"/>
        </p:nvSpPr>
        <p:spPr>
          <a:xfrm>
            <a:off x="6589224" y="6491067"/>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dirty="0"/>
              <a:t>SAP Re-Platform &amp; Modernization (RPM): Platform Analyzer Details</a:t>
            </a:r>
            <a:endParaRPr lang="en-US" sz="650" noProof="0" dirty="0">
              <a:solidFill>
                <a:schemeClr val="tx1"/>
              </a:solidFill>
            </a:endParaRPr>
          </a:p>
        </p:txBody>
      </p:sp>
    </p:spTree>
    <p:extLst>
      <p:ext uri="{BB962C8B-B14F-4D97-AF65-F5344CB8AC3E}">
        <p14:creationId xmlns:p14="http://schemas.microsoft.com/office/powerpoint/2010/main" val="4044370876"/>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167089491"/>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242278702"/>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23936"/>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Divider Medium Blue">
    <p:bg>
      <p:bgPr>
        <a:solidFill>
          <a:schemeClr val="accent3"/>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86833" y="1782208"/>
            <a:ext cx="10972800" cy="1143000"/>
          </a:xfrm>
        </p:spPr>
        <p:txBody>
          <a:bodyPr lIns="0" tIns="0" rIns="0" bIns="0"/>
          <a:lstStyle>
            <a:lvl1pPr>
              <a:defRPr sz="6000">
                <a:solidFill>
                  <a:schemeClr val="bg1"/>
                </a:solidFill>
              </a:defRPr>
            </a:lvl1pPr>
            <a:lvl2pPr>
              <a:defRPr sz="6000">
                <a:solidFill>
                  <a:schemeClr val="bg2"/>
                </a:solidFill>
              </a:defRPr>
            </a:lvl2pPr>
            <a:lvl3pPr>
              <a:defRPr sz="6000">
                <a:solidFill>
                  <a:schemeClr val="bg2"/>
                </a:solidFill>
              </a:defRPr>
            </a:lvl3pPr>
            <a:lvl4pPr>
              <a:defRPr sz="6000">
                <a:solidFill>
                  <a:schemeClr val="bg2"/>
                </a:solidFill>
              </a:defRPr>
            </a:lvl4pPr>
            <a:lvl5pPr>
              <a:defRPr sz="6000">
                <a:solidFill>
                  <a:schemeClr val="bg2"/>
                </a:solidFill>
              </a:defRPr>
            </a:lvl5pPr>
          </a:lstStyle>
          <a:p>
            <a:pPr lvl="0"/>
            <a:r>
              <a:rPr lang="en-US" dirty="0"/>
              <a:t>Click to edit divider text</a:t>
            </a:r>
          </a:p>
        </p:txBody>
      </p:sp>
    </p:spTree>
    <p:extLst>
      <p:ext uri="{BB962C8B-B14F-4D97-AF65-F5344CB8AC3E}">
        <p14:creationId xmlns:p14="http://schemas.microsoft.com/office/powerpoint/2010/main" val="664288588"/>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Title and Content 2">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0" indent="0">
              <a:buNone/>
              <a:defRPr b="1"/>
            </a:lvl1pPr>
            <a:lvl2pPr marL="266894" indent="-266894">
              <a:buFont typeface="Arial" pitchFamily="34" charset="0"/>
              <a:buChar char="•"/>
              <a:tabLst/>
              <a:defRPr/>
            </a:lvl2pPr>
            <a:lvl3pPr marL="270016" indent="-270016">
              <a:buFont typeface="Arial" pitchFamily="34" charset="0"/>
              <a:buChar char="•"/>
              <a:defRPr i="1"/>
            </a:lvl3pPr>
            <a:lvl4pPr marL="525985" indent="-259090">
              <a:buFont typeface="Arial" pitchFamily="34" charset="0"/>
              <a:buChar char="−"/>
              <a:defRPr i="0"/>
            </a:lvl4pPr>
            <a:lvl5pPr marL="792878" indent="-266894">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itle Placeholder 1"/>
          <p:cNvSpPr>
            <a:spLocks noGrp="1"/>
          </p:cNvSpPr>
          <p:nvPr>
            <p:ph type="title"/>
          </p:nvPr>
        </p:nvSpPr>
        <p:spPr>
          <a:xfrm>
            <a:off x="493484" y="295683"/>
            <a:ext cx="11184000" cy="469492"/>
          </a:xfrm>
          <a:prstGeom prst="rect">
            <a:avLst/>
          </a:prstGeom>
        </p:spPr>
        <p:txBody>
          <a:bodyPr vert="horz" lIns="0" tIns="0" rIns="0" bIns="0" rtlCol="0" anchor="t" anchorCtr="0">
            <a:noAutofit/>
          </a:bodyPr>
          <a:lstStyle/>
          <a:p>
            <a:r>
              <a:rPr lang="en-US"/>
              <a:t>Click to edit Master title style</a:t>
            </a:r>
            <a:endParaRPr lang="en-GB" dirty="0"/>
          </a:p>
        </p:txBody>
      </p:sp>
      <p:sp>
        <p:nvSpPr>
          <p:cNvPr id="17" name="Text Placeholder 8"/>
          <p:cNvSpPr>
            <a:spLocks noGrp="1"/>
          </p:cNvSpPr>
          <p:nvPr>
            <p:ph type="body" sz="quarter" idx="13"/>
          </p:nvPr>
        </p:nvSpPr>
        <p:spPr>
          <a:xfrm>
            <a:off x="493484" y="765175"/>
            <a:ext cx="11184000" cy="969282"/>
          </a:xfrm>
        </p:spPr>
        <p:txBody>
          <a:bodyPr>
            <a:normAutofit/>
          </a:bodyPr>
          <a:lstStyle>
            <a:lvl1pPr marL="0" indent="0">
              <a:buNone/>
              <a:defRPr sz="2912" b="0">
                <a:solidFill>
                  <a:srgbClr val="575757"/>
                </a:solidFill>
              </a:defRPr>
            </a:lvl1pPr>
          </a:lstStyle>
          <a:p>
            <a:pPr lvl="0"/>
            <a:r>
              <a:rPr lang="en-US"/>
              <a:t>Click to edit Master text styles</a:t>
            </a:r>
          </a:p>
        </p:txBody>
      </p:sp>
      <p:sp>
        <p:nvSpPr>
          <p:cNvPr id="19"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794" b="0">
                <a:solidFill>
                  <a:srgbClr val="8C8C8C"/>
                </a:solidFill>
              </a:defRPr>
            </a:lvl1pPr>
          </a:lstStyle>
          <a:p>
            <a:fld id="{95CC1D26-A9BD-4BDE-BDD9-08EDBAE96860}" type="slidenum">
              <a:rPr lang="en-GB" smtClean="0"/>
              <a:pPr/>
              <a:t>‹#›</a:t>
            </a:fld>
            <a:endParaRPr lang="en-GB" dirty="0"/>
          </a:p>
        </p:txBody>
      </p:sp>
      <p:sp>
        <p:nvSpPr>
          <p:cNvPr id="7" name="Footer Placeholder 4"/>
          <p:cNvSpPr>
            <a:spLocks noGrp="1"/>
          </p:cNvSpPr>
          <p:nvPr>
            <p:ph type="ftr" sz="quarter" idx="3"/>
          </p:nvPr>
        </p:nvSpPr>
        <p:spPr>
          <a:xfrm>
            <a:off x="493486" y="6407835"/>
            <a:ext cx="10079297" cy="252000"/>
          </a:xfrm>
          <a:prstGeom prst="rect">
            <a:avLst/>
          </a:prstGeom>
        </p:spPr>
        <p:txBody>
          <a:bodyPr vert="horz" lIns="0" tIns="0" rIns="0" bIns="0" rtlCol="0" anchor="ctr" anchorCtr="0"/>
          <a:lstStyle>
            <a:lvl1pPr algn="l">
              <a:defRPr sz="794" b="0">
                <a:solidFill>
                  <a:srgbClr val="8C8C8C"/>
                </a:solidFill>
              </a:defRPr>
            </a:lvl1pPr>
          </a:lstStyle>
          <a:p>
            <a:r>
              <a:rPr lang="en-GB" dirty="0"/>
              <a:t>Member Firms and DTTL: Insert appropriate copyright (Go Header &amp; Footer to edit this text)</a:t>
            </a:r>
          </a:p>
        </p:txBody>
      </p:sp>
    </p:spTree>
    <p:extLst>
      <p:ext uri="{BB962C8B-B14F-4D97-AF65-F5344CB8AC3E}">
        <p14:creationId xmlns:p14="http://schemas.microsoft.com/office/powerpoint/2010/main" val="2339065010"/>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Divider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86833" y="1782208"/>
            <a:ext cx="10972800" cy="1143000"/>
          </a:xfrm>
        </p:spPr>
        <p:txBody>
          <a:bodyPr/>
          <a:lstStyle>
            <a:lvl1pPr>
              <a:defRPr sz="6000">
                <a:solidFill>
                  <a:schemeClr val="bg1"/>
                </a:solidFill>
              </a:defRPr>
            </a:lvl1pPr>
            <a:lvl2pPr>
              <a:defRPr sz="6000">
                <a:solidFill>
                  <a:schemeClr val="bg2"/>
                </a:solidFill>
              </a:defRPr>
            </a:lvl2pPr>
            <a:lvl3pPr>
              <a:defRPr sz="6000">
                <a:solidFill>
                  <a:schemeClr val="bg2"/>
                </a:solidFill>
              </a:defRPr>
            </a:lvl3pPr>
            <a:lvl4pPr>
              <a:defRPr sz="6000">
                <a:solidFill>
                  <a:schemeClr val="bg2"/>
                </a:solidFill>
              </a:defRPr>
            </a:lvl4pPr>
            <a:lvl5pPr>
              <a:defRPr sz="6000">
                <a:solidFill>
                  <a:schemeClr val="bg2"/>
                </a:solidFill>
              </a:defRPr>
            </a:lvl5pPr>
          </a:lstStyle>
          <a:p>
            <a:pPr lvl="0"/>
            <a:r>
              <a:rPr lang="en-US" dirty="0"/>
              <a:t>Click to edit divider text</a:t>
            </a:r>
          </a:p>
        </p:txBody>
      </p:sp>
    </p:spTree>
    <p:extLst>
      <p:ext uri="{BB962C8B-B14F-4D97-AF65-F5344CB8AC3E}">
        <p14:creationId xmlns:p14="http://schemas.microsoft.com/office/powerpoint/2010/main" val="2587270844"/>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693686262"/>
      </p:ext>
    </p:extLst>
  </p:cSld>
  <p:clrMapOvr>
    <a:overrideClrMapping bg1="lt1" tx1="dk1" bg2="lt2" tx2="dk2" accent1="accent1" accent2="accent2" accent3="accent3" accent4="accent4" accent5="accent5" accent6="accent6" hlink="hlink" folHlink="folHlink"/>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4027502905"/>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grpSp>
    </p:spTree>
    <p:extLst>
      <p:ext uri="{BB962C8B-B14F-4D97-AF65-F5344CB8AC3E}">
        <p14:creationId xmlns:p14="http://schemas.microsoft.com/office/powerpoint/2010/main" val="2678495586"/>
      </p:ext>
    </p:extLst>
  </p:cSld>
  <p:clrMapOvr>
    <a:overrideClrMapping bg1="lt1" tx1="dk1" bg2="lt2" tx2="dk2" accent1="accent1" accent2="accent2" accent3="accent3" accent4="accent4" accent5="accent5" accent6="accent6" hlink="hlink" folHlink="folHlink"/>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grpSp>
    </p:spTree>
    <p:extLst>
      <p:ext uri="{BB962C8B-B14F-4D97-AF65-F5344CB8AC3E}">
        <p14:creationId xmlns:p14="http://schemas.microsoft.com/office/powerpoint/2010/main" val="3914839891"/>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
        <p:nvSpPr>
          <p:cNvPr id="7" name="TextBox 6"/>
          <p:cNvSpPr txBox="1"/>
          <p:nvPr userDrawn="1"/>
        </p:nvSpPr>
        <p:spPr>
          <a:xfrm>
            <a:off x="6589224" y="6491067"/>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dirty="0"/>
              <a:t>SAP Re-Platform &amp; Modernization (RPM): Platform Analyzer Details</a:t>
            </a:r>
            <a:endParaRPr lang="en-US" sz="650" noProof="0" dirty="0">
              <a:solidFill>
                <a:schemeClr val="tx1"/>
              </a:solidFill>
            </a:endParaRPr>
          </a:p>
        </p:txBody>
      </p:sp>
      <p:sp>
        <p:nvSpPr>
          <p:cNvPr id="8" name="TextBox 7"/>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Deloitte Consulting Pty Ltd ©</a:t>
            </a:r>
          </a:p>
        </p:txBody>
      </p:sp>
    </p:spTree>
    <p:extLst>
      <p:ext uri="{BB962C8B-B14F-4D97-AF65-F5344CB8AC3E}">
        <p14:creationId xmlns:p14="http://schemas.microsoft.com/office/powerpoint/2010/main" val="2684969502"/>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
        <p:nvSpPr>
          <p:cNvPr id="7" name="TextBox 6"/>
          <p:cNvSpPr txBox="1"/>
          <p:nvPr userDrawn="1"/>
        </p:nvSpPr>
        <p:spPr>
          <a:xfrm>
            <a:off x="6589224" y="6491067"/>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dirty="0"/>
              <a:t>SAP Re-Platform &amp; Modernization (RPM): Platform Analyzer Details</a:t>
            </a:r>
            <a:endParaRPr lang="en-US" sz="650" noProof="0" dirty="0">
              <a:solidFill>
                <a:schemeClr val="tx1"/>
              </a:solidFill>
            </a:endParaRPr>
          </a:p>
        </p:txBody>
      </p:sp>
      <p:sp>
        <p:nvSpPr>
          <p:cNvPr id="8" name="TextBox 7"/>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Deloitte Consulting Pty Ltd ©</a:t>
            </a:r>
          </a:p>
        </p:txBody>
      </p:sp>
    </p:spTree>
    <p:extLst>
      <p:ext uri="{BB962C8B-B14F-4D97-AF65-F5344CB8AC3E}">
        <p14:creationId xmlns:p14="http://schemas.microsoft.com/office/powerpoint/2010/main" val="1019652502"/>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
        <p:nvSpPr>
          <p:cNvPr id="10" name="TextBox 9"/>
          <p:cNvSpPr txBox="1"/>
          <p:nvPr userDrawn="1"/>
        </p:nvSpPr>
        <p:spPr>
          <a:xfrm>
            <a:off x="6589224" y="6491067"/>
            <a:ext cx="4896560" cy="123111"/>
          </a:xfrm>
          <a:prstGeom prst="rect">
            <a:avLst/>
          </a:prstGeom>
          <a:noFill/>
        </p:spPr>
        <p:txBody>
          <a:bodyPr wrap="square" lIns="0" tIns="0" rIns="0" bIns="0" rtlCol="0">
            <a:spAutoFit/>
          </a:bodyPr>
          <a:lstStyle/>
          <a:p>
            <a:pPr algn="r">
              <a:buSzPct val="100000"/>
              <a:buFont typeface="Arial"/>
              <a:buNone/>
            </a:pPr>
            <a:r>
              <a:rPr lang="en-US" sz="800" dirty="0">
                <a:solidFill>
                  <a:prstClr val="white"/>
                </a:solidFill>
              </a:rPr>
              <a:t>SAP Re-Platform &amp; Modernization (RPM): Capabilities, Approach and Tools</a:t>
            </a:r>
            <a:endParaRPr lang="en-US" sz="650" dirty="0">
              <a:solidFill>
                <a:prstClr val="white"/>
              </a:solidFill>
            </a:endParaRPr>
          </a:p>
        </p:txBody>
      </p:sp>
      <p:sp>
        <p:nvSpPr>
          <p:cNvPr id="11" name="TextBox 10"/>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Deloitte Consulting Pty Ltd ©</a:t>
            </a:r>
          </a:p>
        </p:txBody>
      </p:sp>
    </p:spTree>
    <p:extLst>
      <p:ext uri="{BB962C8B-B14F-4D97-AF65-F5344CB8AC3E}">
        <p14:creationId xmlns:p14="http://schemas.microsoft.com/office/powerpoint/2010/main" val="3440701590"/>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
        <p:nvSpPr>
          <p:cNvPr id="7" name="TextBox 6"/>
          <p:cNvSpPr txBox="1"/>
          <p:nvPr userDrawn="1"/>
        </p:nvSpPr>
        <p:spPr>
          <a:xfrm>
            <a:off x="6589224" y="6491067"/>
            <a:ext cx="4896560" cy="123111"/>
          </a:xfrm>
          <a:prstGeom prst="rect">
            <a:avLst/>
          </a:prstGeom>
          <a:noFill/>
        </p:spPr>
        <p:txBody>
          <a:bodyPr wrap="square" lIns="0" tIns="0" rIns="0" bIns="0" rtlCol="0">
            <a:spAutoFit/>
          </a:bodyPr>
          <a:lstStyle/>
          <a:p>
            <a:pPr algn="r">
              <a:buSzPct val="100000"/>
              <a:buFont typeface="Arial"/>
              <a:buNone/>
            </a:pPr>
            <a:r>
              <a:rPr lang="en-US" sz="800" dirty="0">
                <a:solidFill>
                  <a:prstClr val="white"/>
                </a:solidFill>
              </a:rPr>
              <a:t>SAP Re-Platform &amp; Modernization (RPM): Capabilities, Approach and Tools</a:t>
            </a:r>
            <a:endParaRPr lang="en-US" sz="650" dirty="0">
              <a:solidFill>
                <a:prstClr val="white"/>
              </a:solidFill>
            </a:endParaRPr>
          </a:p>
        </p:txBody>
      </p:sp>
      <p:sp>
        <p:nvSpPr>
          <p:cNvPr id="8" name="TextBox 7"/>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Deloitte Consulting Pty Ltd ©</a:t>
            </a:r>
          </a:p>
        </p:txBody>
      </p:sp>
    </p:spTree>
    <p:extLst>
      <p:ext uri="{BB962C8B-B14F-4D97-AF65-F5344CB8AC3E}">
        <p14:creationId xmlns:p14="http://schemas.microsoft.com/office/powerpoint/2010/main" val="3439832060"/>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1" name="TextBox 20"/>
          <p:cNvSpPr txBox="1"/>
          <p:nvPr userDrawn="1"/>
        </p:nvSpPr>
        <p:spPr>
          <a:xfrm>
            <a:off x="469900" y="6471653"/>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Deloitte Consulting Pty Ltd ©</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
        <p:nvSpPr>
          <p:cNvPr id="7" name="TextBox 6"/>
          <p:cNvSpPr txBox="1"/>
          <p:nvPr userDrawn="1"/>
        </p:nvSpPr>
        <p:spPr>
          <a:xfrm>
            <a:off x="6589224" y="6491067"/>
            <a:ext cx="4896560" cy="123111"/>
          </a:xfrm>
          <a:prstGeom prst="rect">
            <a:avLst/>
          </a:prstGeom>
          <a:noFill/>
        </p:spPr>
        <p:txBody>
          <a:bodyPr wrap="square" lIns="0" tIns="0" rIns="0" bIns="0" rtlCol="0">
            <a:spAutoFit/>
          </a:bodyPr>
          <a:lstStyle/>
          <a:p>
            <a:pPr algn="r">
              <a:buSzPct val="100000"/>
              <a:buFont typeface="Arial"/>
              <a:buNone/>
            </a:pPr>
            <a:r>
              <a:rPr lang="en-US" sz="800" dirty="0">
                <a:solidFill>
                  <a:prstClr val="white"/>
                </a:solidFill>
              </a:rPr>
              <a:t>Deloitte’s SAP Modernization Group: Platform Analyzer Details</a:t>
            </a:r>
          </a:p>
        </p:txBody>
      </p:sp>
    </p:spTree>
    <p:extLst>
      <p:ext uri="{BB962C8B-B14F-4D97-AF65-F5344CB8AC3E}">
        <p14:creationId xmlns:p14="http://schemas.microsoft.com/office/powerpoint/2010/main" val="2148586111"/>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130230046"/>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
        <p:nvSpPr>
          <p:cNvPr id="6" name="TextBox 5"/>
          <p:cNvSpPr txBox="1"/>
          <p:nvPr userDrawn="1"/>
        </p:nvSpPr>
        <p:spPr>
          <a:xfrm>
            <a:off x="6589224" y="6491067"/>
            <a:ext cx="4896560" cy="123111"/>
          </a:xfrm>
          <a:prstGeom prst="rect">
            <a:avLst/>
          </a:prstGeom>
          <a:noFill/>
        </p:spPr>
        <p:txBody>
          <a:bodyPr wrap="square" lIns="0" tIns="0" rIns="0" bIns="0" rtlCol="0">
            <a:spAutoFit/>
          </a:bodyPr>
          <a:lstStyle/>
          <a:p>
            <a:pPr algn="r">
              <a:buSzPct val="100000"/>
              <a:buFont typeface="Arial"/>
              <a:buNone/>
            </a:pPr>
            <a:r>
              <a:rPr lang="en-US" sz="800" dirty="0">
                <a:solidFill>
                  <a:prstClr val="white"/>
                </a:solidFill>
              </a:rPr>
              <a:t>SAP Re-Platform &amp; Modernization (RPM): Capabilities, Approach and Tools</a:t>
            </a:r>
            <a:endParaRPr lang="en-US" sz="650" dirty="0">
              <a:solidFill>
                <a:prstClr val="white"/>
              </a:solidFill>
            </a:endParaRPr>
          </a:p>
        </p:txBody>
      </p:sp>
      <p:sp>
        <p:nvSpPr>
          <p:cNvPr id="7" name="TextBox 6"/>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Deloitte Consulting Pty Ltd ©</a:t>
            </a:r>
          </a:p>
        </p:txBody>
      </p:sp>
    </p:spTree>
    <p:extLst>
      <p:ext uri="{BB962C8B-B14F-4D97-AF65-F5344CB8AC3E}">
        <p14:creationId xmlns:p14="http://schemas.microsoft.com/office/powerpoint/2010/main" val="1864178825"/>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
        <p:nvSpPr>
          <p:cNvPr id="6" name="TextBox 5"/>
          <p:cNvSpPr txBox="1"/>
          <p:nvPr userDrawn="1"/>
        </p:nvSpPr>
        <p:spPr>
          <a:xfrm>
            <a:off x="6589224" y="6491067"/>
            <a:ext cx="4896560" cy="123111"/>
          </a:xfrm>
          <a:prstGeom prst="rect">
            <a:avLst/>
          </a:prstGeom>
          <a:noFill/>
        </p:spPr>
        <p:txBody>
          <a:bodyPr wrap="square" lIns="0" tIns="0" rIns="0" bIns="0" rtlCol="0">
            <a:spAutoFit/>
          </a:bodyPr>
          <a:lstStyle/>
          <a:p>
            <a:pPr algn="r">
              <a:buSzPct val="100000"/>
              <a:buFont typeface="Arial"/>
              <a:buNone/>
            </a:pPr>
            <a:r>
              <a:rPr lang="en-US" sz="800" dirty="0">
                <a:solidFill>
                  <a:prstClr val="white"/>
                </a:solidFill>
              </a:rPr>
              <a:t>SAP Re-Platform &amp; Modernization (RPM): Capabilities, Approach and Tools</a:t>
            </a:r>
            <a:endParaRPr lang="en-US" sz="650" dirty="0">
              <a:solidFill>
                <a:prstClr val="white"/>
              </a:solidFill>
            </a:endParaRPr>
          </a:p>
        </p:txBody>
      </p:sp>
      <p:sp>
        <p:nvSpPr>
          <p:cNvPr id="7" name="TextBox 6"/>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Deloitte Consulting Pty Ltd ©</a:t>
            </a:r>
          </a:p>
        </p:txBody>
      </p:sp>
    </p:spTree>
    <p:extLst>
      <p:ext uri="{BB962C8B-B14F-4D97-AF65-F5344CB8AC3E}">
        <p14:creationId xmlns:p14="http://schemas.microsoft.com/office/powerpoint/2010/main" val="1351909121"/>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
        <p:nvSpPr>
          <p:cNvPr id="6" name="TextBox 5"/>
          <p:cNvSpPr txBox="1"/>
          <p:nvPr userDrawn="1"/>
        </p:nvSpPr>
        <p:spPr>
          <a:xfrm>
            <a:off x="6589224" y="6491067"/>
            <a:ext cx="4896560" cy="123111"/>
          </a:xfrm>
          <a:prstGeom prst="rect">
            <a:avLst/>
          </a:prstGeom>
          <a:noFill/>
        </p:spPr>
        <p:txBody>
          <a:bodyPr wrap="square" lIns="0" tIns="0" rIns="0" bIns="0" rtlCol="0">
            <a:spAutoFit/>
          </a:bodyPr>
          <a:lstStyle/>
          <a:p>
            <a:pPr algn="r">
              <a:buSzPct val="100000"/>
              <a:buFont typeface="Arial"/>
              <a:buNone/>
            </a:pPr>
            <a:r>
              <a:rPr lang="en-US" sz="800" dirty="0">
                <a:solidFill>
                  <a:prstClr val="white"/>
                </a:solidFill>
              </a:rPr>
              <a:t>SAP Re-Platform &amp; Modernization (RPM): Capabilities, Approach and Tools</a:t>
            </a:r>
            <a:endParaRPr lang="en-US" sz="650" dirty="0">
              <a:solidFill>
                <a:prstClr val="white"/>
              </a:solidFill>
            </a:endParaRPr>
          </a:p>
        </p:txBody>
      </p:sp>
      <p:sp>
        <p:nvSpPr>
          <p:cNvPr id="7" name="TextBox 6"/>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Deloitte Consulting Pty Ltd ©</a:t>
            </a:r>
          </a:p>
        </p:txBody>
      </p:sp>
    </p:spTree>
    <p:extLst>
      <p:ext uri="{BB962C8B-B14F-4D97-AF65-F5344CB8AC3E}">
        <p14:creationId xmlns:p14="http://schemas.microsoft.com/office/powerpoint/2010/main" val="2957138815"/>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
        <p:nvSpPr>
          <p:cNvPr id="6" name="TextBox 5"/>
          <p:cNvSpPr txBox="1"/>
          <p:nvPr userDrawn="1"/>
        </p:nvSpPr>
        <p:spPr>
          <a:xfrm>
            <a:off x="6589224" y="6491067"/>
            <a:ext cx="4896560" cy="123111"/>
          </a:xfrm>
          <a:prstGeom prst="rect">
            <a:avLst/>
          </a:prstGeom>
          <a:noFill/>
        </p:spPr>
        <p:txBody>
          <a:bodyPr wrap="square" lIns="0" tIns="0" rIns="0" bIns="0" rtlCol="0">
            <a:spAutoFit/>
          </a:bodyPr>
          <a:lstStyle/>
          <a:p>
            <a:pPr algn="r">
              <a:buSzPct val="100000"/>
              <a:buFont typeface="Arial"/>
              <a:buNone/>
            </a:pPr>
            <a:r>
              <a:rPr lang="en-US" sz="800" dirty="0">
                <a:solidFill>
                  <a:prstClr val="white"/>
                </a:solidFill>
              </a:rPr>
              <a:t>SAP Re-Platform &amp; Modernization (RPM): Capabilities, Approach and Tools</a:t>
            </a:r>
            <a:endParaRPr lang="en-US" sz="650" dirty="0">
              <a:solidFill>
                <a:prstClr val="white"/>
              </a:solidFill>
            </a:endParaRPr>
          </a:p>
        </p:txBody>
      </p:sp>
      <p:sp>
        <p:nvSpPr>
          <p:cNvPr id="7" name="TextBox 6"/>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Deloitte Consulting Pty Ltd ©</a:t>
            </a:r>
          </a:p>
        </p:txBody>
      </p:sp>
    </p:spTree>
    <p:extLst>
      <p:ext uri="{BB962C8B-B14F-4D97-AF65-F5344CB8AC3E}">
        <p14:creationId xmlns:p14="http://schemas.microsoft.com/office/powerpoint/2010/main" val="602658528"/>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dirty="0"/>
              <a:t>Click to edit Master text styles</a:t>
            </a:r>
          </a:p>
        </p:txBody>
      </p:sp>
      <p:sp>
        <p:nvSpPr>
          <p:cNvPr id="3" name="TextBox 2"/>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black"/>
                </a:solidFill>
              </a:rPr>
              <a:t>Deloitte Consulting Pty Ltd ©</a:t>
            </a:r>
          </a:p>
        </p:txBody>
      </p:sp>
    </p:spTree>
    <p:extLst>
      <p:ext uri="{BB962C8B-B14F-4D97-AF65-F5344CB8AC3E}">
        <p14:creationId xmlns:p14="http://schemas.microsoft.com/office/powerpoint/2010/main" val="150893008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893423831"/>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a:t>Click icon to add picture</a:t>
            </a:r>
            <a:endParaRPr lang="en-US" noProof="0" dirty="0"/>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853300340"/>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048614333"/>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904061678"/>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747408240"/>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US" noProof="0"/>
              <a:t>Click to 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203784075"/>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Click to edit Master text styles</a:t>
            </a:r>
          </a:p>
        </p:txBody>
      </p:sp>
      <p:sp>
        <p:nvSpPr>
          <p:cNvPr id="11"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US" noProof="0"/>
              <a:t>Click to 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968981658"/>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440616374"/>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111910072"/>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Click to edit Master text styles</a:t>
            </a:r>
          </a:p>
        </p:txBody>
      </p:sp>
      <p:sp>
        <p:nvSpPr>
          <p:cNvPr id="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US" noProof="0"/>
              <a:t>Click to 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393028882"/>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Click to 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a:t>Click icon to add chart</a:t>
            </a:r>
            <a:endParaRPr lang="en-US" noProof="0" dirty="0"/>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Click to edit Master text styles</a:t>
            </a:r>
          </a:p>
        </p:txBody>
      </p:sp>
      <p:sp>
        <p:nvSpPr>
          <p:cNvPr id="14"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US" noProof="0"/>
              <a:t>Click to 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106702079"/>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72123211"/>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348843440"/>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482363" y="3076573"/>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207211" y="3079742"/>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44787" y="3076573"/>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9069636" y="3079742"/>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892994861"/>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dirty="0">
              <a:solidFill>
                <a:prstClr val="white"/>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dirty="0">
              <a:solidFill>
                <a:prstClr val="white"/>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dirty="0">
              <a:solidFill>
                <a:prstClr val="white"/>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dirty="0">
              <a:solidFill>
                <a:prstClr val="white"/>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a:t>Click icon to add picture</a:t>
            </a:r>
            <a:endParaRPr lang="en-US" noProof="0" dirty="0"/>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a:t>Click icon to add picture</a:t>
            </a:r>
            <a:endParaRPr lang="en-US" noProof="0" dirty="0"/>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a:t>Click icon to add picture</a:t>
            </a:r>
            <a:endParaRPr lang="en-US" noProof="0" dirty="0"/>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a:t>Click icon to add picture</a:t>
            </a:r>
            <a:endParaRPr lang="en-US" noProof="0" dirty="0"/>
          </a:p>
        </p:txBody>
      </p:sp>
      <p:sp>
        <p:nvSpPr>
          <p:cNvPr id="13" name="Text Placeholder 12"/>
          <p:cNvSpPr>
            <a:spLocks noGrp="1"/>
          </p:cNvSpPr>
          <p:nvPr>
            <p:ph type="body" sz="quarter" idx="32"/>
          </p:nvPr>
        </p:nvSpPr>
        <p:spPr>
          <a:xfrm>
            <a:off x="2840780" y="1880213"/>
            <a:ext cx="31728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368365472"/>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69900" y="1700213"/>
            <a:ext cx="3627438" cy="2052830"/>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82784" y="1700213"/>
            <a:ext cx="3639316" cy="2059099"/>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84188" y="1700212"/>
            <a:ext cx="3636962" cy="2057767"/>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469900" y="3832225"/>
            <a:ext cx="3627438" cy="21814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319679893"/>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750871645"/>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14" name="Text Placeholder 8"/>
          <p:cNvSpPr>
            <a:spLocks noGrp="1"/>
          </p:cNvSpPr>
          <p:nvPr>
            <p:ph type="body" sz="quarter" idx="17"/>
          </p:nvPr>
        </p:nvSpPr>
        <p:spPr>
          <a:xfrm>
            <a:off x="469899"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p:cNvSpPr>
            <a:spLocks noGrp="1"/>
          </p:cNvSpPr>
          <p:nvPr>
            <p:ph type="body" sz="quarter" idx="21"/>
          </p:nvPr>
        </p:nvSpPr>
        <p:spPr>
          <a:xfrm>
            <a:off x="6177462"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dirty="0">
              <a:solidFill>
                <a:prstClr val="white"/>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dirty="0">
              <a:solidFill>
                <a:prstClr val="white"/>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Tree>
    <p:extLst>
      <p:ext uri="{BB962C8B-B14F-4D97-AF65-F5344CB8AC3E}">
        <p14:creationId xmlns:p14="http://schemas.microsoft.com/office/powerpoint/2010/main" val="1246657691"/>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177462"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dirty="0">
              <a:solidFill>
                <a:prstClr val="white"/>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dirty="0">
              <a:solidFill>
                <a:prstClr val="white"/>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69899"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177460"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dirty="0">
              <a:solidFill>
                <a:prstClr val="white"/>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dirty="0">
              <a:solidFill>
                <a:prstClr val="white"/>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762814960"/>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dirty="0">
              <a:solidFill>
                <a:prstClr val="white"/>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dirty="0">
              <a:solidFill>
                <a:prstClr val="white"/>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dirty="0">
              <a:solidFill>
                <a:prstClr val="white"/>
              </a:solidFill>
            </a:endParaRPr>
          </a:p>
        </p:txBody>
      </p:sp>
      <p:sp>
        <p:nvSpPr>
          <p:cNvPr id="7" name="Text Placeholder 8"/>
          <p:cNvSpPr>
            <a:spLocks noGrp="1"/>
          </p:cNvSpPr>
          <p:nvPr>
            <p:ph type="body" sz="quarter" idx="17"/>
          </p:nvPr>
        </p:nvSpPr>
        <p:spPr>
          <a:xfrm>
            <a:off x="4278313" y="1851441"/>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0" y="1851441"/>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5" y="1851441"/>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598059146"/>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702455401"/>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extBox 13"/>
          <p:cNvSpPr txBox="1"/>
          <p:nvPr userDrawn="1"/>
        </p:nvSpPr>
        <p:spPr>
          <a:xfrm>
            <a:off x="501653" y="6477000"/>
            <a:ext cx="5355167" cy="200055"/>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Member firms and DTTL: Insert appropriate copyright</a:t>
            </a:r>
            <a:br>
              <a:rPr lang="en-US" sz="650" dirty="0">
                <a:solidFill>
                  <a:prstClr val="white"/>
                </a:solidFill>
              </a:rPr>
            </a:br>
            <a:r>
              <a:rPr lang="en-US" sz="650" dirty="0">
                <a:solidFill>
                  <a:prstClr val="white"/>
                </a:solidFill>
              </a:rPr>
              <a:t>[To edit, click View &gt; Slide Master &gt; Slide Master]</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
        <p:nvSpPr>
          <p:cNvPr id="11" name="TextBox 10"/>
          <p:cNvSpPr txBox="1"/>
          <p:nvPr userDrawn="1"/>
        </p:nvSpPr>
        <p:spPr>
          <a:xfrm>
            <a:off x="6589224" y="6491067"/>
            <a:ext cx="4896560" cy="123111"/>
          </a:xfrm>
          <a:prstGeom prst="rect">
            <a:avLst/>
          </a:prstGeom>
          <a:noFill/>
        </p:spPr>
        <p:txBody>
          <a:bodyPr wrap="square" lIns="0" tIns="0" rIns="0" bIns="0" rtlCol="0">
            <a:spAutoFit/>
          </a:bodyPr>
          <a:lstStyle/>
          <a:p>
            <a:pPr algn="r">
              <a:buSzPct val="100000"/>
              <a:buFont typeface="Arial"/>
              <a:buNone/>
            </a:pPr>
            <a:r>
              <a:rPr lang="en-US" sz="800" dirty="0">
                <a:solidFill>
                  <a:prstClr val="white"/>
                </a:solidFill>
              </a:rPr>
              <a:t>SAP Re-Platform &amp; Modernization (RPM): Capabilities, Approach and Tools</a:t>
            </a:r>
            <a:endParaRPr lang="en-US" sz="650" dirty="0">
              <a:solidFill>
                <a:prstClr val="white"/>
              </a:solidFill>
            </a:endParaRPr>
          </a:p>
        </p:txBody>
      </p:sp>
    </p:spTree>
    <p:extLst>
      <p:ext uri="{BB962C8B-B14F-4D97-AF65-F5344CB8AC3E}">
        <p14:creationId xmlns:p14="http://schemas.microsoft.com/office/powerpoint/2010/main" val="764736264"/>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095361294"/>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523053865"/>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5955784"/>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userDrawn="1">
  <p:cSld name="Divider Medium Blue">
    <p:bg>
      <p:bgPr>
        <a:solidFill>
          <a:schemeClr val="accent3"/>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86833" y="1782208"/>
            <a:ext cx="10972800" cy="1143000"/>
          </a:xfrm>
        </p:spPr>
        <p:txBody>
          <a:bodyPr lIns="0" tIns="0" rIns="0" bIns="0"/>
          <a:lstStyle>
            <a:lvl1pPr>
              <a:defRPr sz="6000">
                <a:solidFill>
                  <a:schemeClr val="bg1"/>
                </a:solidFill>
              </a:defRPr>
            </a:lvl1pPr>
            <a:lvl2pPr>
              <a:defRPr sz="6000">
                <a:solidFill>
                  <a:schemeClr val="bg2"/>
                </a:solidFill>
              </a:defRPr>
            </a:lvl2pPr>
            <a:lvl3pPr>
              <a:defRPr sz="6000">
                <a:solidFill>
                  <a:schemeClr val="bg2"/>
                </a:solidFill>
              </a:defRPr>
            </a:lvl3pPr>
            <a:lvl4pPr>
              <a:defRPr sz="6000">
                <a:solidFill>
                  <a:schemeClr val="bg2"/>
                </a:solidFill>
              </a:defRPr>
            </a:lvl4pPr>
            <a:lvl5pPr>
              <a:defRPr sz="6000">
                <a:solidFill>
                  <a:schemeClr val="bg2"/>
                </a:solidFill>
              </a:defRPr>
            </a:lvl5pPr>
          </a:lstStyle>
          <a:p>
            <a:pPr lvl="0"/>
            <a:r>
              <a:rPr lang="en-US" dirty="0"/>
              <a:t>Click to edit divider text</a:t>
            </a:r>
          </a:p>
        </p:txBody>
      </p:sp>
    </p:spTree>
    <p:extLst>
      <p:ext uri="{BB962C8B-B14F-4D97-AF65-F5344CB8AC3E}">
        <p14:creationId xmlns:p14="http://schemas.microsoft.com/office/powerpoint/2010/main" val="658046035"/>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Title and Content 2">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0" indent="0">
              <a:buNone/>
              <a:defRPr b="1"/>
            </a:lvl1pPr>
            <a:lvl2pPr marL="266894" indent="-266894">
              <a:buFont typeface="Arial" pitchFamily="34" charset="0"/>
              <a:buChar char="•"/>
              <a:tabLst/>
              <a:defRPr/>
            </a:lvl2pPr>
            <a:lvl3pPr marL="270016" indent="-270016">
              <a:buFont typeface="Arial" pitchFamily="34" charset="0"/>
              <a:buChar char="•"/>
              <a:defRPr i="1"/>
            </a:lvl3pPr>
            <a:lvl4pPr marL="525985" indent="-259090">
              <a:buFont typeface="Arial" pitchFamily="34" charset="0"/>
              <a:buChar char="−"/>
              <a:defRPr i="0"/>
            </a:lvl4pPr>
            <a:lvl5pPr marL="792878" indent="-266894">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itle Placeholder 1"/>
          <p:cNvSpPr>
            <a:spLocks noGrp="1"/>
          </p:cNvSpPr>
          <p:nvPr>
            <p:ph type="title"/>
          </p:nvPr>
        </p:nvSpPr>
        <p:spPr>
          <a:xfrm>
            <a:off x="493484" y="295683"/>
            <a:ext cx="11184000" cy="469492"/>
          </a:xfrm>
          <a:prstGeom prst="rect">
            <a:avLst/>
          </a:prstGeom>
        </p:spPr>
        <p:txBody>
          <a:bodyPr vert="horz" lIns="0" tIns="0" rIns="0" bIns="0" rtlCol="0" anchor="t" anchorCtr="0">
            <a:noAutofit/>
          </a:bodyPr>
          <a:lstStyle/>
          <a:p>
            <a:r>
              <a:rPr lang="en-US"/>
              <a:t>Click to edit Master title style</a:t>
            </a:r>
            <a:endParaRPr lang="en-GB" dirty="0"/>
          </a:p>
        </p:txBody>
      </p:sp>
      <p:sp>
        <p:nvSpPr>
          <p:cNvPr id="17" name="Text Placeholder 8"/>
          <p:cNvSpPr>
            <a:spLocks noGrp="1"/>
          </p:cNvSpPr>
          <p:nvPr>
            <p:ph type="body" sz="quarter" idx="13"/>
          </p:nvPr>
        </p:nvSpPr>
        <p:spPr>
          <a:xfrm>
            <a:off x="493484" y="765175"/>
            <a:ext cx="11184000" cy="969282"/>
          </a:xfrm>
        </p:spPr>
        <p:txBody>
          <a:bodyPr>
            <a:normAutofit/>
          </a:bodyPr>
          <a:lstStyle>
            <a:lvl1pPr marL="0" indent="0">
              <a:buNone/>
              <a:defRPr sz="2912" b="0">
                <a:solidFill>
                  <a:srgbClr val="575757"/>
                </a:solidFill>
              </a:defRPr>
            </a:lvl1pPr>
          </a:lstStyle>
          <a:p>
            <a:pPr lvl="0"/>
            <a:r>
              <a:rPr lang="en-US"/>
              <a:t>Click to edit Master text styles</a:t>
            </a:r>
          </a:p>
        </p:txBody>
      </p:sp>
      <p:sp>
        <p:nvSpPr>
          <p:cNvPr id="19"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794" b="0">
                <a:solidFill>
                  <a:srgbClr val="8C8C8C"/>
                </a:solidFill>
              </a:defRPr>
            </a:lvl1pPr>
          </a:lstStyle>
          <a:p>
            <a:fld id="{95CC1D26-A9BD-4BDE-BDD9-08EDBAE96860}" type="slidenum">
              <a:rPr lang="en-GB" smtClean="0"/>
              <a:pPr/>
              <a:t>‹#›</a:t>
            </a:fld>
            <a:endParaRPr lang="en-GB" dirty="0"/>
          </a:p>
        </p:txBody>
      </p:sp>
      <p:sp>
        <p:nvSpPr>
          <p:cNvPr id="7" name="Footer Placeholder 4"/>
          <p:cNvSpPr>
            <a:spLocks noGrp="1"/>
          </p:cNvSpPr>
          <p:nvPr>
            <p:ph type="ftr" sz="quarter" idx="3"/>
          </p:nvPr>
        </p:nvSpPr>
        <p:spPr>
          <a:xfrm>
            <a:off x="493486" y="6407835"/>
            <a:ext cx="10079297" cy="252000"/>
          </a:xfrm>
          <a:prstGeom prst="rect">
            <a:avLst/>
          </a:prstGeom>
        </p:spPr>
        <p:txBody>
          <a:bodyPr vert="horz" lIns="0" tIns="0" rIns="0" bIns="0" rtlCol="0" anchor="ctr" anchorCtr="0"/>
          <a:lstStyle>
            <a:lvl1pPr algn="l">
              <a:defRPr sz="794" b="0">
                <a:solidFill>
                  <a:srgbClr val="8C8C8C"/>
                </a:solidFill>
              </a:defRPr>
            </a:lvl1pPr>
          </a:lstStyle>
          <a:p>
            <a:r>
              <a:rPr lang="en-GB" dirty="0"/>
              <a:t>Member Firms and DTTL: Insert appropriate copyright (Go Header &amp; Footer to edit this text)</a:t>
            </a:r>
          </a:p>
        </p:txBody>
      </p:sp>
    </p:spTree>
    <p:extLst>
      <p:ext uri="{BB962C8B-B14F-4D97-AF65-F5344CB8AC3E}">
        <p14:creationId xmlns:p14="http://schemas.microsoft.com/office/powerpoint/2010/main" val="2176029718"/>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9137" y="347382"/>
            <a:ext cx="11231144" cy="475087"/>
          </a:xfrm>
          <a:prstGeom prst="rect">
            <a:avLst/>
          </a:prstGeom>
        </p:spPr>
        <p:txBody>
          <a:bodyPr lIns="0" tIns="0" rIns="0" bIns="0"/>
          <a:lstStyle>
            <a:lvl1pPr>
              <a:defRPr sz="1765">
                <a:solidFill>
                  <a:schemeClr val="accent1"/>
                </a:solidFill>
              </a:defRPr>
            </a:lvl1pPr>
          </a:lstStyle>
          <a:p>
            <a:r>
              <a:rPr lang="en-US" dirty="0"/>
              <a:t>Click to edit Master title style</a:t>
            </a:r>
          </a:p>
        </p:txBody>
      </p:sp>
      <p:sp>
        <p:nvSpPr>
          <p:cNvPr id="7" name="Content Placeholder 6"/>
          <p:cNvSpPr>
            <a:spLocks noGrp="1"/>
          </p:cNvSpPr>
          <p:nvPr>
            <p:ph sz="quarter" idx="10"/>
          </p:nvPr>
        </p:nvSpPr>
        <p:spPr>
          <a:xfrm>
            <a:off x="479139" y="951100"/>
            <a:ext cx="11226535" cy="5458666"/>
          </a:xfrm>
          <a:prstGeom prst="rect">
            <a:avLst/>
          </a:prstGeom>
        </p:spPr>
        <p:txBody>
          <a:bodyPr vert="horz" lIns="0" tIns="0" rIns="0" bIns="0"/>
          <a:lstStyle>
            <a:lvl1pPr marL="0" indent="0">
              <a:lnSpc>
                <a:spcPct val="100000"/>
              </a:lnSpc>
              <a:spcBef>
                <a:spcPts val="1059"/>
              </a:spcBef>
              <a:buClr>
                <a:schemeClr val="accent1"/>
              </a:buClr>
              <a:buSzPct val="100000"/>
              <a:buFont typeface="Lucida Grande"/>
              <a:buNone/>
              <a:defRPr sz="1235"/>
            </a:lvl1pPr>
            <a:lvl2pPr marL="166984" indent="-165424">
              <a:lnSpc>
                <a:spcPct val="100000"/>
              </a:lnSpc>
              <a:spcBef>
                <a:spcPts val="529"/>
              </a:spcBef>
              <a:buFont typeface="Arial"/>
              <a:buChar char="•"/>
              <a:defRPr sz="1235"/>
            </a:lvl2pPr>
            <a:lvl3pPr>
              <a:lnSpc>
                <a:spcPct val="100000"/>
              </a:lnSpc>
              <a:spcBef>
                <a:spcPts val="529"/>
              </a:spcBef>
              <a:defRPr sz="1059"/>
            </a:lvl3pPr>
            <a:lvl4pPr>
              <a:defRPr sz="1059"/>
            </a:lvl4pPr>
            <a:lvl5pPr marL="760551" indent="-232507">
              <a:defRPr sz="97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005611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userDrawn="1">
  <p:cSld name="Divider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86833" y="1782208"/>
            <a:ext cx="10972800" cy="1143000"/>
          </a:xfrm>
        </p:spPr>
        <p:txBody>
          <a:bodyPr/>
          <a:lstStyle>
            <a:lvl1pPr>
              <a:defRPr sz="6000">
                <a:solidFill>
                  <a:schemeClr val="bg1"/>
                </a:solidFill>
              </a:defRPr>
            </a:lvl1pPr>
            <a:lvl2pPr>
              <a:defRPr sz="6000">
                <a:solidFill>
                  <a:schemeClr val="bg2"/>
                </a:solidFill>
              </a:defRPr>
            </a:lvl2pPr>
            <a:lvl3pPr>
              <a:defRPr sz="6000">
                <a:solidFill>
                  <a:schemeClr val="bg2"/>
                </a:solidFill>
              </a:defRPr>
            </a:lvl3pPr>
            <a:lvl4pPr>
              <a:defRPr sz="6000">
                <a:solidFill>
                  <a:schemeClr val="bg2"/>
                </a:solidFill>
              </a:defRPr>
            </a:lvl4pPr>
            <a:lvl5pPr>
              <a:defRPr sz="6000">
                <a:solidFill>
                  <a:schemeClr val="bg2"/>
                </a:solidFill>
              </a:defRPr>
            </a:lvl5pPr>
          </a:lstStyle>
          <a:p>
            <a:pPr lvl="0"/>
            <a:r>
              <a:rPr lang="en-US" dirty="0"/>
              <a:t>Click to edit divider text</a:t>
            </a:r>
          </a:p>
        </p:txBody>
      </p:sp>
    </p:spTree>
    <p:extLst>
      <p:ext uri="{BB962C8B-B14F-4D97-AF65-F5344CB8AC3E}">
        <p14:creationId xmlns:p14="http://schemas.microsoft.com/office/powerpoint/2010/main" val="2664348290"/>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487680" y="1611313"/>
            <a:ext cx="11216640" cy="47342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80037204"/>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493823" y="6356351"/>
            <a:ext cx="3860800" cy="365125"/>
          </a:xfrm>
          <a:prstGeom prst="rect">
            <a:avLst/>
          </a:prstGeom>
        </p:spPr>
        <p:txBody>
          <a:bodyPr/>
          <a:lstStyle/>
          <a:p>
            <a:r>
              <a:rPr lang="en-US" dirty="0">
                <a:solidFill>
                  <a:srgbClr val="000000">
                    <a:tint val="75000"/>
                  </a:srgbClr>
                </a:solidFill>
              </a:rPr>
              <a:t>IT Update | May 2014 | </a:t>
            </a:r>
            <a:r>
              <a:rPr lang="en-US" dirty="0" err="1">
                <a:solidFill>
                  <a:srgbClr val="000000">
                    <a:tint val="75000"/>
                  </a:srgbClr>
                </a:solidFill>
              </a:rPr>
              <a:t>Condidential</a:t>
            </a:r>
            <a:endParaRPr lang="en-US" dirty="0">
              <a:solidFill>
                <a:srgbClr val="000000">
                  <a:tint val="75000"/>
                </a:srgbClr>
              </a:solidFill>
            </a:endParaRPr>
          </a:p>
        </p:txBody>
      </p:sp>
      <p:sp>
        <p:nvSpPr>
          <p:cNvPr id="7" name="Content Placeholder 6"/>
          <p:cNvSpPr>
            <a:spLocks noGrp="1"/>
          </p:cNvSpPr>
          <p:nvPr>
            <p:ph sz="quarter" idx="12"/>
          </p:nvPr>
        </p:nvSpPr>
        <p:spPr>
          <a:xfrm>
            <a:off x="406400" y="1371600"/>
            <a:ext cx="11480800" cy="4953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318601298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vmlDrawing" Target="../drawings/vmlDrawing1.v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emf"/><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2.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slideLayout" Target="../slideLayouts/slideLayout69.xml"/><Relationship Id="rId39" Type="http://schemas.openxmlformats.org/officeDocument/2006/relationships/slideLayout" Target="../slideLayouts/slideLayout82.xml"/><Relationship Id="rId21" Type="http://schemas.openxmlformats.org/officeDocument/2006/relationships/slideLayout" Target="../slideLayouts/slideLayout64.xml"/><Relationship Id="rId34" Type="http://schemas.openxmlformats.org/officeDocument/2006/relationships/slideLayout" Target="../slideLayouts/slideLayout77.xml"/><Relationship Id="rId42" Type="http://schemas.openxmlformats.org/officeDocument/2006/relationships/slideLayout" Target="../slideLayouts/slideLayout85.xml"/><Relationship Id="rId47" Type="http://schemas.openxmlformats.org/officeDocument/2006/relationships/theme" Target="../theme/theme2.xml"/><Relationship Id="rId50" Type="http://schemas.openxmlformats.org/officeDocument/2006/relationships/oleObject" Target="../embeddings/oleObject2.bin"/><Relationship Id="rId7" Type="http://schemas.openxmlformats.org/officeDocument/2006/relationships/slideLayout" Target="../slideLayouts/slideLayout5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9" Type="http://schemas.openxmlformats.org/officeDocument/2006/relationships/slideLayout" Target="../slideLayouts/slideLayout72.xml"/><Relationship Id="rId11" Type="http://schemas.openxmlformats.org/officeDocument/2006/relationships/slideLayout" Target="../slideLayouts/slideLayout54.xml"/><Relationship Id="rId24" Type="http://schemas.openxmlformats.org/officeDocument/2006/relationships/slideLayout" Target="../slideLayouts/slideLayout67.xml"/><Relationship Id="rId32" Type="http://schemas.openxmlformats.org/officeDocument/2006/relationships/slideLayout" Target="../slideLayouts/slideLayout75.xml"/><Relationship Id="rId37" Type="http://schemas.openxmlformats.org/officeDocument/2006/relationships/slideLayout" Target="../slideLayouts/slideLayout80.xml"/><Relationship Id="rId40" Type="http://schemas.openxmlformats.org/officeDocument/2006/relationships/slideLayout" Target="../slideLayouts/slideLayout83.xml"/><Relationship Id="rId45" Type="http://schemas.openxmlformats.org/officeDocument/2006/relationships/slideLayout" Target="../slideLayouts/slideLayout88.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28" Type="http://schemas.openxmlformats.org/officeDocument/2006/relationships/slideLayout" Target="../slideLayouts/slideLayout71.xml"/><Relationship Id="rId36" Type="http://schemas.openxmlformats.org/officeDocument/2006/relationships/slideLayout" Target="../slideLayouts/slideLayout79.xml"/><Relationship Id="rId49" Type="http://schemas.openxmlformats.org/officeDocument/2006/relationships/tags" Target="../tags/tag3.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31" Type="http://schemas.openxmlformats.org/officeDocument/2006/relationships/slideLayout" Target="../slideLayouts/slideLayout74.xml"/><Relationship Id="rId44" Type="http://schemas.openxmlformats.org/officeDocument/2006/relationships/slideLayout" Target="../slideLayouts/slideLayout87.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slideLayout" Target="../slideLayouts/slideLayout65.xml"/><Relationship Id="rId27" Type="http://schemas.openxmlformats.org/officeDocument/2006/relationships/slideLayout" Target="../slideLayouts/slideLayout70.xml"/><Relationship Id="rId30" Type="http://schemas.openxmlformats.org/officeDocument/2006/relationships/slideLayout" Target="../slideLayouts/slideLayout73.xml"/><Relationship Id="rId35" Type="http://schemas.openxmlformats.org/officeDocument/2006/relationships/slideLayout" Target="../slideLayouts/slideLayout78.xml"/><Relationship Id="rId43" Type="http://schemas.openxmlformats.org/officeDocument/2006/relationships/slideLayout" Target="../slideLayouts/slideLayout86.xml"/><Relationship Id="rId48" Type="http://schemas.openxmlformats.org/officeDocument/2006/relationships/vmlDrawing" Target="../drawings/vmlDrawing2.vml"/><Relationship Id="rId8" Type="http://schemas.openxmlformats.org/officeDocument/2006/relationships/slideLayout" Target="../slideLayouts/slideLayout51.xml"/><Relationship Id="rId51" Type="http://schemas.openxmlformats.org/officeDocument/2006/relationships/image" Target="../media/image1.emf"/><Relationship Id="rId3" Type="http://schemas.openxmlformats.org/officeDocument/2006/relationships/slideLayout" Target="../slideLayouts/slideLayout46.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slideLayout" Target="../slideLayouts/slideLayout68.xml"/><Relationship Id="rId33" Type="http://schemas.openxmlformats.org/officeDocument/2006/relationships/slideLayout" Target="../slideLayouts/slideLayout76.xml"/><Relationship Id="rId38" Type="http://schemas.openxmlformats.org/officeDocument/2006/relationships/slideLayout" Target="../slideLayouts/slideLayout81.xml"/><Relationship Id="rId46" Type="http://schemas.openxmlformats.org/officeDocument/2006/relationships/slideLayout" Target="../slideLayouts/slideLayout89.xml"/><Relationship Id="rId20" Type="http://schemas.openxmlformats.org/officeDocument/2006/relationships/slideLayout" Target="../slideLayouts/slideLayout63.xml"/><Relationship Id="rId41" Type="http://schemas.openxmlformats.org/officeDocument/2006/relationships/slideLayout" Target="../slideLayouts/slideLayout84.xml"/><Relationship Id="rId1" Type="http://schemas.openxmlformats.org/officeDocument/2006/relationships/slideLayout" Target="../slideLayouts/slideLayout44.xml"/><Relationship Id="rId6"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6"/>
            </p:custDataLst>
            <p:extLst>
              <p:ext uri="{D42A27DB-BD31-4B8C-83A1-F6EECF244321}">
                <p14:modId xmlns:p14="http://schemas.microsoft.com/office/powerpoint/2010/main" val="16689181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spid="_x0000_s2536" name="think-cell Slide" r:id="rId47" imgW="270" imgH="270" progId="TCLayout.ActiveDocument.1">
                  <p:embed/>
                </p:oleObj>
              </mc:Choice>
              <mc:Fallback>
                <p:oleObj name="think-cell Slide" r:id="rId47" imgW="270" imgH="270" progId="TCLayout.ActiveDocument.1">
                  <p:embed/>
                  <p:pic>
                    <p:nvPicPr>
                      <p:cNvPr id="0" name=""/>
                      <p:cNvPicPr/>
                      <p:nvPr/>
                    </p:nvPicPr>
                    <p:blipFill>
                      <a:blip r:embed="rId48"/>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Box 9"/>
          <p:cNvSpPr txBox="1"/>
          <p:nvPr/>
        </p:nvSpPr>
        <p:spPr>
          <a:xfrm>
            <a:off x="6589224" y="6491067"/>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dirty="0"/>
              <a:t>SAP Re-Platform &amp; Modernization (RPM): Platform Analyzer Details</a:t>
            </a:r>
            <a:endParaRPr lang="en-US" sz="650" noProof="0" dirty="0">
              <a:solidFill>
                <a:schemeClr val="tx1"/>
              </a:solidFill>
            </a:endParaRPr>
          </a:p>
        </p:txBody>
      </p:sp>
      <p:sp>
        <p:nvSpPr>
          <p:cNvPr id="12" name="TextBox 11"/>
          <p:cNvSpPr txBox="1"/>
          <p:nvPr/>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dirty="0">
              <a:solidFill>
                <a:schemeClr val="tx1"/>
              </a:solidFill>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55" r:id="rId3"/>
    <p:sldLayoutId id="2147483756" r:id="rId4"/>
    <p:sldLayoutId id="2147483703" r:id="rId5"/>
    <p:sldLayoutId id="2147483704" r:id="rId6"/>
    <p:sldLayoutId id="2147483705" r:id="rId7"/>
    <p:sldLayoutId id="2147483706" r:id="rId8"/>
    <p:sldLayoutId id="2147483707" r:id="rId9"/>
    <p:sldLayoutId id="2147483713" r:id="rId10"/>
    <p:sldLayoutId id="2147483708" r:id="rId11"/>
    <p:sldLayoutId id="2147483710" r:id="rId12"/>
    <p:sldLayoutId id="2147483754" r:id="rId13"/>
    <p:sldLayoutId id="2147483711" r:id="rId14"/>
    <p:sldLayoutId id="2147483753" r:id="rId15"/>
    <p:sldLayoutId id="2147483679" r:id="rId16"/>
    <p:sldLayoutId id="2147483712" r:id="rId17"/>
    <p:sldLayoutId id="2147483678" r:id="rId18"/>
    <p:sldLayoutId id="2147483681" r:id="rId19"/>
    <p:sldLayoutId id="2147483735" r:id="rId20"/>
    <p:sldLayoutId id="2147483699" r:id="rId21"/>
    <p:sldLayoutId id="2147483714" r:id="rId22"/>
    <p:sldLayoutId id="2147483697" r:id="rId23"/>
    <p:sldLayoutId id="2147483715" r:id="rId24"/>
    <p:sldLayoutId id="2147483716" r:id="rId25"/>
    <p:sldLayoutId id="2147483717" r:id="rId26"/>
    <p:sldLayoutId id="2147483718" r:id="rId27"/>
    <p:sldLayoutId id="2147483728" r:id="rId28"/>
    <p:sldLayoutId id="2147483720" r:id="rId29"/>
    <p:sldLayoutId id="2147483721" r:id="rId30"/>
    <p:sldLayoutId id="2147483722" r:id="rId31"/>
    <p:sldLayoutId id="2147483695" r:id="rId32"/>
    <p:sldLayoutId id="2147483751" r:id="rId33"/>
    <p:sldLayoutId id="2147483724" r:id="rId34"/>
    <p:sldLayoutId id="2147483725" r:id="rId35"/>
    <p:sldLayoutId id="2147483726" r:id="rId36"/>
    <p:sldLayoutId id="2147483727" r:id="rId37"/>
    <p:sldLayoutId id="2147483698" r:id="rId38"/>
    <p:sldLayoutId id="2147483752" r:id="rId39"/>
    <p:sldLayoutId id="2147483696" r:id="rId40"/>
    <p:sldLayoutId id="2147483757" r:id="rId41"/>
    <p:sldLayoutId id="2147483759" r:id="rId42"/>
    <p:sldLayoutId id="2147483764" r:id="rId43"/>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5098" userDrawn="1">
          <p15:clr>
            <a:srgbClr val="F26B43"/>
          </p15:clr>
        </p15:guide>
        <p15:guide id="2" orient="horz" pos="2160" userDrawn="1">
          <p15:clr>
            <a:srgbClr val="F26B43"/>
          </p15:clr>
        </p15:guide>
        <p15:guide id="3" orient="horz" pos="3968" userDrawn="1">
          <p15:clr>
            <a:srgbClr val="F26B43"/>
          </p15:clr>
        </p15:guide>
        <p15:guide id="4" pos="296" userDrawn="1">
          <p15:clr>
            <a:srgbClr val="F26B43"/>
          </p15:clr>
        </p15:guide>
        <p15:guide id="5" pos="7384" userDrawn="1">
          <p15:clr>
            <a:srgbClr val="F26B43"/>
          </p15:clr>
        </p15:guide>
        <p15:guide id="6" orient="horz" pos="1071" userDrawn="1">
          <p15:clr>
            <a:srgbClr val="F26B43"/>
          </p15:clr>
        </p15:guide>
        <p15:guide id="7" orient="horz" pos="245" userDrawn="1">
          <p15:clr>
            <a:srgbClr val="F26B43"/>
          </p15:clr>
        </p15:guide>
        <p15:guide id="8" orient="horz" pos="4081" userDrawn="1">
          <p15:clr>
            <a:srgbClr val="F26B43"/>
          </p15:clr>
        </p15:guide>
        <p15:guide id="10" pos="4986" userDrawn="1">
          <p15:clr>
            <a:srgbClr val="F26B43"/>
          </p15:clr>
        </p15:guide>
        <p15:guide id="12" pos="1382" userDrawn="1">
          <p15:clr>
            <a:srgbClr val="F26B43"/>
          </p15:clr>
        </p15:guide>
        <p15:guide id="13" pos="1496" userDrawn="1">
          <p15:clr>
            <a:srgbClr val="F26B43"/>
          </p15:clr>
        </p15:guide>
        <p15:guide id="14" pos="2581" userDrawn="1">
          <p15:clr>
            <a:srgbClr val="F26B43"/>
          </p15:clr>
        </p15:guide>
        <p15:guide id="15" pos="2695" userDrawn="1">
          <p15:clr>
            <a:srgbClr val="F26B43"/>
          </p15:clr>
        </p15:guide>
        <p15:guide id="16" pos="6185" userDrawn="1">
          <p15:clr>
            <a:srgbClr val="F26B43"/>
          </p15:clr>
        </p15:guide>
        <p15:guide id="17" pos="3783" userDrawn="1">
          <p15:clr>
            <a:srgbClr val="F26B43"/>
          </p15:clr>
        </p15:guide>
        <p15:guide id="18" pos="3896" userDrawn="1">
          <p15:clr>
            <a:srgbClr val="F26B43"/>
          </p15:clr>
        </p15:guide>
        <p15:guide id="19" pos="3840" userDrawn="1">
          <p15:clr>
            <a:srgbClr val="F26B43"/>
          </p15:clr>
        </p15:guide>
        <p15:guide id="20" pos="6299" userDrawn="1">
          <p15:clr>
            <a:srgbClr val="F26B43"/>
          </p15:clr>
        </p15:guide>
        <p15:guide id="21" orient="horz" pos="1049" userDrawn="1">
          <p15:clr>
            <a:srgbClr val="F26B43"/>
          </p15:clr>
        </p15:guide>
        <p15:guide id="22" orient="horz" pos="641" userDrawn="1">
          <p15:clr>
            <a:srgbClr val="F26B43"/>
          </p15:clr>
        </p15:guide>
        <p15:guide id="23" orient="horz" pos="2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9"/>
            </p:custDataLs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spid="_x0000_s3308" name="think-cell Slide" r:id="rId50" imgW="270" imgH="270" progId="TCLayout.ActiveDocument.1">
                  <p:embed/>
                </p:oleObj>
              </mc:Choice>
              <mc:Fallback>
                <p:oleObj name="think-cell Slide" r:id="rId50" imgW="270" imgH="270" progId="TCLayout.ActiveDocument.1">
                  <p:embed/>
                  <p:pic>
                    <p:nvPicPr>
                      <p:cNvPr id="0" name=""/>
                      <p:cNvPicPr/>
                      <p:nvPr/>
                    </p:nvPicPr>
                    <p:blipFill>
                      <a:blip r:embed="rId51"/>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Box 9"/>
          <p:cNvSpPr txBox="1"/>
          <p:nvPr/>
        </p:nvSpPr>
        <p:spPr>
          <a:xfrm>
            <a:off x="6589224" y="6491067"/>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dirty="0"/>
              <a:t>SAP Re-Platform &amp; Modernization (RPM): Platform Analyzer Details</a:t>
            </a:r>
            <a:endParaRPr lang="en-US" sz="650" noProof="0" dirty="0">
              <a:solidFill>
                <a:schemeClr val="tx1"/>
              </a:solidFill>
            </a:endParaRPr>
          </a:p>
        </p:txBody>
      </p:sp>
      <p:sp>
        <p:nvSpPr>
          <p:cNvPr id="12" name="TextBox 11"/>
          <p:cNvSpPr txBox="1"/>
          <p:nvPr/>
        </p:nvSpPr>
        <p:spPr>
          <a:xfrm>
            <a:off x="11410953"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black"/>
                </a:solidFill>
              </a:rPr>
              <a:pPr algn="r">
                <a:spcBef>
                  <a:spcPts val="800"/>
                </a:spcBef>
                <a:buSzPct val="100000"/>
                <a:buFont typeface="Arial"/>
                <a:buNone/>
              </a:pPr>
              <a:t>‹#›</a:t>
            </a:fld>
            <a:endParaRPr lang="en-US" sz="650" dirty="0">
              <a:solidFill>
                <a:prstClr val="black"/>
              </a:solidFill>
            </a:endParaRPr>
          </a:p>
        </p:txBody>
      </p:sp>
      <p:sp>
        <p:nvSpPr>
          <p:cNvPr id="3" name="Copyright"/>
          <p:cNvSpPr txBox="1"/>
          <p:nvPr userDrawn="1"/>
        </p:nvSpPr>
        <p:spPr>
          <a:xfrm>
            <a:off x="469900" y="6477001"/>
            <a:ext cx="5355167" cy="100027"/>
          </a:xfrm>
          <a:prstGeom prst="rect">
            <a:avLst/>
          </a:prstGeom>
          <a:noFill/>
        </p:spPr>
        <p:txBody>
          <a:bodyPr vert="horz" wrap="square" lIns="0" tIns="0" rIns="0" bIns="0" rtlCol="0" anchor="t">
            <a:noAutofit/>
          </a:bodyPr>
          <a:lstStyle/>
          <a:p>
            <a:pPr>
              <a:spcBef>
                <a:spcPts val="600"/>
              </a:spcBef>
              <a:buSzPct val="100000"/>
              <a:buFont typeface="Arial"/>
              <a:buNone/>
            </a:pPr>
            <a:r>
              <a:rPr lang="en-US" sz="650">
                <a:solidFill>
                  <a:prstClr val="black"/>
                </a:solidFill>
              </a:rPr>
              <a:t>Copyright © 2016 Deloitte Development LLC. All rights reserved.</a:t>
            </a:r>
            <a:endParaRPr lang="en-US" sz="650" dirty="0">
              <a:solidFill>
                <a:prstClr val="black"/>
              </a:solidFill>
            </a:endParaRPr>
          </a:p>
        </p:txBody>
      </p:sp>
    </p:spTree>
    <p:extLst>
      <p:ext uri="{BB962C8B-B14F-4D97-AF65-F5344CB8AC3E}">
        <p14:creationId xmlns:p14="http://schemas.microsoft.com/office/powerpoint/2010/main" val="2950992661"/>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 id="2147483783" r:id="rId18"/>
    <p:sldLayoutId id="2147483784" r:id="rId19"/>
    <p:sldLayoutId id="2147483785" r:id="rId20"/>
    <p:sldLayoutId id="2147483786" r:id="rId21"/>
    <p:sldLayoutId id="2147483787" r:id="rId22"/>
    <p:sldLayoutId id="2147483788" r:id="rId23"/>
    <p:sldLayoutId id="2147483789" r:id="rId24"/>
    <p:sldLayoutId id="2147483790" r:id="rId25"/>
    <p:sldLayoutId id="2147483791" r:id="rId26"/>
    <p:sldLayoutId id="2147483792" r:id="rId27"/>
    <p:sldLayoutId id="2147483793" r:id="rId28"/>
    <p:sldLayoutId id="2147483794" r:id="rId29"/>
    <p:sldLayoutId id="2147483795" r:id="rId30"/>
    <p:sldLayoutId id="2147483796" r:id="rId31"/>
    <p:sldLayoutId id="2147483797" r:id="rId32"/>
    <p:sldLayoutId id="2147483798" r:id="rId33"/>
    <p:sldLayoutId id="2147483799" r:id="rId34"/>
    <p:sldLayoutId id="2147483800" r:id="rId35"/>
    <p:sldLayoutId id="2147483801" r:id="rId36"/>
    <p:sldLayoutId id="2147483802" r:id="rId37"/>
    <p:sldLayoutId id="2147483803" r:id="rId38"/>
    <p:sldLayoutId id="2147483804" r:id="rId39"/>
    <p:sldLayoutId id="2147483805" r:id="rId40"/>
    <p:sldLayoutId id="2147483806" r:id="rId41"/>
    <p:sldLayoutId id="2147483807" r:id="rId42"/>
    <p:sldLayoutId id="2147483808" r:id="rId43"/>
    <p:sldLayoutId id="2147483809" r:id="rId44"/>
    <p:sldLayoutId id="2147483810" r:id="rId45"/>
    <p:sldLayoutId id="2147483811" r:id="rId46"/>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9" pos="4986">
          <p15:clr>
            <a:srgbClr val="F26B43"/>
          </p15:clr>
        </p15:guide>
        <p15:guide id="10" pos="1382">
          <p15:clr>
            <a:srgbClr val="F26B43"/>
          </p15:clr>
        </p15:guide>
        <p15:guide id="11" pos="1496">
          <p15:clr>
            <a:srgbClr val="F26B43"/>
          </p15:clr>
        </p15:guide>
        <p15:guide id="12" pos="2581">
          <p15:clr>
            <a:srgbClr val="F26B43"/>
          </p15:clr>
        </p15:guide>
        <p15:guide id="13" pos="2695">
          <p15:clr>
            <a:srgbClr val="F26B43"/>
          </p15:clr>
        </p15:guide>
        <p15:guide id="14" pos="6185">
          <p15:clr>
            <a:srgbClr val="F26B43"/>
          </p15:clr>
        </p15:guide>
        <p15:guide id="15" pos="3783">
          <p15:clr>
            <a:srgbClr val="F26B43"/>
          </p15:clr>
        </p15:guide>
        <p15:guide id="16" pos="3896">
          <p15:clr>
            <a:srgbClr val="F26B43"/>
          </p15:clr>
        </p15:guide>
        <p15:guide id="17" pos="3840">
          <p15:clr>
            <a:srgbClr val="F26B43"/>
          </p15:clr>
        </p15:guide>
        <p15:guide id="18" pos="6299">
          <p15:clr>
            <a:srgbClr val="F26B43"/>
          </p15:clr>
        </p15:guide>
        <p15:guide id="19" orient="horz" pos="1049">
          <p15:clr>
            <a:srgbClr val="F26B43"/>
          </p15:clr>
        </p15:guide>
        <p15:guide id="20" orient="horz" pos="641">
          <p15:clr>
            <a:srgbClr val="F26B43"/>
          </p15:clr>
        </p15:guide>
        <p15:guide id="21" orient="horz" pos="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5.xml"/><Relationship Id="rId1" Type="http://schemas.openxmlformats.org/officeDocument/2006/relationships/vmlDrawing" Target="../drawings/vmlDrawing3.vml"/><Relationship Id="rId5" Type="http://schemas.openxmlformats.org/officeDocument/2006/relationships/image" Target="../media/image4.wmf"/><Relationship Id="rId4" Type="http://schemas.openxmlformats.org/officeDocument/2006/relationships/package" Target="../embeddings/Microsoft_Word_Document.docx"/></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idx="4294967295"/>
          </p:nvPr>
        </p:nvSpPr>
        <p:spPr>
          <a:xfrm>
            <a:off x="475200" y="5530390"/>
            <a:ext cx="5592012" cy="324000"/>
          </a:xfrm>
        </p:spPr>
        <p:txBody>
          <a:bodyPr/>
          <a:lstStyle/>
          <a:p>
            <a:r>
              <a:rPr lang="en-US" noProof="0" dirty="0"/>
              <a:t>Headline Verdana Bold</a:t>
            </a:r>
          </a:p>
        </p:txBody>
      </p:sp>
      <p:sp>
        <p:nvSpPr>
          <p:cNvPr id="4" name="Subtitle 3"/>
          <p:cNvSpPr>
            <a:spLocks noGrp="1"/>
          </p:cNvSpPr>
          <p:nvPr>
            <p:ph type="subTitle" idx="1"/>
          </p:nvPr>
        </p:nvSpPr>
        <p:spPr>
          <a:xfrm>
            <a:off x="475200" y="5845180"/>
            <a:ext cx="7050312" cy="505645"/>
          </a:xfrm>
        </p:spPr>
        <p:txBody>
          <a:bodyPr/>
          <a:lstStyle/>
          <a:p>
            <a:r>
              <a:rPr lang="en-US" dirty="0"/>
              <a:t>SAP Re-Platform &amp; Modernization: </a:t>
            </a:r>
          </a:p>
          <a:p>
            <a:r>
              <a:rPr lang="en-US" dirty="0"/>
              <a:t>Platform Analyzer – Setup Instructions and Guidelines</a:t>
            </a:r>
          </a:p>
        </p:txBody>
      </p:sp>
      <p:pic>
        <p:nvPicPr>
          <p:cNvPr id="8" name="Picture Placeholder 7"/>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l="15" r="15"/>
          <a:stretch>
            <a:fillRect/>
          </a:stretch>
        </p:blipFill>
        <p:spPr>
          <a:xfrm>
            <a:off x="3393716" y="398971"/>
            <a:ext cx="5400000" cy="5400000"/>
          </a:xfrm>
        </p:spPr>
      </p:pic>
    </p:spTree>
    <p:extLst>
      <p:ext uri="{BB962C8B-B14F-4D97-AF65-F5344CB8AC3E}">
        <p14:creationId xmlns:p14="http://schemas.microsoft.com/office/powerpoint/2010/main" val="122492645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552196" y="828128"/>
            <a:ext cx="11252200" cy="757255"/>
          </a:xfrm>
        </p:spPr>
        <p:txBody>
          <a:bodyPr/>
          <a:lstStyle/>
          <a:p>
            <a:r>
              <a:rPr lang="en-US" sz="1600" b="1" dirty="0"/>
              <a:t>Files Required:</a:t>
            </a:r>
          </a:p>
          <a:p>
            <a:pPr marL="285750" indent="-285750">
              <a:spcAft>
                <a:spcPts val="0"/>
              </a:spcAft>
              <a:buFont typeface="Arial" panose="020B0604020202020204" pitchFamily="34" charset="0"/>
              <a:buChar char="•"/>
            </a:pPr>
            <a:r>
              <a:rPr lang="en-US" sz="1600" dirty="0"/>
              <a:t>Transport Files contains the code related to the system readiness check tool.</a:t>
            </a:r>
          </a:p>
        </p:txBody>
      </p:sp>
      <p:graphicFrame>
        <p:nvGraphicFramePr>
          <p:cNvPr id="24" name="Table 23"/>
          <p:cNvGraphicFramePr>
            <a:graphicFrameLocks noGrp="1"/>
          </p:cNvGraphicFramePr>
          <p:nvPr>
            <p:extLst>
              <p:ext uri="{D42A27DB-BD31-4B8C-83A1-F6EECF244321}">
                <p14:modId xmlns:p14="http://schemas.microsoft.com/office/powerpoint/2010/main" val="725634751"/>
              </p:ext>
            </p:extLst>
          </p:nvPr>
        </p:nvGraphicFramePr>
        <p:xfrm>
          <a:off x="552194" y="1688633"/>
          <a:ext cx="10658349" cy="1136224"/>
        </p:xfrm>
        <a:graphic>
          <a:graphicData uri="http://schemas.openxmlformats.org/drawingml/2006/table">
            <a:tbl>
              <a:tblPr firstRow="1" firstCol="1" bandRow="1">
                <a:tableStyleId>{5C22544A-7EE6-4342-B048-85BDC9FD1C3A}</a:tableStyleId>
              </a:tblPr>
              <a:tblGrid>
                <a:gridCol w="3244263">
                  <a:extLst>
                    <a:ext uri="{9D8B030D-6E8A-4147-A177-3AD203B41FA5}">
                      <a16:colId xmlns:a16="http://schemas.microsoft.com/office/drawing/2014/main" val="20000"/>
                    </a:ext>
                  </a:extLst>
                </a:gridCol>
                <a:gridCol w="4724740">
                  <a:extLst>
                    <a:ext uri="{9D8B030D-6E8A-4147-A177-3AD203B41FA5}">
                      <a16:colId xmlns:a16="http://schemas.microsoft.com/office/drawing/2014/main" val="20002"/>
                    </a:ext>
                  </a:extLst>
                </a:gridCol>
                <a:gridCol w="2689346">
                  <a:extLst>
                    <a:ext uri="{9D8B030D-6E8A-4147-A177-3AD203B41FA5}">
                      <a16:colId xmlns:a16="http://schemas.microsoft.com/office/drawing/2014/main" val="20003"/>
                    </a:ext>
                  </a:extLst>
                </a:gridCol>
              </a:tblGrid>
              <a:tr h="409926">
                <a:tc>
                  <a:txBody>
                    <a:bodyPr/>
                    <a:lstStyle/>
                    <a:p>
                      <a:pPr marL="0" marR="0" algn="ctr">
                        <a:spcBef>
                          <a:spcPts val="0"/>
                        </a:spcBef>
                        <a:spcAft>
                          <a:spcPts val="0"/>
                        </a:spcAft>
                      </a:pPr>
                      <a:r>
                        <a:rPr lang="en-US" sz="1100" b="1" kern="1200" dirty="0">
                          <a:solidFill>
                            <a:schemeClr val="lt1"/>
                          </a:solidFill>
                          <a:effectLst/>
                          <a:latin typeface="+mn-lt"/>
                          <a:ea typeface="+mn-ea"/>
                          <a:cs typeface="+mn-cs"/>
                        </a:rPr>
                        <a:t>System</a:t>
                      </a:r>
                    </a:p>
                  </a:txBody>
                  <a:tcPr marL="68580" marR="68580" marT="0" marB="0" anchor="ctr"/>
                </a:tc>
                <a:tc>
                  <a:txBody>
                    <a:bodyPr/>
                    <a:lstStyle/>
                    <a:p>
                      <a:pPr marL="0" marR="0" algn="ctr">
                        <a:spcBef>
                          <a:spcPts val="0"/>
                        </a:spcBef>
                        <a:spcAft>
                          <a:spcPts val="0"/>
                        </a:spcAft>
                      </a:pPr>
                      <a:r>
                        <a:rPr lang="en-US" sz="1100" dirty="0">
                          <a:effectLst/>
                        </a:rPr>
                        <a:t>Transport Files</a:t>
                      </a:r>
                      <a:endParaRPr lang="en-US" sz="1100" b="1" kern="1200" dirty="0">
                        <a:solidFill>
                          <a:schemeClr val="lt1"/>
                        </a:solidFill>
                        <a:effectLst/>
                        <a:latin typeface="+mn-lt"/>
                        <a:ea typeface="+mn-ea"/>
                        <a:cs typeface="+mn-cs"/>
                      </a:endParaRPr>
                    </a:p>
                  </a:txBody>
                  <a:tcPr marL="68580" marR="68580" marT="0" marB="0" anchor="ctr"/>
                </a:tc>
                <a:tc>
                  <a:txBody>
                    <a:bodyPr/>
                    <a:lstStyle/>
                    <a:p>
                      <a:pPr marL="0" marR="0" algn="ctr">
                        <a:spcBef>
                          <a:spcPts val="0"/>
                        </a:spcBef>
                        <a:spcAft>
                          <a:spcPts val="0"/>
                        </a:spcAft>
                      </a:pPr>
                      <a:r>
                        <a:rPr lang="en-US" sz="1100" b="1" kern="1200" dirty="0">
                          <a:solidFill>
                            <a:schemeClr val="lt1"/>
                          </a:solidFill>
                          <a:effectLst/>
                          <a:latin typeface="+mn-lt"/>
                          <a:ea typeface="+mn-ea"/>
                          <a:cs typeface="+mn-cs"/>
                        </a:rPr>
                        <a:t>Maintenance Planner</a:t>
                      </a:r>
                    </a:p>
                  </a:txBody>
                  <a:tcPr marL="68580" marR="68580" marT="0" marB="0" anchor="ctr"/>
                </a:tc>
                <a:extLst>
                  <a:ext uri="{0D108BD9-81ED-4DB2-BD59-A6C34878D82A}">
                    <a16:rowId xmlns:a16="http://schemas.microsoft.com/office/drawing/2014/main" val="10000"/>
                  </a:ext>
                </a:extLst>
              </a:tr>
              <a:tr h="726298">
                <a:tc>
                  <a:txBody>
                    <a:bodyPr/>
                    <a:lstStyle/>
                    <a:p>
                      <a:pPr marL="0" marR="0" algn="ctr">
                        <a:spcBef>
                          <a:spcPts val="0"/>
                        </a:spcBef>
                        <a:spcAft>
                          <a:spcPts val="0"/>
                        </a:spcAft>
                      </a:pPr>
                      <a:r>
                        <a:rPr lang="en-US" sz="1600" kern="1200"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ECC</a:t>
                      </a:r>
                    </a:p>
                  </a:txBody>
                  <a:tcPr marL="68580" marR="68580" marT="0" marB="0" anchor="ctr">
                    <a:solidFill>
                      <a:srgbClr val="0079A6"/>
                    </a:solidFill>
                  </a:tcPr>
                </a:tc>
                <a:tc>
                  <a:txBody>
                    <a:bodyPr/>
                    <a:lstStyle/>
                    <a:p>
                      <a:pPr marL="0" marR="0" algn="ctr">
                        <a:spcBef>
                          <a:spcPts val="0"/>
                        </a:spcBef>
                        <a:spcAft>
                          <a:spcPts val="0"/>
                        </a:spcAft>
                      </a:pPr>
                      <a:r>
                        <a:rPr lang="en-US" sz="1600" b="1" kern="1200"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Provided Separately.</a:t>
                      </a:r>
                    </a:p>
                  </a:txBody>
                  <a:tcPr marL="68580" marR="68580" marT="0" marB="0" anchor="ctr">
                    <a:solidFill>
                      <a:srgbClr val="0079A6"/>
                    </a:solidFill>
                  </a:tcPr>
                </a:tc>
                <a:tc>
                  <a:txBody>
                    <a:bodyPr/>
                    <a:lstStyle/>
                    <a:p>
                      <a:pPr marL="0" marR="0" algn="l">
                        <a:spcBef>
                          <a:spcPts val="0"/>
                        </a:spcBef>
                        <a:spcAft>
                          <a:spcPts val="0"/>
                        </a:spcAft>
                      </a:pPr>
                      <a:endParaRPr lang="en-US" sz="1100" kern="1200" dirty="0">
                        <a:solidFill>
                          <a:srgbClr val="1F497D"/>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0079A6"/>
                    </a:solidFill>
                  </a:tcPr>
                </a:tc>
                <a:extLst>
                  <a:ext uri="{0D108BD9-81ED-4DB2-BD59-A6C34878D82A}">
                    <a16:rowId xmlns:a16="http://schemas.microsoft.com/office/drawing/2014/main" val="10001"/>
                  </a:ext>
                </a:extLst>
              </a:tr>
            </a:tbl>
          </a:graphicData>
        </a:graphic>
      </p:graphicFrame>
      <p:sp>
        <p:nvSpPr>
          <p:cNvPr id="25" name="Content Placeholder 2"/>
          <p:cNvSpPr txBox="1">
            <a:spLocks/>
          </p:cNvSpPr>
          <p:nvPr/>
        </p:nvSpPr>
        <p:spPr>
          <a:xfrm>
            <a:off x="552194" y="2844202"/>
            <a:ext cx="10658349" cy="3106551"/>
          </a:xfrm>
          <a:prstGeom prst="rect">
            <a:avLst/>
          </a:prstGeom>
          <a:solidFill>
            <a:schemeClr val="bg1"/>
          </a:solidFill>
          <a:ln>
            <a:solidFill>
              <a:schemeClr val="accent1"/>
            </a:solidFill>
          </a:ln>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de-DE" b="1" dirty="0"/>
              <a:t>Steps to be taken care before execution of the Tool:</a:t>
            </a:r>
            <a:r>
              <a:rPr lang="de-DE" dirty="0"/>
              <a:t> </a:t>
            </a:r>
            <a:endParaRPr lang="en-US" dirty="0"/>
          </a:p>
          <a:p>
            <a:pPr marL="171450" indent="-171450">
              <a:spcAft>
                <a:spcPts val="0"/>
              </a:spcAft>
              <a:buFont typeface="Arial" panose="020B0604020202020204" pitchFamily="34" charset="0"/>
              <a:buChar char="•"/>
            </a:pPr>
            <a:r>
              <a:rPr lang="en-US" dirty="0"/>
              <a:t>Load the transport files provided in to the source system(Current version). </a:t>
            </a:r>
          </a:p>
          <a:p>
            <a:pPr marL="171450" indent="-171450">
              <a:spcAft>
                <a:spcPts val="0"/>
              </a:spcAft>
              <a:buFont typeface="Arial" panose="020B0604020202020204" pitchFamily="34" charset="0"/>
              <a:buChar char="•"/>
            </a:pPr>
            <a:r>
              <a:rPr lang="en-US" dirty="0"/>
              <a:t>Maintenance Planner report to be provided as per steps attached.</a:t>
            </a:r>
          </a:p>
          <a:p>
            <a:endParaRPr lang="de-DE" b="1" dirty="0"/>
          </a:p>
          <a:p>
            <a:r>
              <a:rPr lang="de-DE" b="1" dirty="0"/>
              <a:t>Basic Authorizations required for execution:</a:t>
            </a:r>
            <a:endParaRPr lang="en-US" dirty="0"/>
          </a:p>
          <a:p>
            <a:pPr marL="171450" indent="-171450">
              <a:spcAft>
                <a:spcPts val="0"/>
              </a:spcAft>
              <a:buFont typeface="Arial" panose="020B0604020202020204" pitchFamily="34" charset="0"/>
              <a:buChar char="•"/>
            </a:pPr>
            <a:r>
              <a:rPr lang="de-DE" dirty="0"/>
              <a:t>Access required for executing the Report program and Transaction code.</a:t>
            </a:r>
            <a:endParaRPr lang="en-US" dirty="0"/>
          </a:p>
          <a:p>
            <a:pPr marL="171450" indent="-171450">
              <a:spcAft>
                <a:spcPts val="0"/>
              </a:spcAft>
              <a:buFont typeface="Arial" panose="020B0604020202020204" pitchFamily="34" charset="0"/>
              <a:buChar char="•"/>
            </a:pPr>
            <a:r>
              <a:rPr lang="de-DE" dirty="0"/>
              <a:t>Read and write authorizations to the above Application server folders.</a:t>
            </a:r>
            <a:endParaRPr lang="en-US" dirty="0"/>
          </a:p>
          <a:p>
            <a:pPr marL="171450" indent="-171450">
              <a:spcAft>
                <a:spcPts val="0"/>
              </a:spcAft>
              <a:buFont typeface="Arial" panose="020B0604020202020204" pitchFamily="34" charset="0"/>
              <a:buChar char="•"/>
            </a:pPr>
            <a:r>
              <a:rPr lang="de-DE" dirty="0"/>
              <a:t>Access to SM36 and SM37 to schedule and monitor the background jobs.</a:t>
            </a:r>
          </a:p>
          <a:p>
            <a:pPr marL="171450" indent="-171450">
              <a:spcAft>
                <a:spcPts val="0"/>
              </a:spcAft>
              <a:buFont typeface="Arial" panose="020B0604020202020204" pitchFamily="34" charset="0"/>
              <a:buChar char="•"/>
            </a:pPr>
            <a:endParaRPr lang="en-US" dirty="0"/>
          </a:p>
          <a:p>
            <a:pPr>
              <a:spcAft>
                <a:spcPts val="0"/>
              </a:spcAft>
            </a:pPr>
            <a:r>
              <a:rPr lang="en-US" b="1" dirty="0"/>
              <a:t>Validate Transport Imports:</a:t>
            </a:r>
          </a:p>
          <a:p>
            <a:pPr marL="171450" indent="-171450">
              <a:spcAft>
                <a:spcPts val="0"/>
              </a:spcAft>
              <a:buFont typeface="Arial" panose="020B0604020202020204" pitchFamily="34" charset="0"/>
              <a:buChar char="•"/>
            </a:pPr>
            <a:r>
              <a:rPr lang="en-US" dirty="0"/>
              <a:t>Check Programs ZUPD_S4_BF_ADDON_CHECK, FINS_PRE_CHECK_SFIN_1605, RASFIN_MIGR_PRECHECK  and /SDF/RC_START_CHECK  are available in the system.</a:t>
            </a:r>
          </a:p>
          <a:p>
            <a:pPr marL="171450" indent="-171450">
              <a:spcAft>
                <a:spcPts val="0"/>
              </a:spcAft>
              <a:buFont typeface="Arial" panose="020B0604020202020204" pitchFamily="34" charset="0"/>
              <a:buChar char="•"/>
            </a:pPr>
            <a:r>
              <a:rPr lang="en-US" dirty="0"/>
              <a:t>Check Tables ZTUPD_S4H_B_FUNC and ZTUPD_S4H_ADDON are having values. Check all the fields for values.</a:t>
            </a:r>
          </a:p>
          <a:p>
            <a:endParaRPr lang="en-US" b="1"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a:buFont typeface="Arial" panose="020B0604020202020204" pitchFamily="34" charset="0"/>
              <a:buChar char="•"/>
            </a:pPr>
            <a:endParaRPr lang="en-US" dirty="0"/>
          </a:p>
          <a:p>
            <a:endParaRPr lang="en-US" dirty="0"/>
          </a:p>
          <a:p>
            <a:endParaRPr lang="en-US" dirty="0"/>
          </a:p>
          <a:p>
            <a:pPr>
              <a:buFont typeface="Arial" panose="020B0604020202020204" pitchFamily="34" charset="0"/>
              <a:buChar char="•"/>
            </a:pPr>
            <a:endParaRPr lang="en-US" dirty="0"/>
          </a:p>
          <a:p>
            <a:endParaRPr lang="en-US" dirty="0"/>
          </a:p>
        </p:txBody>
      </p:sp>
      <p:sp>
        <p:nvSpPr>
          <p:cNvPr id="27" name="Title 3"/>
          <p:cNvSpPr txBox="1">
            <a:spLocks/>
          </p:cNvSpPr>
          <p:nvPr/>
        </p:nvSpPr>
        <p:spPr bwMode="gray">
          <a:xfrm>
            <a:off x="420051" y="341163"/>
            <a:ext cx="11252200" cy="330545"/>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r>
              <a:rPr lang="en-US" dirty="0">
                <a:solidFill>
                  <a:srgbClr val="81BC00"/>
                </a:solidFill>
              </a:rPr>
              <a:t>System Readiness Analyzer </a:t>
            </a:r>
            <a:r>
              <a:rPr kumimoji="0" lang="en-US" sz="2000" b="0" i="0" u="none" strike="noStrike" kern="1200" cap="none" spc="0" normalizeH="0" baseline="0" noProof="0" dirty="0">
                <a:ln>
                  <a:noFill/>
                </a:ln>
                <a:solidFill>
                  <a:srgbClr val="81BC00"/>
                </a:solidFill>
                <a:effectLst/>
                <a:uLnTx/>
                <a:uFillTx/>
                <a:latin typeface="Verdana"/>
                <a:ea typeface="+mj-ea"/>
                <a:cs typeface="+mj-cs"/>
              </a:rPr>
              <a:t>Pre-requisites</a:t>
            </a:r>
          </a:p>
        </p:txBody>
      </p:sp>
      <p:sp>
        <p:nvSpPr>
          <p:cNvPr id="29" name="TextBox 28"/>
          <p:cNvSpPr txBox="1"/>
          <p:nvPr/>
        </p:nvSpPr>
        <p:spPr>
          <a:xfrm>
            <a:off x="552194" y="5986903"/>
            <a:ext cx="10658349" cy="461665"/>
          </a:xfrm>
          <a:prstGeom prst="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p>
            <a:pPr>
              <a:spcBef>
                <a:spcPts val="600"/>
              </a:spcBef>
            </a:pPr>
            <a:r>
              <a:rPr lang="en-US" sz="1200" dirty="0"/>
              <a:t>System Readiness Check scans the system attributes like active business functions and scans data in the system to arrive at impact analysis to S/4HANA.</a:t>
            </a:r>
          </a:p>
        </p:txBody>
      </p:sp>
      <p:graphicFrame>
        <p:nvGraphicFramePr>
          <p:cNvPr id="3" name="Object 2"/>
          <p:cNvGraphicFramePr>
            <a:graphicFrameLocks noChangeAspect="1"/>
          </p:cNvGraphicFramePr>
          <p:nvPr>
            <p:extLst>
              <p:ext uri="{D42A27DB-BD31-4B8C-83A1-F6EECF244321}">
                <p14:modId xmlns:p14="http://schemas.microsoft.com/office/powerpoint/2010/main" val="1865297860"/>
              </p:ext>
            </p:extLst>
          </p:nvPr>
        </p:nvGraphicFramePr>
        <p:xfrm>
          <a:off x="9365332" y="2080304"/>
          <a:ext cx="914400" cy="792163"/>
        </p:xfrm>
        <a:graphic>
          <a:graphicData uri="http://schemas.openxmlformats.org/presentationml/2006/ole">
            <mc:AlternateContent xmlns:mc="http://schemas.openxmlformats.org/markup-compatibility/2006">
              <mc:Choice xmlns:v="urn:schemas-microsoft-com:vml" Requires="v">
                <p:oleObj spid="_x0000_s8260" name="Document" showAsIcon="1" r:id="rId4" imgW="914400" imgH="792360" progId="Word.Document.12">
                  <p:embed/>
                </p:oleObj>
              </mc:Choice>
              <mc:Fallback>
                <p:oleObj name="Document" showAsIcon="1" r:id="rId4" imgW="914400" imgH="792360" progId="Word.Document.12">
                  <p:embed/>
                  <p:pic>
                    <p:nvPicPr>
                      <p:cNvPr id="3" name="Object 2"/>
                      <p:cNvPicPr/>
                      <p:nvPr/>
                    </p:nvPicPr>
                    <p:blipFill>
                      <a:blip r:embed="rId5"/>
                      <a:stretch>
                        <a:fillRect/>
                      </a:stretch>
                    </p:blipFill>
                    <p:spPr>
                      <a:xfrm>
                        <a:off x="9365332" y="2080304"/>
                        <a:ext cx="914400" cy="792163"/>
                      </a:xfrm>
                      <a:prstGeom prst="rect">
                        <a:avLst/>
                      </a:prstGeom>
                    </p:spPr>
                  </p:pic>
                </p:oleObj>
              </mc:Fallback>
            </mc:AlternateContent>
          </a:graphicData>
        </a:graphic>
      </p:graphicFrame>
    </p:spTree>
    <p:extLst>
      <p:ext uri="{BB962C8B-B14F-4D97-AF65-F5344CB8AC3E}">
        <p14:creationId xmlns:p14="http://schemas.microsoft.com/office/powerpoint/2010/main" val="258063683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3"/>
          <p:cNvSpPr txBox="1">
            <a:spLocks/>
          </p:cNvSpPr>
          <p:nvPr/>
        </p:nvSpPr>
        <p:spPr bwMode="gray">
          <a:xfrm>
            <a:off x="420051" y="341163"/>
            <a:ext cx="11252200" cy="330545"/>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r>
              <a:rPr lang="en-US" dirty="0">
                <a:solidFill>
                  <a:srgbClr val="81BC00"/>
                </a:solidFill>
              </a:rPr>
              <a:t>System Readiness Analyzer </a:t>
            </a:r>
            <a:r>
              <a:rPr kumimoji="0" lang="en-US" sz="2000" b="0" i="0" u="none" strike="noStrike" kern="1200" cap="none" spc="0" normalizeH="0" baseline="0" noProof="0" dirty="0">
                <a:ln>
                  <a:noFill/>
                </a:ln>
                <a:solidFill>
                  <a:srgbClr val="81BC00"/>
                </a:solidFill>
                <a:effectLst/>
                <a:uLnTx/>
                <a:uFillTx/>
                <a:latin typeface="Verdana"/>
                <a:ea typeface="+mj-ea"/>
                <a:cs typeface="+mj-cs"/>
              </a:rPr>
              <a:t>Pre-requisites</a:t>
            </a:r>
          </a:p>
        </p:txBody>
      </p:sp>
      <p:sp>
        <p:nvSpPr>
          <p:cNvPr id="4" name="Text Placeholder 3"/>
          <p:cNvSpPr>
            <a:spLocks noGrp="1"/>
          </p:cNvSpPr>
          <p:nvPr>
            <p:ph type="body" sz="quarter" idx="13"/>
          </p:nvPr>
        </p:nvSpPr>
        <p:spPr>
          <a:xfrm>
            <a:off x="420051" y="671707"/>
            <a:ext cx="11042276" cy="5987509"/>
          </a:xfrm>
        </p:spPr>
        <p:txBody>
          <a:bodyPr/>
          <a:lstStyle/>
          <a:p>
            <a:pPr marL="457200" indent="-457200">
              <a:buAutoNum type="arabicParenR"/>
            </a:pPr>
            <a:r>
              <a:rPr lang="en-US" sz="1400" dirty="0"/>
              <a:t>Execute system readiness check only in Sandbox system.</a:t>
            </a:r>
          </a:p>
          <a:p>
            <a:pPr marL="457200" indent="-457200">
              <a:buAutoNum type="arabicParenR"/>
            </a:pPr>
            <a:r>
              <a:rPr lang="en-US" sz="1400" dirty="0"/>
              <a:t>For accurate results we recommend sandbox system to be a recent copy of production environment</a:t>
            </a:r>
          </a:p>
          <a:p>
            <a:pPr marL="457200" indent="-457200">
              <a:buAutoNum type="arabicParenR"/>
            </a:pPr>
            <a:r>
              <a:rPr lang="en-US" sz="1400" dirty="0"/>
              <a:t>Sandbox system has to be connected to SAP Market place with valid SAPOSS connection</a:t>
            </a:r>
          </a:p>
          <a:p>
            <a:pPr marL="457200" indent="-457200">
              <a:buAutoNum type="arabicParenR"/>
            </a:pPr>
            <a:r>
              <a:rPr lang="en-US" sz="1400" dirty="0"/>
              <a:t>SAP mandated enablement of Transport Correction Instructions(TCI) framework to verify system conversion conflict for SAP S/4 HANA 1909 EM</a:t>
            </a:r>
          </a:p>
          <a:p>
            <a:pPr lvl="3"/>
            <a:r>
              <a:rPr lang="en-US" sz="1400" dirty="0">
                <a:solidFill>
                  <a:srgbClr val="575757"/>
                </a:solidFill>
              </a:rPr>
              <a:t>4.1 To enable TCI follow the instructions in SAP note 2187425. Complete the setup of TCI as per the configuration guide given in the note and complete the implementation of SAP note 2187425 and then Implement notes 2502552 and 2399707.</a:t>
            </a:r>
          </a:p>
          <a:p>
            <a:pPr lvl="3"/>
            <a:r>
              <a:rPr lang="en-US" sz="1400" dirty="0">
                <a:solidFill>
                  <a:srgbClr val="575757"/>
                </a:solidFill>
              </a:rPr>
              <a:t>The Summary of Steps:</a:t>
            </a:r>
          </a:p>
          <a:p>
            <a:pPr marL="640080" lvl="4" indent="-342900">
              <a:spcAft>
                <a:spcPts val="600"/>
              </a:spcAft>
              <a:buFont typeface="+mj-lt"/>
              <a:buAutoNum type="arabicPeriod"/>
            </a:pPr>
            <a:r>
              <a:rPr lang="en-US" dirty="0">
                <a:solidFill>
                  <a:srgbClr val="575757"/>
                </a:solidFill>
              </a:rPr>
              <a:t>Read Note 2502552  and Enable TCI in the system.</a:t>
            </a:r>
          </a:p>
          <a:p>
            <a:pPr marL="640080" lvl="4" indent="-342900">
              <a:spcAft>
                <a:spcPts val="600"/>
              </a:spcAft>
              <a:buFont typeface="+mj-lt"/>
              <a:buAutoNum type="arabicPeriod"/>
            </a:pPr>
            <a:r>
              <a:rPr lang="en-US" dirty="0">
                <a:solidFill>
                  <a:srgbClr val="575757"/>
                </a:solidFill>
              </a:rPr>
              <a:t>Complete Manual Steps in Note 2399707.</a:t>
            </a:r>
          </a:p>
          <a:p>
            <a:pPr marL="640080" lvl="4" indent="-342900">
              <a:spcAft>
                <a:spcPts val="600"/>
              </a:spcAft>
              <a:buFont typeface="+mj-lt"/>
              <a:buAutoNum type="arabicPeriod"/>
            </a:pPr>
            <a:r>
              <a:rPr lang="en-US" dirty="0">
                <a:solidFill>
                  <a:srgbClr val="575757"/>
                </a:solidFill>
              </a:rPr>
              <a:t>download the Notes 2502552 and 2399707 from SAP One Support Launchpad and </a:t>
            </a:r>
          </a:p>
          <a:p>
            <a:pPr marL="640080" lvl="4" indent="-342900">
              <a:spcAft>
                <a:spcPts val="600"/>
              </a:spcAft>
              <a:buFont typeface="+mj-lt"/>
              <a:buAutoNum type="arabicPeriod"/>
            </a:pPr>
            <a:r>
              <a:rPr lang="en-US" dirty="0">
                <a:solidFill>
                  <a:srgbClr val="575757"/>
                </a:solidFill>
              </a:rPr>
              <a:t>Uploaded the SAR file in SNOTE transaction? And then Implement it.</a:t>
            </a:r>
          </a:p>
          <a:p>
            <a:pPr marL="457200" indent="-457200">
              <a:buAutoNum type="arabicParenR"/>
            </a:pPr>
            <a:r>
              <a:rPr lang="en-US" sz="1400" dirty="0"/>
              <a:t>For Finance Check we need to implement below Notes. These notes will be Implemented automatically when the TR is imported.</a:t>
            </a:r>
          </a:p>
          <a:p>
            <a:pPr lvl="3"/>
            <a:r>
              <a:rPr lang="en-US" sz="1400" dirty="0">
                <a:solidFill>
                  <a:srgbClr val="575757"/>
                </a:solidFill>
              </a:rPr>
              <a:t>5.1 For RASFIN_MIGR_PRECHEC Program Implement  SAP Note 1939592, then implement 2092736, 1958713, 2023763 and 1958020 for documentation.</a:t>
            </a:r>
          </a:p>
          <a:p>
            <a:pPr lvl="3"/>
            <a:r>
              <a:rPr lang="en-US" sz="1400" dirty="0">
                <a:solidFill>
                  <a:srgbClr val="575757"/>
                </a:solidFill>
              </a:rPr>
              <a:t>5.2 SAP Note 2129306 implemented for Program FINS_MIG_PRECHECK_CUST_SETTNGS, Pre requisite note is 2240666.</a:t>
            </a:r>
          </a:p>
          <a:p>
            <a:pPr lvl="3"/>
            <a:r>
              <a:rPr lang="en-US" sz="1400" dirty="0">
                <a:solidFill>
                  <a:srgbClr val="575757"/>
                </a:solidFill>
              </a:rPr>
              <a:t>5.3 for Program FINS_PRE_CHECK_SFIN_1605 and FINS_PRE_CHECK_SFIN_1509 implement SAP Note 2176077.</a:t>
            </a:r>
          </a:p>
          <a:p>
            <a:pPr lvl="3"/>
            <a:endParaRPr lang="en-US" dirty="0"/>
          </a:p>
        </p:txBody>
      </p:sp>
    </p:spTree>
    <p:extLst>
      <p:ext uri="{BB962C8B-B14F-4D97-AF65-F5344CB8AC3E}">
        <p14:creationId xmlns:p14="http://schemas.microsoft.com/office/powerpoint/2010/main" val="938847063"/>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16_9_Onscreen">
  <a:themeElements>
    <a:clrScheme name="DeloitteDigital">
      <a:dk1>
        <a:sysClr val="windowText" lastClr="000000"/>
      </a:dk1>
      <a:lt1>
        <a:srgbClr val="FFFFFF"/>
      </a:lt1>
      <a:dk2>
        <a:srgbClr val="000000"/>
      </a:dk2>
      <a:lt2>
        <a:srgbClr val="FFFFFF"/>
      </a:lt2>
      <a:accent1>
        <a:srgbClr val="000000"/>
      </a:accent1>
      <a:accent2>
        <a:srgbClr val="81BC00"/>
      </a:accent2>
      <a:accent3>
        <a:srgbClr val="BDD203"/>
      </a:accent3>
      <a:accent4>
        <a:srgbClr val="DCDCDC"/>
      </a:accent4>
      <a:accent5>
        <a:srgbClr val="B4B4B4"/>
      </a:accent5>
      <a:accent6>
        <a:srgbClr val="8C8C8C"/>
      </a:accent6>
      <a:hlink>
        <a:srgbClr val="0070C0"/>
      </a:hlink>
      <a:folHlink>
        <a:srgbClr val="7030A0"/>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US 16_9_Onscreen.potx" id="{82E929E5-07E3-4FFC-922B-1DC2D1592D72}" vid="{34A8941C-3B27-4420-B6D1-6520D4ABD31E}"/>
    </a:ext>
  </a:extLst>
</a:theme>
</file>

<file path=ppt/theme/theme2.xml><?xml version="1.0" encoding="utf-8"?>
<a:theme xmlns:a="http://schemas.openxmlformats.org/drawingml/2006/main" name="1_Deloitte_16_9_Onscreen">
  <a:themeElements>
    <a:clrScheme name="Deloitte US Color1">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US 16_9_Onscreen.potx" id="{82E929E5-07E3-4FFC-922B-1DC2D1592D72}" vid="{34A8941C-3B27-4420-B6D1-6520D4ABD31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Deloitte_16_9_Onscreen</Template>
  <TotalTime>968</TotalTime>
  <Words>337</Words>
  <Application>Microsoft Office PowerPoint</Application>
  <PresentationFormat>Widescreen</PresentationFormat>
  <Paragraphs>50</Paragraphs>
  <Slides>3</Slides>
  <Notes>3</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2</vt:i4>
      </vt:variant>
      <vt:variant>
        <vt:lpstr>Slide Titles</vt:lpstr>
      </vt:variant>
      <vt:variant>
        <vt:i4>3</vt:i4>
      </vt:variant>
    </vt:vector>
  </HeadingPairs>
  <TitlesOfParts>
    <vt:vector size="11" baseType="lpstr">
      <vt:lpstr>Arial</vt:lpstr>
      <vt:lpstr>Calibri</vt:lpstr>
      <vt:lpstr>Lucida Grande</vt:lpstr>
      <vt:lpstr>Verdana</vt:lpstr>
      <vt:lpstr>Deloitte_16_9_Onscreen</vt:lpstr>
      <vt:lpstr>1_Deloitte_16_9_Onscreen</vt:lpstr>
      <vt:lpstr>think-cell Slide</vt:lpstr>
      <vt:lpstr>Document</vt:lpstr>
      <vt:lpstr>Headline Verdana Bold</vt:lpstr>
      <vt:lpstr>PowerPoint Presentation</vt:lpstr>
      <vt:lpstr>PowerPoint Presentation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creator>Mills, Duncan (AU - Melbourne)</dc:creator>
  <cp:lastModifiedBy>Kandakatla, Kiran Kumar</cp:lastModifiedBy>
  <cp:revision>184</cp:revision>
  <cp:lastPrinted>2014-06-25T02:16:22Z</cp:lastPrinted>
  <dcterms:created xsi:type="dcterms:W3CDTF">2016-09-21T05:09:53Z</dcterms:created>
  <dcterms:modified xsi:type="dcterms:W3CDTF">2020-02-04T15:40:41Z</dcterms:modified>
</cp:coreProperties>
</file>