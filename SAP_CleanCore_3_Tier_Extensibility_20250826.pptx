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442" r:id="rId2"/>
    <p:sldId id="463" r:id="rId3"/>
    <p:sldId id="443" r:id="rId4"/>
    <p:sldId id="444" r:id="rId5"/>
    <p:sldId id="466" r:id="rId6"/>
    <p:sldId id="445" r:id="rId7"/>
    <p:sldId id="446" r:id="rId8"/>
    <p:sldId id="447" r:id="rId9"/>
    <p:sldId id="448" r:id="rId10"/>
    <p:sldId id="449" r:id="rId11"/>
    <p:sldId id="450" r:id="rId12"/>
    <p:sldId id="2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263A2A-8973-405F-B80C-C1D1E5F34B3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IN"/>
        </a:p>
      </dgm:t>
    </dgm:pt>
    <dgm:pt modelId="{A42027B9-F9D8-485F-A2D6-F6492A795DE5}">
      <dgm:prSet phldrT="[Text]"/>
      <dgm:spPr/>
      <dgm:t>
        <a:bodyPr/>
        <a:lstStyle/>
        <a:p>
          <a:pPr>
            <a:lnSpc>
              <a:spcPct val="100000"/>
            </a:lnSpc>
          </a:pPr>
          <a:r>
            <a:rPr lang="en-IN" b="0" i="0"/>
            <a:t>Agility (speed of innovation)</a:t>
          </a:r>
          <a:endParaRPr lang="en-IN"/>
        </a:p>
      </dgm:t>
    </dgm:pt>
    <dgm:pt modelId="{8209CDAB-3FA4-4FB7-8F85-0B9E223CBA0D}" type="parTrans" cxnId="{4660062C-8564-4B88-977A-661E53EEB711}">
      <dgm:prSet/>
      <dgm:spPr/>
      <dgm:t>
        <a:bodyPr/>
        <a:lstStyle/>
        <a:p>
          <a:endParaRPr lang="en-IN"/>
        </a:p>
      </dgm:t>
    </dgm:pt>
    <dgm:pt modelId="{C130E53D-0224-4D25-9880-5D2043B549F9}" type="sibTrans" cxnId="{4660062C-8564-4B88-977A-661E53EEB711}">
      <dgm:prSet/>
      <dgm:spPr/>
      <dgm:t>
        <a:bodyPr/>
        <a:lstStyle/>
        <a:p>
          <a:endParaRPr lang="en-IN"/>
        </a:p>
      </dgm:t>
    </dgm:pt>
    <dgm:pt modelId="{5E7A2090-F3F8-4A29-89E5-1004C20B0A77}">
      <dgm:prSet phldrT="[Text]"/>
      <dgm:spPr/>
      <dgm:t>
        <a:bodyPr/>
        <a:lstStyle/>
        <a:p>
          <a:pPr>
            <a:lnSpc>
              <a:spcPct val="100000"/>
            </a:lnSpc>
          </a:pPr>
          <a:r>
            <a:rPr lang="en-IN" b="0" i="0" dirty="0"/>
            <a:t>Stability (upgrade safety)</a:t>
          </a:r>
          <a:endParaRPr lang="en-IN" dirty="0"/>
        </a:p>
      </dgm:t>
    </dgm:pt>
    <dgm:pt modelId="{14EECD60-D0FD-40F4-B23A-899C9F986753}" type="parTrans" cxnId="{018C58B7-4464-478D-B1AA-FF31661A7CE5}">
      <dgm:prSet/>
      <dgm:spPr/>
      <dgm:t>
        <a:bodyPr/>
        <a:lstStyle/>
        <a:p>
          <a:endParaRPr lang="en-IN"/>
        </a:p>
      </dgm:t>
    </dgm:pt>
    <dgm:pt modelId="{69FF264B-D9F1-4CC9-B49D-BAE807669F7E}" type="sibTrans" cxnId="{018C58B7-4464-478D-B1AA-FF31661A7CE5}">
      <dgm:prSet/>
      <dgm:spPr/>
      <dgm:t>
        <a:bodyPr/>
        <a:lstStyle/>
        <a:p>
          <a:endParaRPr lang="en-IN"/>
        </a:p>
      </dgm:t>
    </dgm:pt>
    <dgm:pt modelId="{56927362-9CF5-45AE-8E13-D50E7B8DBA44}">
      <dgm:prSet phldrT="[Text]"/>
      <dgm:spPr/>
      <dgm:t>
        <a:bodyPr/>
        <a:lstStyle/>
        <a:p>
          <a:pPr>
            <a:lnSpc>
              <a:spcPct val="100000"/>
            </a:lnSpc>
          </a:pPr>
          <a:r>
            <a:rPr lang="en-IN" b="0" i="0"/>
            <a:t>Scalability (cloud-readiness)</a:t>
          </a:r>
          <a:endParaRPr lang="en-IN"/>
        </a:p>
      </dgm:t>
    </dgm:pt>
    <dgm:pt modelId="{B300E4ED-4567-4283-B039-A0FD86042D33}" type="parTrans" cxnId="{6EFC933C-EC66-42F7-A662-9B67C7A5B3D3}">
      <dgm:prSet/>
      <dgm:spPr/>
      <dgm:t>
        <a:bodyPr/>
        <a:lstStyle/>
        <a:p>
          <a:endParaRPr lang="en-IN"/>
        </a:p>
      </dgm:t>
    </dgm:pt>
    <dgm:pt modelId="{4724F471-E546-4C7E-86EE-9DF7D5674F09}" type="sibTrans" cxnId="{6EFC933C-EC66-42F7-A662-9B67C7A5B3D3}">
      <dgm:prSet/>
      <dgm:spPr/>
      <dgm:t>
        <a:bodyPr/>
        <a:lstStyle/>
        <a:p>
          <a:endParaRPr lang="en-IN"/>
        </a:p>
      </dgm:t>
    </dgm:pt>
    <dgm:pt modelId="{FEE31189-F5A3-484C-AFC1-FF068E51373C}" type="pres">
      <dgm:prSet presAssocID="{45263A2A-8973-405F-B80C-C1D1E5F34B39}" presName="root" presStyleCnt="0">
        <dgm:presLayoutVars>
          <dgm:dir/>
          <dgm:resizeHandles val="exact"/>
        </dgm:presLayoutVars>
      </dgm:prSet>
      <dgm:spPr/>
    </dgm:pt>
    <dgm:pt modelId="{9C2EF554-E3F8-4452-B76F-1E76A45A381D}" type="pres">
      <dgm:prSet presAssocID="{A42027B9-F9D8-485F-A2D6-F6492A795DE5}" presName="compNode" presStyleCnt="0"/>
      <dgm:spPr/>
    </dgm:pt>
    <dgm:pt modelId="{42DD8ADF-80D9-431D-9E8F-DEA9E5F8BD96}" type="pres">
      <dgm:prSet presAssocID="{A42027B9-F9D8-485F-A2D6-F6492A795DE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opwatch"/>
        </a:ext>
      </dgm:extLst>
    </dgm:pt>
    <dgm:pt modelId="{0C517A6A-2CCE-4DA6-B424-EB7A1E7BEEFD}" type="pres">
      <dgm:prSet presAssocID="{A42027B9-F9D8-485F-A2D6-F6492A795DE5}" presName="spaceRect" presStyleCnt="0"/>
      <dgm:spPr/>
    </dgm:pt>
    <dgm:pt modelId="{4FA1CCC7-58BD-484C-8F4E-1702D7B7164F}" type="pres">
      <dgm:prSet presAssocID="{A42027B9-F9D8-485F-A2D6-F6492A795DE5}" presName="textRect" presStyleLbl="revTx" presStyleIdx="0" presStyleCnt="3">
        <dgm:presLayoutVars>
          <dgm:chMax val="1"/>
          <dgm:chPref val="1"/>
        </dgm:presLayoutVars>
      </dgm:prSet>
      <dgm:spPr/>
    </dgm:pt>
    <dgm:pt modelId="{762282DE-F3CA-49EC-BF16-8A096042A79B}" type="pres">
      <dgm:prSet presAssocID="{C130E53D-0224-4D25-9880-5D2043B549F9}" presName="sibTrans" presStyleCnt="0"/>
      <dgm:spPr/>
    </dgm:pt>
    <dgm:pt modelId="{06D72010-1B53-4F89-B5F0-FA1E5D55A028}" type="pres">
      <dgm:prSet presAssocID="{5E7A2090-F3F8-4A29-89E5-1004C20B0A77}" presName="compNode" presStyleCnt="0"/>
      <dgm:spPr/>
    </dgm:pt>
    <dgm:pt modelId="{09FF4C33-2828-42B5-9052-BDBEF8DCF5B6}" type="pres">
      <dgm:prSet presAssocID="{5E7A2090-F3F8-4A29-89E5-1004C20B0A7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igh Voltage"/>
        </a:ext>
      </dgm:extLst>
    </dgm:pt>
    <dgm:pt modelId="{0226381C-C01F-4971-A87C-555983BE7744}" type="pres">
      <dgm:prSet presAssocID="{5E7A2090-F3F8-4A29-89E5-1004C20B0A77}" presName="spaceRect" presStyleCnt="0"/>
      <dgm:spPr/>
    </dgm:pt>
    <dgm:pt modelId="{222CFB95-8B32-4D5D-95EC-E6079A41017E}" type="pres">
      <dgm:prSet presAssocID="{5E7A2090-F3F8-4A29-89E5-1004C20B0A77}" presName="textRect" presStyleLbl="revTx" presStyleIdx="1" presStyleCnt="3">
        <dgm:presLayoutVars>
          <dgm:chMax val="1"/>
          <dgm:chPref val="1"/>
        </dgm:presLayoutVars>
      </dgm:prSet>
      <dgm:spPr/>
    </dgm:pt>
    <dgm:pt modelId="{71C7908D-A716-494D-9410-C033C744E0D2}" type="pres">
      <dgm:prSet presAssocID="{69FF264B-D9F1-4CC9-B49D-BAE807669F7E}" presName="sibTrans" presStyleCnt="0"/>
      <dgm:spPr/>
    </dgm:pt>
    <dgm:pt modelId="{C76DB7F2-DBF9-4904-A362-CAE00C4C0857}" type="pres">
      <dgm:prSet presAssocID="{56927362-9CF5-45AE-8E13-D50E7B8DBA44}" presName="compNode" presStyleCnt="0"/>
      <dgm:spPr/>
    </dgm:pt>
    <dgm:pt modelId="{C7A72FF0-49CC-4D2E-88C6-34EFBD655E0E}" type="pres">
      <dgm:prSet presAssocID="{56927362-9CF5-45AE-8E13-D50E7B8DBA4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yncing Cloud"/>
        </a:ext>
      </dgm:extLst>
    </dgm:pt>
    <dgm:pt modelId="{DE5AF1DC-0C2A-423B-9761-D2D325931D7E}" type="pres">
      <dgm:prSet presAssocID="{56927362-9CF5-45AE-8E13-D50E7B8DBA44}" presName="spaceRect" presStyleCnt="0"/>
      <dgm:spPr/>
    </dgm:pt>
    <dgm:pt modelId="{1C050CB9-E1E3-4601-835B-71DE2EA53C8A}" type="pres">
      <dgm:prSet presAssocID="{56927362-9CF5-45AE-8E13-D50E7B8DBA44}" presName="textRect" presStyleLbl="revTx" presStyleIdx="2" presStyleCnt="3">
        <dgm:presLayoutVars>
          <dgm:chMax val="1"/>
          <dgm:chPref val="1"/>
        </dgm:presLayoutVars>
      </dgm:prSet>
      <dgm:spPr/>
    </dgm:pt>
  </dgm:ptLst>
  <dgm:cxnLst>
    <dgm:cxn modelId="{EFC31A0D-E08F-4359-BE84-4EE70AA9FA28}" type="presOf" srcId="{56927362-9CF5-45AE-8E13-D50E7B8DBA44}" destId="{1C050CB9-E1E3-4601-835B-71DE2EA53C8A}" srcOrd="0" destOrd="0" presId="urn:microsoft.com/office/officeart/2018/2/layout/IconLabelList"/>
    <dgm:cxn modelId="{4660062C-8564-4B88-977A-661E53EEB711}" srcId="{45263A2A-8973-405F-B80C-C1D1E5F34B39}" destId="{A42027B9-F9D8-485F-A2D6-F6492A795DE5}" srcOrd="0" destOrd="0" parTransId="{8209CDAB-3FA4-4FB7-8F85-0B9E223CBA0D}" sibTransId="{C130E53D-0224-4D25-9880-5D2043B549F9}"/>
    <dgm:cxn modelId="{94317337-B7D0-46F5-A191-6A2C974195D9}" type="presOf" srcId="{5E7A2090-F3F8-4A29-89E5-1004C20B0A77}" destId="{222CFB95-8B32-4D5D-95EC-E6079A41017E}" srcOrd="0" destOrd="0" presId="urn:microsoft.com/office/officeart/2018/2/layout/IconLabelList"/>
    <dgm:cxn modelId="{6EFC933C-EC66-42F7-A662-9B67C7A5B3D3}" srcId="{45263A2A-8973-405F-B80C-C1D1E5F34B39}" destId="{56927362-9CF5-45AE-8E13-D50E7B8DBA44}" srcOrd="2" destOrd="0" parTransId="{B300E4ED-4567-4283-B039-A0FD86042D33}" sibTransId="{4724F471-E546-4C7E-86EE-9DF7D5674F09}"/>
    <dgm:cxn modelId="{891CACB5-0F51-4796-A0F1-5213094F425E}" type="presOf" srcId="{A42027B9-F9D8-485F-A2D6-F6492A795DE5}" destId="{4FA1CCC7-58BD-484C-8F4E-1702D7B7164F}" srcOrd="0" destOrd="0" presId="urn:microsoft.com/office/officeart/2018/2/layout/IconLabelList"/>
    <dgm:cxn modelId="{018C58B7-4464-478D-B1AA-FF31661A7CE5}" srcId="{45263A2A-8973-405F-B80C-C1D1E5F34B39}" destId="{5E7A2090-F3F8-4A29-89E5-1004C20B0A77}" srcOrd="1" destOrd="0" parTransId="{14EECD60-D0FD-40F4-B23A-899C9F986753}" sibTransId="{69FF264B-D9F1-4CC9-B49D-BAE807669F7E}"/>
    <dgm:cxn modelId="{242513D5-5326-4666-B878-9D068E6C36A7}" type="presOf" srcId="{45263A2A-8973-405F-B80C-C1D1E5F34B39}" destId="{FEE31189-F5A3-484C-AFC1-FF068E51373C}" srcOrd="0" destOrd="0" presId="urn:microsoft.com/office/officeart/2018/2/layout/IconLabelList"/>
    <dgm:cxn modelId="{D67B3691-2A8F-4B87-AD13-C64FB72116E6}" type="presParOf" srcId="{FEE31189-F5A3-484C-AFC1-FF068E51373C}" destId="{9C2EF554-E3F8-4452-B76F-1E76A45A381D}" srcOrd="0" destOrd="0" presId="urn:microsoft.com/office/officeart/2018/2/layout/IconLabelList"/>
    <dgm:cxn modelId="{F4DB8598-C4BA-44D0-AF2D-53CA459EB49C}" type="presParOf" srcId="{9C2EF554-E3F8-4452-B76F-1E76A45A381D}" destId="{42DD8ADF-80D9-431D-9E8F-DEA9E5F8BD96}" srcOrd="0" destOrd="0" presId="urn:microsoft.com/office/officeart/2018/2/layout/IconLabelList"/>
    <dgm:cxn modelId="{2A4B2B9C-43E0-4943-9348-20EF4E11ECF0}" type="presParOf" srcId="{9C2EF554-E3F8-4452-B76F-1E76A45A381D}" destId="{0C517A6A-2CCE-4DA6-B424-EB7A1E7BEEFD}" srcOrd="1" destOrd="0" presId="urn:microsoft.com/office/officeart/2018/2/layout/IconLabelList"/>
    <dgm:cxn modelId="{40CE69ED-E922-4265-AA44-27C3C55C1610}" type="presParOf" srcId="{9C2EF554-E3F8-4452-B76F-1E76A45A381D}" destId="{4FA1CCC7-58BD-484C-8F4E-1702D7B7164F}" srcOrd="2" destOrd="0" presId="urn:microsoft.com/office/officeart/2018/2/layout/IconLabelList"/>
    <dgm:cxn modelId="{B987C4EE-48B8-4914-A364-39699BACD458}" type="presParOf" srcId="{FEE31189-F5A3-484C-AFC1-FF068E51373C}" destId="{762282DE-F3CA-49EC-BF16-8A096042A79B}" srcOrd="1" destOrd="0" presId="urn:microsoft.com/office/officeart/2018/2/layout/IconLabelList"/>
    <dgm:cxn modelId="{517F091C-6B6C-4CB1-8710-B8139C58C86A}" type="presParOf" srcId="{FEE31189-F5A3-484C-AFC1-FF068E51373C}" destId="{06D72010-1B53-4F89-B5F0-FA1E5D55A028}" srcOrd="2" destOrd="0" presId="urn:microsoft.com/office/officeart/2018/2/layout/IconLabelList"/>
    <dgm:cxn modelId="{449D7530-7F2E-4F96-8DB4-2AD456D2D74E}" type="presParOf" srcId="{06D72010-1B53-4F89-B5F0-FA1E5D55A028}" destId="{09FF4C33-2828-42B5-9052-BDBEF8DCF5B6}" srcOrd="0" destOrd="0" presId="urn:microsoft.com/office/officeart/2018/2/layout/IconLabelList"/>
    <dgm:cxn modelId="{132ECF38-C4A8-4E35-90D6-196B210332F9}" type="presParOf" srcId="{06D72010-1B53-4F89-B5F0-FA1E5D55A028}" destId="{0226381C-C01F-4971-A87C-555983BE7744}" srcOrd="1" destOrd="0" presId="urn:microsoft.com/office/officeart/2018/2/layout/IconLabelList"/>
    <dgm:cxn modelId="{AF7B7277-E9B9-4323-A764-FAA482FF371D}" type="presParOf" srcId="{06D72010-1B53-4F89-B5F0-FA1E5D55A028}" destId="{222CFB95-8B32-4D5D-95EC-E6079A41017E}" srcOrd="2" destOrd="0" presId="urn:microsoft.com/office/officeart/2018/2/layout/IconLabelList"/>
    <dgm:cxn modelId="{713980EE-6D3E-4171-BF57-B970C120F238}" type="presParOf" srcId="{FEE31189-F5A3-484C-AFC1-FF068E51373C}" destId="{71C7908D-A716-494D-9410-C033C744E0D2}" srcOrd="3" destOrd="0" presId="urn:microsoft.com/office/officeart/2018/2/layout/IconLabelList"/>
    <dgm:cxn modelId="{87EC4492-37AC-466D-A2E7-31586B39E3B3}" type="presParOf" srcId="{FEE31189-F5A3-484C-AFC1-FF068E51373C}" destId="{C76DB7F2-DBF9-4904-A362-CAE00C4C0857}" srcOrd="4" destOrd="0" presId="urn:microsoft.com/office/officeart/2018/2/layout/IconLabelList"/>
    <dgm:cxn modelId="{5D838318-7C85-4B36-B0AA-65DB768FE02C}" type="presParOf" srcId="{C76DB7F2-DBF9-4904-A362-CAE00C4C0857}" destId="{C7A72FF0-49CC-4D2E-88C6-34EFBD655E0E}" srcOrd="0" destOrd="0" presId="urn:microsoft.com/office/officeart/2018/2/layout/IconLabelList"/>
    <dgm:cxn modelId="{B833F77A-AB77-4D31-A8DB-AC2738F81048}" type="presParOf" srcId="{C76DB7F2-DBF9-4904-A362-CAE00C4C0857}" destId="{DE5AF1DC-0C2A-423B-9761-D2D325931D7E}" srcOrd="1" destOrd="0" presId="urn:microsoft.com/office/officeart/2018/2/layout/IconLabelList"/>
    <dgm:cxn modelId="{726F596D-3E9F-49A6-8CDC-FB5CB7A29CFA}" type="presParOf" srcId="{C76DB7F2-DBF9-4904-A362-CAE00C4C0857}" destId="{1C050CB9-E1E3-4601-835B-71DE2EA53C8A}"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DD8ADF-80D9-431D-9E8F-DEA9E5F8BD96}">
      <dsp:nvSpPr>
        <dsp:cNvPr id="0" name=""/>
        <dsp:cNvSpPr/>
      </dsp:nvSpPr>
      <dsp:spPr>
        <a:xfrm>
          <a:off x="997468" y="228143"/>
          <a:ext cx="778359" cy="7783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A1CCC7-58BD-484C-8F4E-1702D7B7164F}">
      <dsp:nvSpPr>
        <dsp:cNvPr id="0" name=""/>
        <dsp:cNvSpPr/>
      </dsp:nvSpPr>
      <dsp:spPr>
        <a:xfrm>
          <a:off x="521804" y="1267583"/>
          <a:ext cx="1729687" cy="69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IN" sz="1700" b="0" i="0" kern="1200"/>
            <a:t>Agility (speed of innovation)</a:t>
          </a:r>
          <a:endParaRPr lang="en-IN" sz="1700" kern="1200"/>
        </a:p>
      </dsp:txBody>
      <dsp:txXfrm>
        <a:off x="521804" y="1267583"/>
        <a:ext cx="1729687" cy="691875"/>
      </dsp:txXfrm>
    </dsp:sp>
    <dsp:sp modelId="{09FF4C33-2828-42B5-9052-BDBEF8DCF5B6}">
      <dsp:nvSpPr>
        <dsp:cNvPr id="0" name=""/>
        <dsp:cNvSpPr/>
      </dsp:nvSpPr>
      <dsp:spPr>
        <a:xfrm>
          <a:off x="3029851" y="228143"/>
          <a:ext cx="778359" cy="7783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2CFB95-8B32-4D5D-95EC-E6079A41017E}">
      <dsp:nvSpPr>
        <dsp:cNvPr id="0" name=""/>
        <dsp:cNvSpPr/>
      </dsp:nvSpPr>
      <dsp:spPr>
        <a:xfrm>
          <a:off x="2554187" y="1267583"/>
          <a:ext cx="1729687" cy="69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IN" sz="1700" b="0" i="0" kern="1200" dirty="0"/>
            <a:t>Stability (upgrade safety)</a:t>
          </a:r>
          <a:endParaRPr lang="en-IN" sz="1700" kern="1200" dirty="0"/>
        </a:p>
      </dsp:txBody>
      <dsp:txXfrm>
        <a:off x="2554187" y="1267583"/>
        <a:ext cx="1729687" cy="691875"/>
      </dsp:txXfrm>
    </dsp:sp>
    <dsp:sp modelId="{C7A72FF0-49CC-4D2E-88C6-34EFBD655E0E}">
      <dsp:nvSpPr>
        <dsp:cNvPr id="0" name=""/>
        <dsp:cNvSpPr/>
      </dsp:nvSpPr>
      <dsp:spPr>
        <a:xfrm>
          <a:off x="2013660" y="2391879"/>
          <a:ext cx="778359" cy="7783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050CB9-E1E3-4601-835B-71DE2EA53C8A}">
      <dsp:nvSpPr>
        <dsp:cNvPr id="0" name=""/>
        <dsp:cNvSpPr/>
      </dsp:nvSpPr>
      <dsp:spPr>
        <a:xfrm>
          <a:off x="1537996" y="3431319"/>
          <a:ext cx="1729687" cy="69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IN" sz="1700" b="0" i="0" kern="1200"/>
            <a:t>Scalability (cloud-readiness)</a:t>
          </a:r>
          <a:endParaRPr lang="en-IN" sz="1700" kern="1200"/>
        </a:p>
      </dsp:txBody>
      <dsp:txXfrm>
        <a:off x="1537996" y="3431319"/>
        <a:ext cx="1729687" cy="69187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C0FDA5-75A5-4F75-8FAC-80953EA150FC}"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96543-156C-45E5-9605-89256097DDA3}" type="slidenum">
              <a:rPr lang="en-US" smtClean="0"/>
              <a:t>‹#›</a:t>
            </a:fld>
            <a:endParaRPr lang="en-US"/>
          </a:p>
        </p:txBody>
      </p:sp>
    </p:spTree>
    <p:extLst>
      <p:ext uri="{BB962C8B-B14F-4D97-AF65-F5344CB8AC3E}">
        <p14:creationId xmlns:p14="http://schemas.microsoft.com/office/powerpoint/2010/main" val="809072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57329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D96543-156C-45E5-9605-89256097DDA3}" type="slidenum">
              <a:rPr lang="en-US" smtClean="0"/>
              <a:t>2</a:t>
            </a:fld>
            <a:endParaRPr lang="en-US"/>
          </a:p>
        </p:txBody>
      </p:sp>
    </p:spTree>
    <p:extLst>
      <p:ext uri="{BB962C8B-B14F-4D97-AF65-F5344CB8AC3E}">
        <p14:creationId xmlns:p14="http://schemas.microsoft.com/office/powerpoint/2010/main" val="1043714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D96543-156C-45E5-9605-89256097DDA3}" type="slidenum">
              <a:rPr lang="en-US" smtClean="0"/>
              <a:t>3</a:t>
            </a:fld>
            <a:endParaRPr lang="en-US"/>
          </a:p>
        </p:txBody>
      </p:sp>
    </p:spTree>
    <p:extLst>
      <p:ext uri="{BB962C8B-B14F-4D97-AF65-F5344CB8AC3E}">
        <p14:creationId xmlns:p14="http://schemas.microsoft.com/office/powerpoint/2010/main" val="1475274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D96543-156C-45E5-9605-89256097DDA3}" type="slidenum">
              <a:rPr lang="en-US" smtClean="0"/>
              <a:t>4</a:t>
            </a:fld>
            <a:endParaRPr lang="en-US"/>
          </a:p>
        </p:txBody>
      </p:sp>
    </p:spTree>
    <p:extLst>
      <p:ext uri="{BB962C8B-B14F-4D97-AF65-F5344CB8AC3E}">
        <p14:creationId xmlns:p14="http://schemas.microsoft.com/office/powerpoint/2010/main" val="293774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FDF99-779B-A370-0877-22D084AEC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72D955-F0A8-4F8D-3E74-0F81320E70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2AAE0-815C-E629-81A6-CB6AA57C7C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F5A585-0F12-B13F-03ED-CB73C7C19C39}"/>
              </a:ext>
            </a:extLst>
          </p:cNvPr>
          <p:cNvSpPr>
            <a:spLocks noGrp="1"/>
          </p:cNvSpPr>
          <p:nvPr>
            <p:ph type="sldNum" sz="quarter" idx="5"/>
          </p:nvPr>
        </p:nvSpPr>
        <p:spPr/>
        <p:txBody>
          <a:bodyPr/>
          <a:lstStyle/>
          <a:p>
            <a:fld id="{D6D96543-156C-45E5-9605-89256097DDA3}" type="slidenum">
              <a:rPr lang="en-US" smtClean="0"/>
              <a:t>5</a:t>
            </a:fld>
            <a:endParaRPr lang="en-US"/>
          </a:p>
        </p:txBody>
      </p:sp>
    </p:spTree>
    <p:extLst>
      <p:ext uri="{BB962C8B-B14F-4D97-AF65-F5344CB8AC3E}">
        <p14:creationId xmlns:p14="http://schemas.microsoft.com/office/powerpoint/2010/main" val="2769734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Ease of Upgrade</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Upgrades become simpler and faster because fewer custom changes mean fewer conflicts and less rework during SAP updates.</a:t>
            </a:r>
          </a:p>
          <a:p>
            <a:r>
              <a:rPr lang="en-IN" sz="1200" kern="1200" dirty="0">
                <a:solidFill>
                  <a:schemeClr val="tx1"/>
                </a:solidFill>
                <a:effectLst/>
                <a:latin typeface="+mn-lt"/>
                <a:ea typeface="+mn-ea"/>
                <a:cs typeface="+mn-cs"/>
              </a:rPr>
              <a:t>Maintenance is easier, with reduced system downtime and fewer unexpected errors caused by legacy code.</a:t>
            </a:r>
          </a:p>
          <a:p>
            <a:r>
              <a:rPr lang="en-IN" sz="1200" kern="1200" dirty="0">
                <a:solidFill>
                  <a:schemeClr val="tx1"/>
                </a:solidFill>
                <a:effectLst/>
                <a:latin typeface="+mn-lt"/>
                <a:ea typeface="+mn-ea"/>
                <a:cs typeface="+mn-cs"/>
              </a:rPr>
              <a:t> </a:t>
            </a:r>
          </a:p>
          <a:p>
            <a:r>
              <a:rPr lang="en-IN" sz="1200" b="1" kern="1200" dirty="0">
                <a:solidFill>
                  <a:schemeClr val="tx1"/>
                </a:solidFill>
                <a:effectLst/>
                <a:latin typeface="+mn-lt"/>
                <a:ea typeface="+mn-ea"/>
                <a:cs typeface="+mn-cs"/>
              </a:rPr>
              <a:t>Faster Innovation and Agility</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Organizations can more rapidly adopt new SAP features, security patches, and cloud innovations, staying future-ready and competitive.</a:t>
            </a:r>
          </a:p>
          <a:p>
            <a:r>
              <a:rPr lang="en-IN" sz="1200" kern="1200" dirty="0">
                <a:solidFill>
                  <a:schemeClr val="tx1"/>
                </a:solidFill>
                <a:effectLst/>
                <a:latin typeface="+mn-lt"/>
                <a:ea typeface="+mn-ea"/>
                <a:cs typeface="+mn-cs"/>
              </a:rPr>
              <a:t> </a:t>
            </a:r>
          </a:p>
          <a:p>
            <a:r>
              <a:rPr lang="en-IN" sz="1200" b="1" kern="1200" dirty="0">
                <a:solidFill>
                  <a:schemeClr val="tx1"/>
                </a:solidFill>
                <a:effectLst/>
                <a:latin typeface="+mn-lt"/>
                <a:ea typeface="+mn-ea"/>
                <a:cs typeface="+mn-cs"/>
              </a:rPr>
              <a:t>Lower Technical Debt and Costs</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Fewer customizations decrease long-term maintenance and support expenditure, reducing total cost of ownership (TCO).</a:t>
            </a:r>
          </a:p>
          <a:p>
            <a:r>
              <a:rPr lang="en-IN" sz="1200" kern="1200" dirty="0">
                <a:solidFill>
                  <a:schemeClr val="tx1"/>
                </a:solidFill>
                <a:effectLst/>
                <a:latin typeface="+mn-lt"/>
                <a:ea typeface="+mn-ea"/>
                <a:cs typeface="+mn-cs"/>
              </a:rPr>
              <a:t>IT teams spend less time and resources managing custom code, freeing focus for value-added activities.</a:t>
            </a:r>
          </a:p>
          <a:p>
            <a:endParaRPr lang="en-IN" dirty="0"/>
          </a:p>
        </p:txBody>
      </p:sp>
      <p:sp>
        <p:nvSpPr>
          <p:cNvPr id="4" name="Slide Number Placeholder 3"/>
          <p:cNvSpPr>
            <a:spLocks noGrp="1"/>
          </p:cNvSpPr>
          <p:nvPr>
            <p:ph type="sldNum" sz="quarter" idx="5"/>
          </p:nvPr>
        </p:nvSpPr>
        <p:spPr/>
        <p:txBody>
          <a:bodyPr/>
          <a:lstStyle/>
          <a:p>
            <a:fld id="{D6D96543-156C-45E5-9605-89256097DDA3}" type="slidenum">
              <a:rPr lang="en-US" smtClean="0"/>
              <a:t>6</a:t>
            </a:fld>
            <a:endParaRPr lang="en-US"/>
          </a:p>
        </p:txBody>
      </p:sp>
    </p:spTree>
    <p:extLst>
      <p:ext uri="{BB962C8B-B14F-4D97-AF65-F5344CB8AC3E}">
        <p14:creationId xmlns:p14="http://schemas.microsoft.com/office/powerpoint/2010/main" val="119833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D96543-156C-45E5-9605-89256097DDA3}" type="slidenum">
              <a:rPr lang="en-US" smtClean="0"/>
              <a:t>7</a:t>
            </a:fld>
            <a:endParaRPr lang="en-US"/>
          </a:p>
        </p:txBody>
      </p:sp>
    </p:spTree>
    <p:extLst>
      <p:ext uri="{BB962C8B-B14F-4D97-AF65-F5344CB8AC3E}">
        <p14:creationId xmlns:p14="http://schemas.microsoft.com/office/powerpoint/2010/main" val="2443320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D96543-156C-45E5-9605-89256097DDA3}" type="slidenum">
              <a:rPr lang="en-US" smtClean="0"/>
              <a:t>9</a:t>
            </a:fld>
            <a:endParaRPr lang="en-US"/>
          </a:p>
        </p:txBody>
      </p:sp>
    </p:spTree>
    <p:extLst>
      <p:ext uri="{BB962C8B-B14F-4D97-AF65-F5344CB8AC3E}">
        <p14:creationId xmlns:p14="http://schemas.microsoft.com/office/powerpoint/2010/main" val="2729401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82694" y="9166720"/>
            <a:ext cx="185948" cy="200055"/>
          </a:xfrm>
          <a:prstGeom prst="rect">
            <a:avLst/>
          </a:prstGeom>
          <a:noFill/>
          <a:ln w="9525">
            <a:noFill/>
            <a:miter lim="800000"/>
            <a:headEnd/>
            <a:tailEnd/>
          </a:ln>
        </p:spPr>
        <p:txBody>
          <a:bodyPr wrap="none" lIns="0" tIns="0" rIns="0" bIns="0" anchor="b">
            <a:spAutoFit/>
          </a:bodyPr>
          <a:lstStyle/>
          <a:p>
            <a:pPr algn="l" defTabSz="664909">
              <a:spcBef>
                <a:spcPct val="0"/>
              </a:spcBef>
            </a:pPr>
            <a:fld id="{C48ED56A-DF9C-45A7-8469-0591366F9524}" type="slidenum">
              <a:rPr lang="en-GB" sz="1300" b="0"/>
              <a:pPr algn="l" defTabSz="664909">
                <a:spcBef>
                  <a:spcPct val="0"/>
                </a:spcBef>
              </a:pPr>
              <a:t>12</a:t>
            </a:fld>
            <a:endParaRPr lang="en-GB" sz="1300" b="0"/>
          </a:p>
        </p:txBody>
      </p:sp>
      <p:sp>
        <p:nvSpPr>
          <p:cNvPr id="66565" name="Rectangle 5"/>
          <p:cNvSpPr>
            <a:spLocks noGrp="1" noRot="1" noChangeAspect="1" noTextEdit="1"/>
          </p:cNvSpPr>
          <p:nvPr>
            <p:ph type="sldImg"/>
          </p:nvPr>
        </p:nvSpPr>
        <p:spPr bwMode="auto">
          <a:noFill/>
          <a:ln>
            <a:solidFill>
              <a:srgbClr val="000000"/>
            </a:solidFill>
            <a:miter lim="800000"/>
            <a:headEnd/>
            <a:tailEnd/>
          </a:ln>
        </p:spPr>
      </p:sp>
      <p:sp>
        <p:nvSpPr>
          <p:cNvPr id="66566" name="Rectangle 6"/>
          <p:cNvSpPr>
            <a:spLocks noGrp="1"/>
          </p:cNvSpPr>
          <p:nvPr>
            <p:ph type="body" idx="1"/>
          </p:nvPr>
        </p:nvSpPr>
        <p:spPr>
          <a:xfrm>
            <a:off x="729828" y="4561227"/>
            <a:ext cx="5855547" cy="169277"/>
          </a:xfrm>
        </p:spPr>
        <p:txBody>
          <a:bodyPr/>
          <a:lstStyle/>
          <a:p>
            <a:endParaRPr lang="en-US"/>
          </a:p>
        </p:txBody>
      </p:sp>
      <p:sp>
        <p:nvSpPr>
          <p:cNvPr id="3" name="Slide Number Placeholder 2"/>
          <p:cNvSpPr>
            <a:spLocks noGrp="1"/>
          </p:cNvSpPr>
          <p:nvPr>
            <p:ph type="sldNum" sz="quarter" idx="10"/>
          </p:nvPr>
        </p:nvSpPr>
        <p:spPr/>
        <p:txBody>
          <a:bodyPr/>
          <a:lstStyle/>
          <a:p>
            <a:fld id="{F6715F80-3722-40A8-A13B-913CAEEA0A98}" type="slidenum">
              <a:rPr lang="en-GB" smtClean="0"/>
              <a:pPr/>
              <a:t>12</a:t>
            </a:fld>
            <a:endParaRPr lang="en-GB"/>
          </a:p>
        </p:txBody>
      </p:sp>
    </p:spTree>
    <p:extLst>
      <p:ext uri="{BB962C8B-B14F-4D97-AF65-F5344CB8AC3E}">
        <p14:creationId xmlns:p14="http://schemas.microsoft.com/office/powerpoint/2010/main" val="2682733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2527-588E-C579-3A2A-F7B0435EF1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EBC0AD-E796-124D-B4C6-E24FD865A0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301A63-27E8-3AE1-AFF1-4D0E0ADC0EEB}"/>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5" name="Footer Placeholder 4">
            <a:extLst>
              <a:ext uri="{FF2B5EF4-FFF2-40B4-BE49-F238E27FC236}">
                <a16:creationId xmlns:a16="http://schemas.microsoft.com/office/drawing/2014/main" id="{8547DCC4-A7AF-5D17-DD3D-17E99979F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E69BFC-2507-2F11-F336-245F63F8469C}"/>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3834924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95F78-2E31-ADCB-FE77-A201BEB46C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C6FF69-9E81-5165-CA85-43F53265E6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61C93-35E6-3DC3-9998-E6613F4C2C8F}"/>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5" name="Footer Placeholder 4">
            <a:extLst>
              <a:ext uri="{FF2B5EF4-FFF2-40B4-BE49-F238E27FC236}">
                <a16:creationId xmlns:a16="http://schemas.microsoft.com/office/drawing/2014/main" id="{F7E7F992-9917-359F-5CFA-B28443B20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13DAF1-68A8-8317-C153-B21384159C2D}"/>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923360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03B3D-B688-7A1E-FB02-E9040B6773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A13B80-9766-3239-ECF0-98914F8C05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07387F-81FD-4EE1-59B3-5D9A4C466F5F}"/>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5" name="Footer Placeholder 4">
            <a:extLst>
              <a:ext uri="{FF2B5EF4-FFF2-40B4-BE49-F238E27FC236}">
                <a16:creationId xmlns:a16="http://schemas.microsoft.com/office/drawing/2014/main" id="{4D3EBDEE-2C16-B222-FDA2-5AB58C26E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6957CF-A5C1-411B-CD9C-29C743A2A26F}"/>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2996375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3EE36-B8A1-E3F9-4FF8-4EF370A3CE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941B50-19E6-E441-4A0B-781697A1D1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60C5E9-DE9B-3E9E-9221-B8596FBEFB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B94F5F-881E-D0E1-F393-F3CE113B25BE}"/>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6" name="Footer Placeholder 5">
            <a:extLst>
              <a:ext uri="{FF2B5EF4-FFF2-40B4-BE49-F238E27FC236}">
                <a16:creationId xmlns:a16="http://schemas.microsoft.com/office/drawing/2014/main" id="{59A992C8-1B0A-8C27-FB6B-7592CA77C2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EC4AF8-B1DD-3317-B9A6-1C696C50DB43}"/>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3462501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0B828-675D-A7A4-ED66-A868C38583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E7AE02-A7A6-A8D9-767F-166307C50A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9904B1-BCD8-9A99-D7E8-D3E8B48306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0FC4FD-FC2F-3FDD-99D2-4F4B5E3A70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01F24C-6DC4-0686-AAC2-5574DED1DC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5B5EE1-3A30-BFE3-B454-90F0C830621E}"/>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8" name="Footer Placeholder 7">
            <a:extLst>
              <a:ext uri="{FF2B5EF4-FFF2-40B4-BE49-F238E27FC236}">
                <a16:creationId xmlns:a16="http://schemas.microsoft.com/office/drawing/2014/main" id="{FD033FF3-9D0F-47A0-5003-03AADC9BDB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579F6B-C939-9B62-B9B9-F398BB6FE3CB}"/>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1096443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094F9-77EC-AD23-8759-0B8CDF395C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840056-423D-B6D1-5A7B-C274F2D1CF1F}"/>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4" name="Footer Placeholder 3">
            <a:extLst>
              <a:ext uri="{FF2B5EF4-FFF2-40B4-BE49-F238E27FC236}">
                <a16:creationId xmlns:a16="http://schemas.microsoft.com/office/drawing/2014/main" id="{824C1BD4-8F0A-72EC-38E6-1EC7E0F97F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111780-8C3C-4A48-49A6-FFADF4C9578A}"/>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4263562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28F23-6D5C-B609-6484-2122958A0BEF}"/>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3" name="Footer Placeholder 2">
            <a:extLst>
              <a:ext uri="{FF2B5EF4-FFF2-40B4-BE49-F238E27FC236}">
                <a16:creationId xmlns:a16="http://schemas.microsoft.com/office/drawing/2014/main" id="{F83346B9-A4C0-651D-9D73-59B485BD9D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9EA475-6770-1BB2-F714-19BBEA1D7A8A}"/>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1072436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1235B-C92C-778A-2CC1-8AE94A5DD6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4E7AEE-C035-91AA-B44E-883543942D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9CD696-3D1D-0720-FA11-DACB94C0D1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761213-A60C-0F50-83EA-B3BDEB6A8721}"/>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6" name="Footer Placeholder 5">
            <a:extLst>
              <a:ext uri="{FF2B5EF4-FFF2-40B4-BE49-F238E27FC236}">
                <a16:creationId xmlns:a16="http://schemas.microsoft.com/office/drawing/2014/main" id="{FF7AADBA-7C9D-2EA7-EC36-AB17397606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2A1734-EB57-93D2-845E-A61DFBB93395}"/>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3377675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400B0-4FB5-E632-29AB-33B59A4985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CDF7A9-518C-626F-3634-A6F96B91C1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8B2808-D51D-ADAF-E726-C13AA6A9F5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1C2B98-F41A-78B1-4182-A4EE78D6166E}"/>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6" name="Footer Placeholder 5">
            <a:extLst>
              <a:ext uri="{FF2B5EF4-FFF2-40B4-BE49-F238E27FC236}">
                <a16:creationId xmlns:a16="http://schemas.microsoft.com/office/drawing/2014/main" id="{07734CE8-35F8-098F-AA43-2481F3CE96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BEF5FC-74C3-7BA5-64C7-EA8B4528E5EF}"/>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2543177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85DF4-64F5-A5B8-0216-41FF5049B5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AC3665-75FC-3F76-DC6C-CA2786FC20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075A2-63DD-5D0A-85DF-4A6BAD8383E3}"/>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5" name="Footer Placeholder 4">
            <a:extLst>
              <a:ext uri="{FF2B5EF4-FFF2-40B4-BE49-F238E27FC236}">
                <a16:creationId xmlns:a16="http://schemas.microsoft.com/office/drawing/2014/main" id="{BB33E7C3-277C-0BC7-EAEE-51CDB377C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40EC99-9D8B-9EBB-7202-1FA1D63BB1D3}"/>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3448607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B26252-09D9-AC1E-E258-B695A7A50C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C016CE-F742-B253-0787-3DE3C90CBF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EB837C-D036-5641-E954-298191633EA0}"/>
              </a:ext>
            </a:extLst>
          </p:cNvPr>
          <p:cNvSpPr>
            <a:spLocks noGrp="1"/>
          </p:cNvSpPr>
          <p:nvPr>
            <p:ph type="dt" sz="half" idx="10"/>
          </p:nvPr>
        </p:nvSpPr>
        <p:spPr/>
        <p:txBody>
          <a:bodyPr/>
          <a:lstStyle/>
          <a:p>
            <a:fld id="{A0E45979-D409-47D5-9E88-6CC903B04E5A}" type="datetimeFigureOut">
              <a:rPr lang="en-US" smtClean="0"/>
              <a:t>8/26/2025</a:t>
            </a:fld>
            <a:endParaRPr lang="en-US"/>
          </a:p>
        </p:txBody>
      </p:sp>
      <p:sp>
        <p:nvSpPr>
          <p:cNvPr id="5" name="Footer Placeholder 4">
            <a:extLst>
              <a:ext uri="{FF2B5EF4-FFF2-40B4-BE49-F238E27FC236}">
                <a16:creationId xmlns:a16="http://schemas.microsoft.com/office/drawing/2014/main" id="{06997A6A-9151-D194-A668-879CD22B4E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2E0475-9FD1-3F92-C544-0C2A51C25DC2}"/>
              </a:ext>
            </a:extLst>
          </p:cNvPr>
          <p:cNvSpPr>
            <a:spLocks noGrp="1"/>
          </p:cNvSpPr>
          <p:nvPr>
            <p:ph type="sldNum" sz="quarter" idx="12"/>
          </p:nvPr>
        </p:nvSpPr>
        <p:spPr/>
        <p:txBody>
          <a:bodyPr/>
          <a:lstStyle/>
          <a:p>
            <a:fld id="{55403D63-B0F7-4215-9988-148906F33C95}" type="slidenum">
              <a:rPr lang="en-US" smtClean="0"/>
              <a:t>‹#›</a:t>
            </a:fld>
            <a:endParaRPr lang="en-US"/>
          </a:p>
        </p:txBody>
      </p:sp>
    </p:spTree>
    <p:extLst>
      <p:ext uri="{BB962C8B-B14F-4D97-AF65-F5344CB8AC3E}">
        <p14:creationId xmlns:p14="http://schemas.microsoft.com/office/powerpoint/2010/main" val="32515128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Black">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0660912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3793068" y="3032126"/>
            <a:ext cx="4601633" cy="790575"/>
          </a:xfrm>
          <a:prstGeom prst="rect">
            <a:avLst/>
          </a:prstGeom>
          <a:noFill/>
          <a:ln w="9525">
            <a:noFill/>
            <a:miter lim="800000"/>
            <a:headEnd/>
            <a:tailEnd/>
          </a:ln>
        </p:spPr>
      </p:pic>
      <p:sp>
        <p:nvSpPr>
          <p:cNvPr id="3" name="Text Placeholder 5"/>
          <p:cNvSpPr>
            <a:spLocks noGrp="1"/>
          </p:cNvSpPr>
          <p:nvPr>
            <p:ph type="body" sz="quarter" idx="10"/>
          </p:nvPr>
        </p:nvSpPr>
        <p:spPr bwMode="gray">
          <a:xfrm>
            <a:off x="536448" y="5458968"/>
            <a:ext cx="6583680" cy="1152144"/>
          </a:xfrm>
        </p:spPr>
        <p:txBody>
          <a:bodyPr anchor="b" anchorCtr="0">
            <a:noAutofit/>
          </a:bodyPr>
          <a:lstStyle>
            <a:lvl1pPr>
              <a:lnSpc>
                <a:spcPts val="800"/>
              </a:lnSpc>
              <a:spcBef>
                <a:spcPts val="400"/>
              </a:spcBef>
              <a:spcAft>
                <a:spcPts val="400"/>
              </a:spcAft>
              <a:defRPr sz="700"/>
            </a:lvl1pPr>
          </a:lstStyle>
          <a:p>
            <a:pPr lvl="0"/>
            <a:r>
              <a:rPr lang="en-US"/>
              <a:t>Click to edit Master text styles</a:t>
            </a:r>
          </a:p>
        </p:txBody>
      </p:sp>
    </p:spTree>
    <p:extLst>
      <p:ext uri="{BB962C8B-B14F-4D97-AF65-F5344CB8AC3E}">
        <p14:creationId xmlns:p14="http://schemas.microsoft.com/office/powerpoint/2010/main" val="265592404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F26B38-ED54-C707-0175-CC8F4B0943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081EF5-4D8A-B514-B2A2-BACBD9FD56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E86EDB-A756-6326-BA06-311347CAC8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E45979-D409-47D5-9E88-6CC903B04E5A}" type="datetimeFigureOut">
              <a:rPr lang="en-US" smtClean="0"/>
              <a:t>8/26/2025</a:t>
            </a:fld>
            <a:endParaRPr lang="en-US"/>
          </a:p>
        </p:txBody>
      </p:sp>
      <p:sp>
        <p:nvSpPr>
          <p:cNvPr id="5" name="Footer Placeholder 4">
            <a:extLst>
              <a:ext uri="{FF2B5EF4-FFF2-40B4-BE49-F238E27FC236}">
                <a16:creationId xmlns:a16="http://schemas.microsoft.com/office/drawing/2014/main" id="{01BEDFEF-7A21-19A3-CC14-97BE4505AF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861E32-4A98-9698-5553-F453CC38DF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403D63-B0F7-4215-9988-148906F33C95}" type="slidenum">
              <a:rPr lang="en-US" smtClean="0"/>
              <a:t>‹#›</a:t>
            </a:fld>
            <a:endParaRPr lang="en-US"/>
          </a:p>
        </p:txBody>
      </p:sp>
    </p:spTree>
    <p:extLst>
      <p:ext uri="{BB962C8B-B14F-4D97-AF65-F5344CB8AC3E}">
        <p14:creationId xmlns:p14="http://schemas.microsoft.com/office/powerpoint/2010/main" val="3154761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ommunity.sap.com/t5/technology-blog-posts-by-sap/abap-extensibility-guide-clean-core-for-sap-s-4hana-cloud-august-2025/ba-p/14175399" TargetMode="External"/><Relationship Id="rId2" Type="http://schemas.openxmlformats.org/officeDocument/2006/relationships/hyperlink" Target="https://me.sap.com/notes/3578329" TargetMode="External"/><Relationship Id="rId1" Type="http://schemas.openxmlformats.org/officeDocument/2006/relationships/slideLayout" Target="../slideLayouts/slideLayout2.xml"/><Relationship Id="rId4" Type="http://schemas.openxmlformats.org/officeDocument/2006/relationships/hyperlink" Target="https://www.sap.com/documents/2024/09/20aece06-d87e-0010-bca6-c68f7e60039b.ht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www.deloitte.com/about"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hyperlink" Target="http://www.deloitte.com/us/abou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9A40E202-D37F-4FA8-82FB-20DA95C2575A}"/>
              </a:ext>
            </a:extLst>
          </p:cNvPr>
          <p:cNvSpPr>
            <a:spLocks noGrp="1"/>
          </p:cNvSpPr>
          <p:nvPr>
            <p:ph type="subTitle" idx="1"/>
          </p:nvPr>
        </p:nvSpPr>
        <p:spPr>
          <a:xfrm>
            <a:off x="475200" y="5623355"/>
            <a:ext cx="5592011" cy="505645"/>
          </a:xfrm>
        </p:spPr>
        <p:txBody>
          <a:bodyPr/>
          <a:lstStyle/>
          <a:p>
            <a:r>
              <a:rPr lang="en-US" sz="2800" dirty="0"/>
              <a:t>SAP 3-Tier Extensibility Model</a:t>
            </a:r>
          </a:p>
        </p:txBody>
      </p:sp>
      <p:sp>
        <p:nvSpPr>
          <p:cNvPr id="12" name="Text Placeholder 4"/>
          <p:cNvSpPr>
            <a:spLocks noGrp="1"/>
          </p:cNvSpPr>
          <p:nvPr>
            <p:ph type="body" sz="quarter" idx="10"/>
          </p:nvPr>
        </p:nvSpPr>
        <p:spPr>
          <a:xfrm>
            <a:off x="10094689" y="6362699"/>
            <a:ext cx="1847376" cy="294133"/>
          </a:xfrm>
        </p:spPr>
        <p:txBody>
          <a:bodyPr/>
          <a:lstStyle/>
          <a:p>
            <a:pPr marL="0" indent="0">
              <a:buNone/>
            </a:pPr>
            <a:r>
              <a:rPr lang="en-US" noProof="0" dirty="0"/>
              <a:t>Deloitte Consulting LLP</a:t>
            </a:r>
          </a:p>
        </p:txBody>
      </p:sp>
      <p:pic>
        <p:nvPicPr>
          <p:cNvPr id="9" name="Picture Placeholder 8">
            <a:extLst>
              <a:ext uri="{FF2B5EF4-FFF2-40B4-BE49-F238E27FC236}">
                <a16:creationId xmlns:a16="http://schemas.microsoft.com/office/drawing/2014/main" id="{35C13028-3154-401C-868E-0725508DBD0D}"/>
              </a:ext>
            </a:extLst>
          </p:cNvPr>
          <p:cNvPicPr>
            <a:picLocks noGrp="1" noChangeAspect="1"/>
          </p:cNvPicPr>
          <p:nvPr>
            <p:ph type="pic" sz="quarter" idx="11"/>
          </p:nvPr>
        </p:nvPicPr>
        <p:blipFill rotWithShape="1">
          <a:blip r:embed="rId3"/>
          <a:srcRect l="-12641" t="-8657" r="-12641" b="-8657"/>
          <a:stretch/>
        </p:blipFill>
        <p:spPr>
          <a:xfrm>
            <a:off x="3367211" y="729000"/>
            <a:ext cx="5400000" cy="5400000"/>
          </a:xfrm>
        </p:spPr>
      </p:pic>
    </p:spTree>
    <p:extLst>
      <p:ext uri="{BB962C8B-B14F-4D97-AF65-F5344CB8AC3E}">
        <p14:creationId xmlns:p14="http://schemas.microsoft.com/office/powerpoint/2010/main" val="28393703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26CB5B5-53BC-5CDF-BBA4-B27A1FCB27E3}"/>
              </a:ext>
            </a:extLst>
          </p:cNvPr>
          <p:cNvSpPr>
            <a:spLocks noGrp="1"/>
          </p:cNvSpPr>
          <p:nvPr>
            <p:ph type="title"/>
          </p:nvPr>
        </p:nvSpPr>
        <p:spPr>
          <a:xfrm>
            <a:off x="1115568" y="548640"/>
            <a:ext cx="10168128" cy="1179576"/>
          </a:xfrm>
        </p:spPr>
        <p:txBody>
          <a:bodyPr>
            <a:normAutofit/>
          </a:bodyPr>
          <a:lstStyle/>
          <a:p>
            <a:r>
              <a:rPr lang="en-US" sz="4000" b="1"/>
              <a:t>Agenda</a:t>
            </a:r>
            <a:endParaRPr lang="en-IN" sz="4000" b="1"/>
          </a:p>
        </p:txBody>
      </p:sp>
      <p:sp>
        <p:nvSpPr>
          <p:cNvPr id="23" name="Rectangle 2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FBFA0FD-540E-0600-BB31-213BE9F3B4D7}"/>
              </a:ext>
            </a:extLst>
          </p:cNvPr>
          <p:cNvSpPr>
            <a:spLocks noGrp="1"/>
          </p:cNvSpPr>
          <p:nvPr>
            <p:ph idx="1"/>
          </p:nvPr>
        </p:nvSpPr>
        <p:spPr>
          <a:xfrm>
            <a:off x="1115568" y="2481943"/>
            <a:ext cx="10168128" cy="3695020"/>
          </a:xfrm>
        </p:spPr>
        <p:txBody>
          <a:bodyPr>
            <a:normAutofit/>
          </a:bodyPr>
          <a:lstStyle/>
          <a:p>
            <a:pPr marL="514350" indent="-514350">
              <a:buFont typeface="+mj-lt"/>
              <a:buAutoNum type="arabicPeriod"/>
            </a:pPr>
            <a:r>
              <a:rPr lang="en-US" sz="2200" dirty="0"/>
              <a:t>Conventional Extensions in SAP &amp; issues</a:t>
            </a:r>
          </a:p>
          <a:p>
            <a:pPr marL="514350" indent="-514350">
              <a:buFont typeface="+mj-lt"/>
              <a:buAutoNum type="arabicPeriod"/>
            </a:pPr>
            <a:r>
              <a:rPr lang="en-US" sz="2200" dirty="0">
                <a:latin typeface="Arial" panose="020B0604020202020204" pitchFamily="34" charset="0"/>
              </a:rPr>
              <a:t>Clean Core Introduction</a:t>
            </a:r>
          </a:p>
          <a:p>
            <a:pPr marL="514350" indent="-514350">
              <a:buFont typeface="+mj-lt"/>
              <a:buAutoNum type="arabicPeriod"/>
            </a:pPr>
            <a:r>
              <a:rPr lang="en-US" sz="2200" dirty="0"/>
              <a:t>Benefits of Clean Core approach</a:t>
            </a:r>
          </a:p>
          <a:p>
            <a:pPr marL="514350" indent="-514350">
              <a:buFont typeface="+mj-lt"/>
              <a:buAutoNum type="arabicPeriod"/>
            </a:pPr>
            <a:r>
              <a:rPr lang="en-US" sz="2200" dirty="0"/>
              <a:t>Tier-1 ON-STACK</a:t>
            </a:r>
          </a:p>
          <a:p>
            <a:pPr marL="514350" indent="-514350">
              <a:buFont typeface="+mj-lt"/>
              <a:buAutoNum type="arabicPeriod"/>
            </a:pPr>
            <a:r>
              <a:rPr lang="en-US" sz="2200" dirty="0"/>
              <a:t>Tier-2</a:t>
            </a:r>
          </a:p>
          <a:p>
            <a:pPr marL="514350" indent="-514350">
              <a:buFont typeface="+mj-lt"/>
              <a:buAutoNum type="arabicPeriod"/>
            </a:pPr>
            <a:r>
              <a:rPr lang="en-US" sz="2200" dirty="0"/>
              <a:t>Tier-3</a:t>
            </a:r>
          </a:p>
          <a:p>
            <a:pPr marL="514350" indent="-514350">
              <a:buFont typeface="+mj-lt"/>
              <a:buAutoNum type="arabicPeriod"/>
            </a:pPr>
            <a:r>
              <a:rPr lang="en-US" sz="2200" dirty="0"/>
              <a:t>New Clean core extensibility guidelines</a:t>
            </a:r>
          </a:p>
          <a:p>
            <a:pPr marL="514350" indent="-514350">
              <a:buFont typeface="+mj-lt"/>
              <a:buAutoNum type="arabicPeriod"/>
            </a:pPr>
            <a:r>
              <a:rPr lang="en-US" sz="2200" dirty="0"/>
              <a:t>References</a:t>
            </a:r>
            <a:endParaRPr lang="en-IN" sz="2200" dirty="0"/>
          </a:p>
        </p:txBody>
      </p:sp>
    </p:spTree>
    <p:extLst>
      <p:ext uri="{BB962C8B-B14F-4D97-AF65-F5344CB8AC3E}">
        <p14:creationId xmlns:p14="http://schemas.microsoft.com/office/powerpoint/2010/main" val="3537457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DA30F809-7A78-0455-E621-2960D6E74858}"/>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a:t>Conventional Extensions in SAP &amp; issues</a:t>
            </a:r>
          </a:p>
        </p:txBody>
      </p:sp>
      <p:sp>
        <p:nvSpPr>
          <p:cNvPr id="20" name="Rectangle 19">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0C874EF7-11C5-40DC-931F-42ED44390A79}"/>
              </a:ext>
            </a:extLst>
          </p:cNvPr>
          <p:cNvPicPr>
            <a:picLocks noChangeAspect="1"/>
          </p:cNvPicPr>
          <p:nvPr/>
        </p:nvPicPr>
        <p:blipFill>
          <a:blip r:embed="rId3"/>
          <a:srcRect t="1255" r="2" b="2"/>
          <a:stretch>
            <a:fillRect/>
          </a:stretch>
        </p:blipFill>
        <p:spPr>
          <a:xfrm>
            <a:off x="908304" y="2478024"/>
            <a:ext cx="6009855" cy="3694176"/>
          </a:xfrm>
          <a:prstGeom prst="rect">
            <a:avLst/>
          </a:prstGeom>
        </p:spPr>
      </p:pic>
      <p:sp>
        <p:nvSpPr>
          <p:cNvPr id="7" name="TextBox 6">
            <a:extLst>
              <a:ext uri="{FF2B5EF4-FFF2-40B4-BE49-F238E27FC236}">
                <a16:creationId xmlns:a16="http://schemas.microsoft.com/office/drawing/2014/main" id="{B8C1CF30-98AF-4784-9454-B10725AEFA0E}"/>
              </a:ext>
            </a:extLst>
          </p:cNvPr>
          <p:cNvSpPr txBox="1"/>
          <p:nvPr/>
        </p:nvSpPr>
        <p:spPr>
          <a:xfrm>
            <a:off x="7411453" y="2478024"/>
            <a:ext cx="3872243" cy="369417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dirty="0"/>
              <a:t>In SAP ABAP development, data is retrieved from the database layer, processed in the application layer using ABAP logic, and then displayed to users through the presentation layer. This three-tier structure ensures that data handling, business logic, and user interface are clearly separated, making SAP applications efficient and maintainable.</a:t>
            </a:r>
          </a:p>
        </p:txBody>
      </p:sp>
    </p:spTree>
    <p:extLst>
      <p:ext uri="{BB962C8B-B14F-4D97-AF65-F5344CB8AC3E}">
        <p14:creationId xmlns:p14="http://schemas.microsoft.com/office/powerpoint/2010/main" val="1688906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C9948D1-FB4F-0D59-F062-3628B2DE1545}"/>
              </a:ext>
            </a:extLst>
          </p:cNvPr>
          <p:cNvSpPr>
            <a:spLocks noGrp="1"/>
          </p:cNvSpPr>
          <p:nvPr>
            <p:ph type="title"/>
          </p:nvPr>
        </p:nvSpPr>
        <p:spPr>
          <a:xfrm>
            <a:off x="1046746" y="586822"/>
            <a:ext cx="3560252" cy="1645920"/>
          </a:xfrm>
        </p:spPr>
        <p:txBody>
          <a:bodyPr>
            <a:normAutofit/>
          </a:bodyPr>
          <a:lstStyle/>
          <a:p>
            <a:r>
              <a:rPr lang="en-US" sz="3200" b="1">
                <a:latin typeface="Arial" panose="020B0604020202020204" pitchFamily="34" charset="0"/>
              </a:rPr>
              <a:t>Clean Core Introduction</a:t>
            </a:r>
            <a:endParaRPr lang="en-US" sz="3200"/>
          </a:p>
        </p:txBody>
      </p:sp>
      <p:sp>
        <p:nvSpPr>
          <p:cNvPr id="17" name="Rectangle 16">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9" name="Rectangle 18">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3A80B2A-30C3-BAB8-2756-A82D7ABA7766}"/>
              </a:ext>
            </a:extLst>
          </p:cNvPr>
          <p:cNvSpPr>
            <a:spLocks noGrp="1"/>
          </p:cNvSpPr>
          <p:nvPr>
            <p:ph idx="1"/>
          </p:nvPr>
        </p:nvSpPr>
        <p:spPr>
          <a:xfrm>
            <a:off x="5351164" y="586822"/>
            <a:ext cx="6002636" cy="1645920"/>
          </a:xfrm>
        </p:spPr>
        <p:txBody>
          <a:bodyPr anchor="ctr">
            <a:normAutofit/>
          </a:bodyPr>
          <a:lstStyle/>
          <a:p>
            <a:pPr marL="0" indent="0">
              <a:buNone/>
            </a:pPr>
            <a:r>
              <a:rPr lang="en-US" sz="1800"/>
              <a:t>Clean core is a modern approach of designing business processes and extensions that are standardized and stable. If the business processes and data underlying ERP operations are standardized, the software can flexibly grow and evolve over time without causing any issues in the core system.</a:t>
            </a:r>
          </a:p>
        </p:txBody>
      </p:sp>
      <p:pic>
        <p:nvPicPr>
          <p:cNvPr id="8" name="Picture 7">
            <a:extLst>
              <a:ext uri="{FF2B5EF4-FFF2-40B4-BE49-F238E27FC236}">
                <a16:creationId xmlns:a16="http://schemas.microsoft.com/office/drawing/2014/main" id="{9D4A2E52-9FFA-AE5F-8500-0E186ED6E318}"/>
              </a:ext>
            </a:extLst>
          </p:cNvPr>
          <p:cNvPicPr>
            <a:picLocks noChangeAspect="1"/>
          </p:cNvPicPr>
          <p:nvPr/>
        </p:nvPicPr>
        <p:blipFill>
          <a:blip r:embed="rId3"/>
          <a:stretch>
            <a:fillRect/>
          </a:stretch>
        </p:blipFill>
        <p:spPr>
          <a:xfrm>
            <a:off x="1673703" y="2734056"/>
            <a:ext cx="8932985" cy="3483864"/>
          </a:xfrm>
          <a:prstGeom prst="rect">
            <a:avLst/>
          </a:prstGeom>
        </p:spPr>
      </p:pic>
    </p:spTree>
    <p:extLst>
      <p:ext uri="{BB962C8B-B14F-4D97-AF65-F5344CB8AC3E}">
        <p14:creationId xmlns:p14="http://schemas.microsoft.com/office/powerpoint/2010/main" val="2931792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A69593-B242-10B3-7DFA-C35AD137CAF1}"/>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23DD023-ED4C-F5B8-BFBD-8AF7546CAC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7FDCD69C-4293-A0E5-B6D1-9F37DD91E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4F52F10A-9FFC-D7EA-1502-D0C836AA6D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5C2A8237-DCF3-D629-83B5-D453A997DF3F}"/>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dirty="0"/>
              <a:t>Why Extensibility?</a:t>
            </a:r>
            <a:endParaRPr lang="en-US" sz="4000" b="1" dirty="0"/>
          </a:p>
        </p:txBody>
      </p:sp>
      <p:sp>
        <p:nvSpPr>
          <p:cNvPr id="20" name="Rectangle 19">
            <a:extLst>
              <a:ext uri="{FF2B5EF4-FFF2-40B4-BE49-F238E27FC236}">
                <a16:creationId xmlns:a16="http://schemas.microsoft.com/office/drawing/2014/main" id="{379400BA-3FA6-277B-F938-2D03D83E7C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12AD7613-E184-4AC4-6809-E1EB53A09F2F}"/>
              </a:ext>
            </a:extLst>
          </p:cNvPr>
          <p:cNvSpPr txBox="1"/>
          <p:nvPr/>
        </p:nvSpPr>
        <p:spPr>
          <a:xfrm>
            <a:off x="7411453" y="2478024"/>
            <a:ext cx="3872243" cy="3694176"/>
          </a:xfrm>
          <a:prstGeom prst="rect">
            <a:avLst/>
          </a:prstGeom>
        </p:spPr>
        <p:txBody>
          <a:bodyPr vert="horz" lIns="91440" tIns="45720" rIns="91440" bIns="45720" rtlCol="0" anchor="ctr">
            <a:normAutofit/>
          </a:bodyPr>
          <a:lstStyle/>
          <a:p>
            <a:pPr marL="285750" indent="-285750">
              <a:buFont typeface="Arial" panose="020B0604020202020204" pitchFamily="34" charset="0"/>
              <a:buChar char="•"/>
            </a:pPr>
            <a:r>
              <a:rPr lang="en-US" dirty="0"/>
              <a:t>Businesses need to adapt enterprise software to unique requirements.</a:t>
            </a:r>
          </a:p>
          <a:p>
            <a:pPr marL="285750" indent="-285750">
              <a:buFont typeface="Arial" panose="020B0604020202020204" pitchFamily="34" charset="0"/>
              <a:buChar char="•"/>
            </a:pPr>
            <a:r>
              <a:rPr lang="en-US" dirty="0"/>
              <a:t>SAP S/4HANA provides standard functionality + flexible extensibility framework.</a:t>
            </a:r>
          </a:p>
          <a:p>
            <a:pPr marL="285750" indent="-285750">
              <a:buFont typeface="Arial" panose="020B0604020202020204" pitchFamily="34" charset="0"/>
              <a:buChar char="•"/>
            </a:pPr>
            <a:r>
              <a:rPr lang="en-US" dirty="0"/>
              <a:t>Three-Tier Extensibility Model = structured approach to balance.</a:t>
            </a:r>
          </a:p>
          <a:p>
            <a:endParaRPr lang="en-IN" dirty="0"/>
          </a:p>
        </p:txBody>
      </p:sp>
      <p:graphicFrame>
        <p:nvGraphicFramePr>
          <p:cNvPr id="5" name="Diagram 4">
            <a:extLst>
              <a:ext uri="{FF2B5EF4-FFF2-40B4-BE49-F238E27FC236}">
                <a16:creationId xmlns:a16="http://schemas.microsoft.com/office/drawing/2014/main" id="{F9D4214E-94AC-4F89-2576-A441278145B4}"/>
              </a:ext>
            </a:extLst>
          </p:cNvPr>
          <p:cNvGraphicFramePr/>
          <p:nvPr>
            <p:extLst>
              <p:ext uri="{D42A27DB-BD31-4B8C-83A1-F6EECF244321}">
                <p14:modId xmlns:p14="http://schemas.microsoft.com/office/powerpoint/2010/main" val="4015447738"/>
              </p:ext>
            </p:extLst>
          </p:nvPr>
        </p:nvGraphicFramePr>
        <p:xfrm>
          <a:off x="1336252" y="2276856"/>
          <a:ext cx="480568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534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8D0AB3-AAEE-5069-BD46-3DF7BB497283}"/>
              </a:ext>
            </a:extLst>
          </p:cNvPr>
          <p:cNvSpPr>
            <a:spLocks noGrp="1"/>
          </p:cNvSpPr>
          <p:nvPr>
            <p:ph type="title"/>
          </p:nvPr>
        </p:nvSpPr>
        <p:spPr>
          <a:xfrm>
            <a:off x="838200" y="253397"/>
            <a:ext cx="10515600" cy="1273233"/>
          </a:xfrm>
        </p:spPr>
        <p:txBody>
          <a:bodyPr>
            <a:normAutofit/>
          </a:bodyPr>
          <a:lstStyle/>
          <a:p>
            <a:r>
              <a:rPr lang="en-US" sz="4000" b="1"/>
              <a:t>Benefits of Clean Core approach:</a:t>
            </a:r>
          </a:p>
        </p:txBody>
      </p:sp>
      <p:sp>
        <p:nvSpPr>
          <p:cNvPr id="25" name="Rectangle 24">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4A91199-D5FD-C8BE-A7E8-BD489C4BCC0C}"/>
              </a:ext>
            </a:extLst>
          </p:cNvPr>
          <p:cNvSpPr>
            <a:spLocks noGrp="1"/>
          </p:cNvSpPr>
          <p:nvPr>
            <p:ph idx="1"/>
          </p:nvPr>
        </p:nvSpPr>
        <p:spPr>
          <a:xfrm>
            <a:off x="838200" y="2478024"/>
            <a:ext cx="10515600" cy="3694176"/>
          </a:xfrm>
        </p:spPr>
        <p:txBody>
          <a:bodyPr>
            <a:normAutofit/>
          </a:bodyPr>
          <a:lstStyle/>
          <a:p>
            <a:pPr marL="0" indent="0">
              <a:buNone/>
            </a:pPr>
            <a:r>
              <a:rPr lang="en-US" sz="1500" b="1" dirty="0"/>
              <a:t>Benefits for customers are as follows:​</a:t>
            </a:r>
          </a:p>
          <a:p>
            <a:pPr marL="0" indent="0">
              <a:buNone/>
            </a:pPr>
            <a:endParaRPr lang="en-US" sz="1500" b="1" u="sng" dirty="0"/>
          </a:p>
          <a:p>
            <a:r>
              <a:rPr lang="en-US" sz="1500" dirty="0"/>
              <a:t>Ease of upgrade</a:t>
            </a:r>
          </a:p>
          <a:p>
            <a:r>
              <a:rPr lang="en-US" sz="1500" dirty="0"/>
              <a:t>Fast consumption of innovation and Agility</a:t>
            </a:r>
          </a:p>
          <a:p>
            <a:r>
              <a:rPr lang="en-US" sz="1500" dirty="0"/>
              <a:t>Lower Technical Debt and Costs</a:t>
            </a:r>
          </a:p>
          <a:p>
            <a:pPr marL="0" indent="0">
              <a:buNone/>
            </a:pPr>
            <a:endParaRPr lang="en-US" sz="1500" b="1" dirty="0"/>
          </a:p>
          <a:p>
            <a:pPr marL="0" indent="0">
              <a:buNone/>
            </a:pPr>
            <a:r>
              <a:rPr lang="en-US" sz="1500" b="1" dirty="0"/>
              <a:t>Benefits for partners are as follows:​</a:t>
            </a:r>
          </a:p>
          <a:p>
            <a:pPr marL="0" indent="0">
              <a:buNone/>
            </a:pPr>
            <a:endParaRPr lang="en-US" sz="1500" b="1" u="sng" dirty="0"/>
          </a:p>
          <a:p>
            <a:r>
              <a:rPr lang="en-US" sz="1500" dirty="0"/>
              <a:t>Future-proof and cloud-ready solutions.</a:t>
            </a:r>
          </a:p>
          <a:p>
            <a:r>
              <a:rPr lang="en-US" sz="1500" dirty="0"/>
              <a:t>Promoting fit-to-standard compliance with clean core modular innovation.​</a:t>
            </a:r>
          </a:p>
          <a:p>
            <a:r>
              <a:rPr lang="en-US" sz="1500" dirty="0"/>
              <a:t>Reduction of complexity with simplified consumption of out-of-the-box SAP solutions.</a:t>
            </a:r>
          </a:p>
          <a:p>
            <a:endParaRPr lang="en-US" sz="1500" dirty="0"/>
          </a:p>
        </p:txBody>
      </p:sp>
    </p:spTree>
    <p:extLst>
      <p:ext uri="{BB962C8B-B14F-4D97-AF65-F5344CB8AC3E}">
        <p14:creationId xmlns:p14="http://schemas.microsoft.com/office/powerpoint/2010/main" val="4020007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23">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23AEA25-D492-92AA-7CAB-37AF17E47B87}"/>
              </a:ext>
            </a:extLst>
          </p:cNvPr>
          <p:cNvSpPr>
            <a:spLocks noGrp="1"/>
          </p:cNvSpPr>
          <p:nvPr>
            <p:ph type="title"/>
          </p:nvPr>
        </p:nvSpPr>
        <p:spPr>
          <a:xfrm>
            <a:off x="838200" y="253397"/>
            <a:ext cx="10515600" cy="1273233"/>
          </a:xfrm>
        </p:spPr>
        <p:txBody>
          <a:bodyPr>
            <a:normAutofit/>
          </a:bodyPr>
          <a:lstStyle/>
          <a:p>
            <a:r>
              <a:rPr lang="en-US" sz="4000" b="1" dirty="0"/>
              <a:t>Tier-1 ON-STACK</a:t>
            </a:r>
            <a:r>
              <a:rPr lang="en-IN" sz="2400" dirty="0"/>
              <a:t>(Recommended First Choice)</a:t>
            </a:r>
            <a:endParaRPr lang="en-US" sz="2400" b="1" dirty="0"/>
          </a:p>
        </p:txBody>
      </p:sp>
      <p:sp>
        <p:nvSpPr>
          <p:cNvPr id="26" name="Rectangle 25">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717F3BD4-DEAB-3F35-71A3-D4099ACB1435}"/>
              </a:ext>
            </a:extLst>
          </p:cNvPr>
          <p:cNvSpPr>
            <a:spLocks noGrp="1"/>
          </p:cNvSpPr>
          <p:nvPr>
            <p:ph idx="1"/>
          </p:nvPr>
        </p:nvSpPr>
        <p:spPr>
          <a:xfrm>
            <a:off x="838200" y="2478024"/>
            <a:ext cx="10515600" cy="3694176"/>
          </a:xfrm>
        </p:spPr>
        <p:txBody>
          <a:bodyPr>
            <a:normAutofit fontScale="85000" lnSpcReduction="20000"/>
          </a:bodyPr>
          <a:lstStyle/>
          <a:p>
            <a:r>
              <a:rPr lang="en-US" sz="2000" dirty="0"/>
              <a:t>Cloud ready and upgrade stable developments.</a:t>
            </a:r>
          </a:p>
          <a:p>
            <a:r>
              <a:rPr lang="en-US" sz="2000" dirty="0"/>
              <a:t>Only approved ABAP Cloud object types supported.</a:t>
            </a:r>
          </a:p>
          <a:p>
            <a:r>
              <a:rPr lang="en-US" sz="2000" dirty="0"/>
              <a:t>Released APIs enforced via syntax checks.</a:t>
            </a:r>
          </a:p>
          <a:p>
            <a:r>
              <a:rPr lang="en-US" sz="2000" dirty="0"/>
              <a:t>Uses ABAP Development Tools (ADT) in Eclipse.</a:t>
            </a:r>
          </a:p>
          <a:p>
            <a:r>
              <a:rPr lang="en-US" sz="2000" dirty="0"/>
              <a:t>Available for both Public &amp; Private Edition customers.</a:t>
            </a:r>
          </a:p>
          <a:p>
            <a:pPr marL="0" indent="0">
              <a:buNone/>
            </a:pPr>
            <a:endParaRPr lang="en-US" sz="2000" dirty="0"/>
          </a:p>
          <a:p>
            <a:pPr marL="0" indent="0">
              <a:buNone/>
            </a:pPr>
            <a:r>
              <a:rPr lang="en-IN" sz="2000" b="1" u="sng" dirty="0"/>
              <a:t>Examples:</a:t>
            </a:r>
          </a:p>
          <a:p>
            <a:r>
              <a:rPr lang="en-IN" sz="2000" dirty="0"/>
              <a:t>Adding a custom field via CFL or released includes.</a:t>
            </a:r>
          </a:p>
          <a:p>
            <a:r>
              <a:rPr lang="en-IN" sz="2000" dirty="0"/>
              <a:t>Implementation of released BADI or utilizing released API</a:t>
            </a:r>
          </a:p>
          <a:p>
            <a:r>
              <a:rPr lang="en-IN" sz="2000" dirty="0"/>
              <a:t>Usage of application jobs Fiori application for job related requirements and its corresponding artifacts.</a:t>
            </a:r>
          </a:p>
          <a:p>
            <a:r>
              <a:rPr lang="en-IN" sz="2000" dirty="0"/>
              <a:t>Custom RAP side by side extension Interface developments.</a:t>
            </a:r>
          </a:p>
          <a:p>
            <a:r>
              <a:rPr lang="en-IN" sz="2000" dirty="0"/>
              <a:t>Complete custom CDS views.</a:t>
            </a:r>
          </a:p>
        </p:txBody>
      </p:sp>
    </p:spTree>
    <p:extLst>
      <p:ext uri="{BB962C8B-B14F-4D97-AF65-F5344CB8AC3E}">
        <p14:creationId xmlns:p14="http://schemas.microsoft.com/office/powerpoint/2010/main" val="2745654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9D84469-B4DC-A6C3-07C6-3A1BD8DC0A41}"/>
              </a:ext>
            </a:extLst>
          </p:cNvPr>
          <p:cNvSpPr>
            <a:spLocks noGrp="1"/>
          </p:cNvSpPr>
          <p:nvPr>
            <p:ph type="title"/>
          </p:nvPr>
        </p:nvSpPr>
        <p:spPr>
          <a:xfrm>
            <a:off x="1115568" y="548640"/>
            <a:ext cx="10168128" cy="1179576"/>
          </a:xfrm>
        </p:spPr>
        <p:txBody>
          <a:bodyPr>
            <a:normAutofit/>
          </a:bodyPr>
          <a:lstStyle/>
          <a:p>
            <a:r>
              <a:rPr lang="en-US" sz="4000" b="1"/>
              <a:t>Tier 2</a:t>
            </a:r>
            <a:endParaRPr lang="en-US" sz="4000"/>
          </a:p>
        </p:txBody>
      </p:sp>
      <p:sp>
        <p:nvSpPr>
          <p:cNvPr id="23" name="Rectangle 2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Content Placeholder 6">
            <a:extLst>
              <a:ext uri="{FF2B5EF4-FFF2-40B4-BE49-F238E27FC236}">
                <a16:creationId xmlns:a16="http://schemas.microsoft.com/office/drawing/2014/main" id="{143720E8-43BD-B488-175E-686000C8396A}"/>
              </a:ext>
            </a:extLst>
          </p:cNvPr>
          <p:cNvSpPr>
            <a:spLocks noGrp="1"/>
          </p:cNvSpPr>
          <p:nvPr>
            <p:ph idx="1"/>
          </p:nvPr>
        </p:nvSpPr>
        <p:spPr>
          <a:xfrm>
            <a:off x="1115568" y="2481943"/>
            <a:ext cx="10168128" cy="3695020"/>
          </a:xfrm>
        </p:spPr>
        <p:txBody>
          <a:bodyPr>
            <a:normAutofit lnSpcReduction="10000"/>
          </a:bodyPr>
          <a:lstStyle/>
          <a:p>
            <a:r>
              <a:rPr lang="en-US" sz="2200" dirty="0"/>
              <a:t>Enabling the usage of objects which are not released but upgrade stable. </a:t>
            </a:r>
          </a:p>
          <a:p>
            <a:r>
              <a:rPr lang="en-US" sz="2200" dirty="0"/>
              <a:t>Available only for Private Edition customers and On-premise customers.</a:t>
            </a:r>
          </a:p>
          <a:p>
            <a:r>
              <a:rPr lang="en-US" sz="2200" dirty="0"/>
              <a:t>For cases where non-released APIs are needed.</a:t>
            </a:r>
          </a:p>
          <a:p>
            <a:endParaRPr lang="en-US" sz="2200" dirty="0"/>
          </a:p>
          <a:p>
            <a:pPr marL="0" indent="0">
              <a:buNone/>
            </a:pPr>
            <a:r>
              <a:rPr lang="en-US" sz="2200" b="1" u="sng" dirty="0"/>
              <a:t>Examples:</a:t>
            </a:r>
          </a:p>
          <a:p>
            <a:r>
              <a:rPr lang="en-US" sz="2200" dirty="0"/>
              <a:t>Creating a custom wrapper class object to use unreleased BAPI to achieve a functionality. </a:t>
            </a:r>
          </a:p>
          <a:p>
            <a:r>
              <a:rPr lang="en-US" sz="2200" dirty="0"/>
              <a:t>Creating a wrapper CDS view for a standard SAP table or a CDS view this is not released.</a:t>
            </a:r>
          </a:p>
          <a:p>
            <a:r>
              <a:rPr lang="en-US" sz="2200" dirty="0"/>
              <a:t>Creating a custom CDS view on top of an unreleased standard CDS view. </a:t>
            </a:r>
          </a:p>
          <a:p>
            <a:pPr marL="0" indent="0">
              <a:buNone/>
            </a:pPr>
            <a:endParaRPr lang="en-IN" sz="2200" dirty="0"/>
          </a:p>
        </p:txBody>
      </p:sp>
    </p:spTree>
    <p:extLst>
      <p:ext uri="{BB962C8B-B14F-4D97-AF65-F5344CB8AC3E}">
        <p14:creationId xmlns:p14="http://schemas.microsoft.com/office/powerpoint/2010/main" val="1598907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5ACB8CD-101C-9ECC-0343-72B8E3688029}"/>
              </a:ext>
            </a:extLst>
          </p:cNvPr>
          <p:cNvSpPr>
            <a:spLocks noGrp="1"/>
          </p:cNvSpPr>
          <p:nvPr>
            <p:ph type="title"/>
          </p:nvPr>
        </p:nvSpPr>
        <p:spPr>
          <a:xfrm>
            <a:off x="838200" y="253397"/>
            <a:ext cx="10515600" cy="1273233"/>
          </a:xfrm>
        </p:spPr>
        <p:txBody>
          <a:bodyPr>
            <a:normAutofit/>
          </a:bodyPr>
          <a:lstStyle/>
          <a:p>
            <a:r>
              <a:rPr lang="en-US" sz="4000" b="1" dirty="0"/>
              <a:t>Tier 3 </a:t>
            </a:r>
            <a:r>
              <a:rPr lang="en-IN" sz="2400" dirty="0"/>
              <a:t>(Last Resort)</a:t>
            </a:r>
            <a:endParaRPr lang="en-US" sz="2400" b="1" dirty="0"/>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7346585-EBF7-6A63-BE9C-55507029F82E}"/>
              </a:ext>
            </a:extLst>
          </p:cNvPr>
          <p:cNvSpPr>
            <a:spLocks noGrp="1"/>
          </p:cNvSpPr>
          <p:nvPr>
            <p:ph idx="1"/>
          </p:nvPr>
        </p:nvSpPr>
        <p:spPr>
          <a:xfrm>
            <a:off x="838200" y="2478024"/>
            <a:ext cx="10515600" cy="3694176"/>
          </a:xfrm>
        </p:spPr>
        <p:txBody>
          <a:bodyPr>
            <a:normAutofit/>
          </a:bodyPr>
          <a:lstStyle/>
          <a:p>
            <a:pPr marL="0" indent="0">
              <a:spcBef>
                <a:spcPts val="600"/>
              </a:spcBef>
              <a:buNone/>
            </a:pPr>
            <a:r>
              <a:rPr lang="en-US" sz="2200" dirty="0"/>
              <a:t>Legacy custom ABAP code for extensions that cannot does not fall in Tier 1 or Tier 2. We need to try to avoid usage of such objects.</a:t>
            </a:r>
          </a:p>
          <a:p>
            <a:pPr marL="0" indent="0">
              <a:spcBef>
                <a:spcPts val="600"/>
              </a:spcBef>
              <a:buNone/>
            </a:pPr>
            <a:endParaRPr lang="en-US" sz="2200" dirty="0"/>
          </a:p>
          <a:p>
            <a:pPr marL="0" indent="0">
              <a:spcBef>
                <a:spcPts val="600"/>
              </a:spcBef>
              <a:buNone/>
            </a:pPr>
            <a:r>
              <a:rPr lang="en-US" sz="2200" b="1" u="sng" dirty="0"/>
              <a:t>Examples:</a:t>
            </a:r>
          </a:p>
          <a:p>
            <a:pPr>
              <a:spcBef>
                <a:spcPts val="600"/>
              </a:spcBef>
            </a:pPr>
            <a:r>
              <a:rPr lang="en-US" sz="2200" dirty="0"/>
              <a:t>Implementing a BADI which is not released.</a:t>
            </a:r>
          </a:p>
          <a:p>
            <a:pPr>
              <a:spcBef>
                <a:spcPts val="600"/>
              </a:spcBef>
            </a:pPr>
            <a:r>
              <a:rPr lang="en-US" sz="2200" dirty="0"/>
              <a:t>Using customer exits, user exists and implicit enhancements.</a:t>
            </a:r>
          </a:p>
          <a:p>
            <a:pPr>
              <a:spcBef>
                <a:spcPts val="600"/>
              </a:spcBef>
            </a:pPr>
            <a:r>
              <a:rPr lang="en-US" sz="2200" dirty="0"/>
              <a:t>Modifying any SAP standard objects. </a:t>
            </a:r>
          </a:p>
          <a:p>
            <a:pPr>
              <a:spcBef>
                <a:spcPts val="600"/>
              </a:spcBef>
            </a:pPr>
            <a:r>
              <a:rPr lang="en-US" sz="2200" dirty="0"/>
              <a:t>GUI based reports.</a:t>
            </a:r>
          </a:p>
          <a:p>
            <a:pPr>
              <a:spcBef>
                <a:spcPts val="600"/>
              </a:spcBef>
            </a:pPr>
            <a:r>
              <a:rPr lang="en-US" sz="2200" dirty="0"/>
              <a:t>Extending a Fiori application built based on classical ODATA.</a:t>
            </a:r>
          </a:p>
          <a:p>
            <a:pPr marL="0" indent="0">
              <a:spcBef>
                <a:spcPts val="600"/>
              </a:spcBef>
              <a:buNone/>
            </a:pPr>
            <a:endParaRPr lang="en-US" sz="2200" dirty="0"/>
          </a:p>
          <a:p>
            <a:pPr marL="0" indent="0">
              <a:spcBef>
                <a:spcPts val="600"/>
              </a:spcBef>
              <a:buNone/>
            </a:pPr>
            <a:endParaRPr lang="en-US" sz="2200" b="1" u="sng" dirty="0"/>
          </a:p>
          <a:p>
            <a:pPr marL="0" indent="0">
              <a:spcBef>
                <a:spcPts val="600"/>
              </a:spcBef>
              <a:buNone/>
            </a:pPr>
            <a:endParaRPr lang="en-US" sz="2200" dirty="0"/>
          </a:p>
        </p:txBody>
      </p:sp>
    </p:spTree>
    <p:extLst>
      <p:ext uri="{BB962C8B-B14F-4D97-AF65-F5344CB8AC3E}">
        <p14:creationId xmlns:p14="http://schemas.microsoft.com/office/powerpoint/2010/main" val="2136986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3347838-28C9-2859-738B-CDD8EF09F9F7}"/>
              </a:ext>
            </a:extLst>
          </p:cNvPr>
          <p:cNvSpPr>
            <a:spLocks noGrp="1"/>
          </p:cNvSpPr>
          <p:nvPr>
            <p:ph type="title"/>
          </p:nvPr>
        </p:nvSpPr>
        <p:spPr>
          <a:xfrm>
            <a:off x="1115568" y="548640"/>
            <a:ext cx="10168128" cy="1179576"/>
          </a:xfrm>
        </p:spPr>
        <p:txBody>
          <a:bodyPr>
            <a:normAutofit/>
          </a:bodyPr>
          <a:lstStyle/>
          <a:p>
            <a:r>
              <a:rPr lang="en-US" sz="4000" b="1"/>
              <a:t>New Clean core extensibility guidelines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493D253-EB5F-634A-FF1F-D46967C9A628}"/>
              </a:ext>
            </a:extLst>
          </p:cNvPr>
          <p:cNvSpPr>
            <a:spLocks noGrp="1"/>
          </p:cNvSpPr>
          <p:nvPr>
            <p:ph idx="1"/>
          </p:nvPr>
        </p:nvSpPr>
        <p:spPr>
          <a:xfrm>
            <a:off x="1115568" y="2481943"/>
            <a:ext cx="10168128" cy="3695020"/>
          </a:xfrm>
        </p:spPr>
        <p:txBody>
          <a:bodyPr>
            <a:normAutofit/>
          </a:bodyPr>
          <a:lstStyle/>
          <a:p>
            <a:r>
              <a:rPr lang="en-US" sz="1700" b="1" dirty="0"/>
              <a:t>Level A</a:t>
            </a:r>
            <a:r>
              <a:rPr lang="en-US" sz="1700" dirty="0"/>
              <a:t> are the cleanest custom extensions built either on-stack with ABAP Cloud development model or side-by-side using any option of SAP Build on SAP BTP – ABAP Cloud, CAP or low-code/no-code tools</a:t>
            </a:r>
          </a:p>
          <a:p>
            <a:pPr marL="0" indent="0">
              <a:buNone/>
            </a:pPr>
            <a:r>
              <a:rPr lang="en-US" sz="1700" dirty="0"/>
              <a:t>Levels B-D relate to all classic ABAP developments and can be reached as follows:</a:t>
            </a:r>
          </a:p>
          <a:p>
            <a:r>
              <a:rPr lang="en-US" sz="1700" b="1" dirty="0"/>
              <a:t>Level B</a:t>
            </a:r>
            <a:r>
              <a:rPr lang="en-US" sz="1700" dirty="0"/>
              <a:t> can be achieved by custom extensions that comply with SAP recommendations for the use of classic ABAP development technologies and the frameworks offered as classic SAP APIs</a:t>
            </a:r>
          </a:p>
          <a:p>
            <a:r>
              <a:rPr lang="en-US" sz="1700" b="1" dirty="0"/>
              <a:t>Level C</a:t>
            </a:r>
            <a:r>
              <a:rPr lang="en-US" sz="1700" dirty="0"/>
              <a:t> contains custom extensions which cannot be qualified for Level B because of usage of arbitrary SAP internal objects. Under the condition that dedicated checks are performed before the release upgrade (following the changelog for SAP objects approach), these custom extensions can be considered conditionally clean.</a:t>
            </a:r>
          </a:p>
          <a:p>
            <a:r>
              <a:rPr lang="en-US" sz="1700" b="1" dirty="0"/>
              <a:t>Level D</a:t>
            </a:r>
            <a:r>
              <a:rPr lang="en-US" sz="1700" dirty="0"/>
              <a:t> is not clean core and includes custom extensions with severe violations of SAP development recommendations like modifications, usage of not recommended SAP objects or extension technologies (e.g. implicit enhancements).</a:t>
            </a:r>
          </a:p>
          <a:p>
            <a:pPr marL="0" indent="0">
              <a:buNone/>
            </a:pPr>
            <a:endParaRPr lang="en-US" sz="1700" dirty="0"/>
          </a:p>
        </p:txBody>
      </p:sp>
    </p:spTree>
    <p:extLst>
      <p:ext uri="{BB962C8B-B14F-4D97-AF65-F5344CB8AC3E}">
        <p14:creationId xmlns:p14="http://schemas.microsoft.com/office/powerpoint/2010/main" val="3094637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4DF1E6-737A-C1DE-A249-E457EF8359ED}"/>
              </a:ext>
            </a:extLst>
          </p:cNvPr>
          <p:cNvSpPr>
            <a:spLocks noGrp="1"/>
          </p:cNvSpPr>
          <p:nvPr>
            <p:ph type="title"/>
          </p:nvPr>
        </p:nvSpPr>
        <p:spPr>
          <a:xfrm>
            <a:off x="1115568" y="548640"/>
            <a:ext cx="10168128" cy="1179576"/>
          </a:xfrm>
        </p:spPr>
        <p:txBody>
          <a:bodyPr>
            <a:normAutofit/>
          </a:bodyPr>
          <a:lstStyle/>
          <a:p>
            <a:r>
              <a:rPr lang="en-US" sz="4000" b="1"/>
              <a:t>References</a:t>
            </a:r>
          </a:p>
        </p:txBody>
      </p:sp>
      <p:sp>
        <p:nvSpPr>
          <p:cNvPr id="17" name="Rectangle 16">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Content Placeholder 5">
            <a:extLst>
              <a:ext uri="{FF2B5EF4-FFF2-40B4-BE49-F238E27FC236}">
                <a16:creationId xmlns:a16="http://schemas.microsoft.com/office/drawing/2014/main" id="{83AF09EB-E5A2-A29D-D8D0-7DE456D9C146}"/>
              </a:ext>
            </a:extLst>
          </p:cNvPr>
          <p:cNvSpPr>
            <a:spLocks noGrp="1"/>
          </p:cNvSpPr>
          <p:nvPr>
            <p:ph idx="1"/>
          </p:nvPr>
        </p:nvSpPr>
        <p:spPr>
          <a:xfrm>
            <a:off x="1115568" y="2481943"/>
            <a:ext cx="10168128" cy="3695020"/>
          </a:xfrm>
        </p:spPr>
        <p:txBody>
          <a:bodyPr>
            <a:normAutofit/>
          </a:bodyPr>
          <a:lstStyle/>
          <a:p>
            <a:r>
              <a:rPr lang="en-IN" sz="2200" dirty="0">
                <a:hlinkClick r:id="rId2"/>
              </a:rPr>
              <a:t>https://me.sap.com/notes/3578329</a:t>
            </a:r>
            <a:endParaRPr lang="en-IN" sz="2200" dirty="0"/>
          </a:p>
          <a:p>
            <a:pPr marL="0" indent="0">
              <a:buNone/>
            </a:pPr>
            <a:endParaRPr lang="en-IN" sz="2200" dirty="0"/>
          </a:p>
          <a:p>
            <a:r>
              <a:rPr lang="en-IN" sz="2200" dirty="0">
                <a:hlinkClick r:id="rId3"/>
              </a:rPr>
              <a:t>https://community.sap.com/t5/technology-blog-posts-by-sap/abap-extensibility-guide-clean-core-for-sap-s-4hana-cloud-august-2025/ba-p/14175399</a:t>
            </a:r>
            <a:endParaRPr lang="en-IN" sz="2200" dirty="0"/>
          </a:p>
          <a:p>
            <a:endParaRPr lang="en-IN" sz="2200" dirty="0"/>
          </a:p>
          <a:p>
            <a:r>
              <a:rPr lang="en-IN" sz="2200" dirty="0">
                <a:hlinkClick r:id="rId4"/>
              </a:rPr>
              <a:t>https://www.sap.com/documents/2024/09/20aece06-d87e-0010-bca6-c68f7e60039b.html</a:t>
            </a:r>
            <a:endParaRPr lang="en-IN" sz="2200" dirty="0"/>
          </a:p>
          <a:p>
            <a:pPr marL="0" indent="0">
              <a:buNone/>
            </a:pPr>
            <a:endParaRPr lang="en-IN" sz="2200" dirty="0"/>
          </a:p>
        </p:txBody>
      </p:sp>
    </p:spTree>
    <p:extLst>
      <p:ext uri="{BB962C8B-B14F-4D97-AF65-F5344CB8AC3E}">
        <p14:creationId xmlns:p14="http://schemas.microsoft.com/office/powerpoint/2010/main" val="1127149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bwMode="gray">
          <a:xfrm>
            <a:off x="467360" y="5458968"/>
            <a:ext cx="6634481" cy="1152144"/>
          </a:xfrm>
        </p:spPr>
        <p:txBody>
          <a:bodyPr/>
          <a:lstStyle/>
          <a:p>
            <a:pPr marL="0" indent="0">
              <a:lnSpc>
                <a:spcPts val="900"/>
              </a:lnSpc>
              <a:buNone/>
            </a:pPr>
            <a:r>
              <a:rPr lang="en-US" b="1" dirty="0"/>
              <a:t>About Deloitte</a:t>
            </a:r>
            <a:br>
              <a:rPr lang="en-US" dirty="0"/>
            </a:br>
            <a:r>
              <a:rPr lang="en-US" dirty="0" err="1"/>
              <a:t>Deloitte</a:t>
            </a:r>
            <a:r>
              <a:rPr lang="en-US" dirty="0"/>
              <a:t> refers to one or more of Deloitte </a:t>
            </a:r>
            <a:r>
              <a:rPr lang="en-US" dirty="0" err="1"/>
              <a:t>Touche</a:t>
            </a:r>
            <a:r>
              <a:rPr lang="en-US" dirty="0"/>
              <a:t> Tohmatsu Limited, a UK private company limited by guarantee, and its network of member firms, each of which is a legally separate and independent entity. Please see </a:t>
            </a:r>
            <a:r>
              <a:rPr lang="en-US" dirty="0">
                <a:hlinkClick r:id="rId3"/>
              </a:rPr>
              <a:t>www.deloitte.com/about</a:t>
            </a:r>
            <a:r>
              <a:rPr lang="en-US" dirty="0"/>
              <a:t> for a detailed description of the legal structure of Deloitte </a:t>
            </a:r>
            <a:r>
              <a:rPr lang="en-US" dirty="0" err="1"/>
              <a:t>Touche</a:t>
            </a:r>
            <a:r>
              <a:rPr lang="en-US" dirty="0"/>
              <a:t> Tohmatsu Limited and its member firms. Please see </a:t>
            </a:r>
            <a:r>
              <a:rPr lang="en-US" dirty="0">
                <a:hlinkClick r:id="rId4"/>
              </a:rPr>
              <a:t>www.deloitte.com/us/about</a:t>
            </a:r>
            <a:r>
              <a:rPr lang="en-US" dirty="0"/>
              <a:t> for a detailed description of the legal structure of Deloitte LLP and its subsidiaries. Certain services may not be available to attest clients under the rules and regulations of public accounting.</a:t>
            </a:r>
            <a:br>
              <a:rPr lang="en-US" dirty="0"/>
            </a:br>
            <a:br>
              <a:rPr lang="en-US" dirty="0"/>
            </a:br>
            <a:r>
              <a:rPr lang="en-US" dirty="0"/>
              <a:t>Copyright © 2020 Deloitte Development LLC. All rights reserved.</a:t>
            </a:r>
            <a:br>
              <a:rPr lang="en-US" dirty="0"/>
            </a:br>
            <a:r>
              <a:rPr lang="en-US" dirty="0"/>
              <a:t>Member of Deloitte </a:t>
            </a:r>
            <a:r>
              <a:rPr lang="en-US" dirty="0" err="1"/>
              <a:t>Touche</a:t>
            </a:r>
            <a:r>
              <a:rPr lang="en-US" dirty="0"/>
              <a:t> Tohmatsu Limited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1E58F21-0D06-4251-815E-662F9EAE0D4E}">
  <we:reference id="81020719-0b7f-4964-bc97-c82f5e54dba2" version="1.0.0.2" store="EXCatalog" storeType="EXCatalog"/>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6963</TotalTime>
  <Words>974</Words>
  <Application>Microsoft Office PowerPoint</Application>
  <PresentationFormat>Widescreen</PresentationFormat>
  <Paragraphs>99</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PowerPoint Presentation</vt:lpstr>
      <vt:lpstr>Agenda</vt:lpstr>
      <vt:lpstr>Conventional Extensions in SAP &amp; issues</vt:lpstr>
      <vt:lpstr>Clean Core Introduction</vt:lpstr>
      <vt:lpstr>Why Extensibility?</vt:lpstr>
      <vt:lpstr>Benefits of Clean Core approach:</vt:lpstr>
      <vt:lpstr>Tier-1 ON-STACK(Recommended First Choice)</vt:lpstr>
      <vt:lpstr>Tier 2</vt:lpstr>
      <vt:lpstr>Tier 3 (Last Resort)</vt:lpstr>
      <vt:lpstr>New Clean core extensibility guidelines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Mohideen Pitchai, Asika Mumtaj</dc:creator>
  <cp:lastModifiedBy>Yendamuri, Tirumala Sai Sandeep</cp:lastModifiedBy>
  <cp:revision>13</cp:revision>
  <dcterms:created xsi:type="dcterms:W3CDTF">2025-07-16T05:09:44Z</dcterms:created>
  <dcterms:modified xsi:type="dcterms:W3CDTF">2025-08-26T04:17:23Z</dcterms:modified>
</cp:coreProperties>
</file>