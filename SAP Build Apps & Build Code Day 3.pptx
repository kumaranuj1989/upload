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889" r:id="rId5"/>
    <p:sldId id="907" r:id="rId6"/>
    <p:sldId id="903" r:id="rId7"/>
    <p:sldId id="904" r:id="rId8"/>
    <p:sldId id="349542059" r:id="rId9"/>
    <p:sldId id="908" r:id="rId10"/>
    <p:sldId id="511" r:id="rId11"/>
    <p:sldId id="349542056" r:id="rId12"/>
    <p:sldId id="349542057" r:id="rId13"/>
    <p:sldId id="349542058" r:id="rId14"/>
  </p:sldIdLst>
  <p:sldSz cx="12192000" cy="6858000"/>
  <p:notesSz cx="7315200" cy="9601200"/>
  <p:custDataLst>
    <p:tags r:id="rId17"/>
  </p:custDataLst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0" pos="7560" userDrawn="1">
          <p15:clr>
            <a:srgbClr val="A4A3A4"/>
          </p15:clr>
        </p15:guide>
        <p15:guide id="11" orient="horz" pos="2064" userDrawn="1">
          <p15:clr>
            <a:srgbClr val="A4A3A4"/>
          </p15:clr>
        </p15:guide>
        <p15:guide id="12" orient="horz" pos="1440" userDrawn="1">
          <p15:clr>
            <a:srgbClr val="A4A3A4"/>
          </p15:clr>
        </p15:guide>
        <p15:guide id="13" orient="horz" pos="2568" userDrawn="1">
          <p15:clr>
            <a:srgbClr val="A4A3A4"/>
          </p15:clr>
        </p15:guide>
        <p15:guide id="14" orient="horz" pos="3360" userDrawn="1">
          <p15:clr>
            <a:srgbClr val="A4A3A4"/>
          </p15:clr>
        </p15:guide>
        <p15:guide id="15" orient="horz" pos="3600" userDrawn="1">
          <p15:clr>
            <a:srgbClr val="A4A3A4"/>
          </p15:clr>
        </p15:guide>
        <p15:guide id="16" pos="42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nder Kuur, Cindy K" initials="CV" lastIdx="7" clrIdx="0">
    <p:extLst>
      <p:ext uri="{19B8F6BF-5375-455C-9EA6-DF929625EA0E}">
        <p15:presenceInfo xmlns:p15="http://schemas.microsoft.com/office/powerpoint/2012/main" userId="Vander Kuur, Cindy 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3565A"/>
    <a:srgbClr val="FFCD00"/>
    <a:srgbClr val="ED8B00"/>
    <a:srgbClr val="DB291C"/>
    <a:srgbClr val="FF9900"/>
    <a:srgbClr val="C00000"/>
    <a:srgbClr val="3C8A2E"/>
    <a:srgbClr val="DCDCDC"/>
    <a:srgbClr val="B4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C4993F-CE01-7FCC-C287-E3576BC8B73B}" v="1" dt="2024-06-06T03:51:03.5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>
        <p:guide pos="7560"/>
        <p:guide orient="horz" pos="2064"/>
        <p:guide orient="horz" pos="1440"/>
        <p:guide orient="horz" pos="2568"/>
        <p:guide orient="horz" pos="3360"/>
        <p:guide orient="horz" pos="3600"/>
        <p:guide pos="42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ndekar, Pranali" userId="S::pbandekar@deloitte.com::76c3107e-4a3b-4435-afab-90a86193f0f9" providerId="AD" clId="Web-{FAAB8163-3CEA-2929-4ABD-A4B5EBCBDEDF}"/>
    <pc:docChg chg="modSld">
      <pc:chgData name="Bandekar, Pranali" userId="S::pbandekar@deloitte.com::76c3107e-4a3b-4435-afab-90a86193f0f9" providerId="AD" clId="Web-{FAAB8163-3CEA-2929-4ABD-A4B5EBCBDEDF}" dt="2024-05-08T10:09:00.938" v="0" actId="1076"/>
      <pc:docMkLst>
        <pc:docMk/>
      </pc:docMkLst>
      <pc:sldChg chg="modSp">
        <pc:chgData name="Bandekar, Pranali" userId="S::pbandekar@deloitte.com::76c3107e-4a3b-4435-afab-90a86193f0f9" providerId="AD" clId="Web-{FAAB8163-3CEA-2929-4ABD-A4B5EBCBDEDF}" dt="2024-05-08T10:09:00.938" v="0" actId="1076"/>
        <pc:sldMkLst>
          <pc:docMk/>
          <pc:sldMk cId="133145450" sldId="908"/>
        </pc:sldMkLst>
        <pc:picChg chg="mod">
          <ac:chgData name="Bandekar, Pranali" userId="S::pbandekar@deloitte.com::76c3107e-4a3b-4435-afab-90a86193f0f9" providerId="AD" clId="Web-{FAAB8163-3CEA-2929-4ABD-A4B5EBCBDEDF}" dt="2024-05-08T10:09:00.938" v="0" actId="1076"/>
          <ac:picMkLst>
            <pc:docMk/>
            <pc:sldMk cId="133145450" sldId="908"/>
            <ac:picMk id="1026" creationId="{80BBD835-5DA4-49F9-659F-C585A08C0F0B}"/>
          </ac:picMkLst>
        </pc:picChg>
      </pc:sldChg>
    </pc:docChg>
  </pc:docChgLst>
  <pc:docChgLst>
    <pc:chgData name="Verma, Sandeep" userId="S::sandverma@deloitte.com::d30842dc-0cf9-420b-8643-a509591151fe" providerId="AD" clId="Web-{40A0C9B9-251C-E409-A32B-EF0045293188}"/>
    <pc:docChg chg="delSld">
      <pc:chgData name="Verma, Sandeep" userId="S::sandverma@deloitte.com::d30842dc-0cf9-420b-8643-a509591151fe" providerId="AD" clId="Web-{40A0C9B9-251C-E409-A32B-EF0045293188}" dt="2023-07-28T06:11:13.041" v="0"/>
      <pc:docMkLst>
        <pc:docMk/>
      </pc:docMkLst>
      <pc:sldChg chg="del">
        <pc:chgData name="Verma, Sandeep" userId="S::sandverma@deloitte.com::d30842dc-0cf9-420b-8643-a509591151fe" providerId="AD" clId="Web-{40A0C9B9-251C-E409-A32B-EF0045293188}" dt="2023-07-28T06:11:13.041" v="0"/>
        <pc:sldMkLst>
          <pc:docMk/>
          <pc:sldMk cId="4228094865" sldId="452"/>
        </pc:sldMkLst>
      </pc:sldChg>
    </pc:docChg>
  </pc:docChgLst>
  <pc:docChgLst>
    <pc:chgData name="Sravya, Chatrathi" userId="S::csravya@deloitte.com::58318501-927c-43d8-be10-860a31b3412c" providerId="AD" clId="Web-{ADC4993F-CE01-7FCC-C287-E3576BC8B73B}"/>
    <pc:docChg chg="modSld">
      <pc:chgData name="Sravya, Chatrathi" userId="S::csravya@deloitte.com::58318501-927c-43d8-be10-860a31b3412c" providerId="AD" clId="Web-{ADC4993F-CE01-7FCC-C287-E3576BC8B73B}" dt="2024-06-06T03:51:03.598" v="0" actId="1076"/>
      <pc:docMkLst>
        <pc:docMk/>
      </pc:docMkLst>
      <pc:sldChg chg="modSp">
        <pc:chgData name="Sravya, Chatrathi" userId="S::csravya@deloitte.com::58318501-927c-43d8-be10-860a31b3412c" providerId="AD" clId="Web-{ADC4993F-CE01-7FCC-C287-E3576BC8B73B}" dt="2024-06-06T03:51:03.598" v="0" actId="1076"/>
        <pc:sldMkLst>
          <pc:docMk/>
          <pc:sldMk cId="133145450" sldId="908"/>
        </pc:sldMkLst>
        <pc:picChg chg="mod">
          <ac:chgData name="Sravya, Chatrathi" userId="S::csravya@deloitte.com::58318501-927c-43d8-be10-860a31b3412c" providerId="AD" clId="Web-{ADC4993F-CE01-7FCC-C287-E3576BC8B73B}" dt="2024-06-06T03:51:03.598" v="0" actId="1076"/>
          <ac:picMkLst>
            <pc:docMk/>
            <pc:sldMk cId="133145450" sldId="908"/>
            <ac:picMk id="1026" creationId="{80BBD835-5DA4-49F9-659F-C585A08C0F0B}"/>
          </ac:picMkLst>
        </pc:picChg>
      </pc:sldChg>
    </pc:docChg>
  </pc:docChgLst>
  <pc:docChgLst>
    <pc:chgData clId="Web-{40A0C9B9-251C-E409-A32B-EF0045293188}"/>
    <pc:docChg chg="modSld">
      <pc:chgData name="" userId="" providerId="" clId="Web-{40A0C9B9-251C-E409-A32B-EF0045293188}" dt="2023-07-28T06:10:32.149" v="2" actId="20577"/>
      <pc:docMkLst>
        <pc:docMk/>
      </pc:docMkLst>
      <pc:sldChg chg="modSp">
        <pc:chgData name="" userId="" providerId="" clId="Web-{40A0C9B9-251C-E409-A32B-EF0045293188}" dt="2023-07-28T06:10:32.149" v="2" actId="20577"/>
        <pc:sldMkLst>
          <pc:docMk/>
          <pc:sldMk cId="1259888063" sldId="889"/>
        </pc:sldMkLst>
        <pc:spChg chg="mod">
          <ac:chgData name="" userId="" providerId="" clId="Web-{40A0C9B9-251C-E409-A32B-EF0045293188}" dt="2023-07-28T06:10:32.149" v="2" actId="20577"/>
          <ac:spMkLst>
            <pc:docMk/>
            <pc:sldMk cId="1259888063" sldId="889"/>
            <ac:spMk id="6" creationId="{9A40E202-D37F-4FA8-82FB-20DA95C2575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6/5/2024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6/5/2024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/>
              <a:t>A basic Operate/AMS presentation to take clients through our thoughts on operate.</a:t>
            </a:r>
          </a:p>
          <a:p>
            <a:r>
              <a:rPr lang="en-GB" b="0"/>
              <a:t>Owner: TBD</a:t>
            </a:r>
          </a:p>
          <a:p>
            <a:r>
              <a:rPr lang="en-GB" b="0"/>
              <a:t>Last Updated: 02/09/2018</a:t>
            </a:r>
          </a:p>
          <a:p>
            <a:endParaRPr lang="en-GB" b="1"/>
          </a:p>
          <a:p>
            <a:r>
              <a:rPr lang="en-GB" b="1"/>
              <a:t>Change log</a:t>
            </a:r>
          </a:p>
          <a:p>
            <a:r>
              <a:rPr lang="en-GB" b="1"/>
              <a:t>V1.0</a:t>
            </a:r>
          </a:p>
          <a:p>
            <a:r>
              <a:rPr lang="en-GB" err="1"/>
              <a:t>Color</a:t>
            </a:r>
            <a:r>
              <a:rPr lang="en-GB"/>
              <a:t> palette updated.</a:t>
            </a:r>
          </a:p>
          <a:p>
            <a:r>
              <a:rPr lang="en-GB"/>
              <a:t>Fonts adjusted and resized.</a:t>
            </a:r>
          </a:p>
          <a:p>
            <a:r>
              <a:rPr lang="en-GB"/>
              <a:t>Inverter test completed.</a:t>
            </a:r>
          </a:p>
          <a:p>
            <a:r>
              <a:rPr lang="en-GB"/>
              <a:t>Cover image made transparent.</a:t>
            </a:r>
          </a:p>
          <a:p>
            <a:r>
              <a:rPr lang="en-GB"/>
              <a:t>New text &amp; Shape test passed.</a:t>
            </a:r>
          </a:p>
          <a:p>
            <a:r>
              <a:rPr lang="en-GB"/>
              <a:t>Speaker notes reviewed and cleansed.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29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4A2C8-6C88-4E71-83EE-698B9D4FE2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7708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81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63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expect from Joule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D9746-BA13-4E75-BA9B-3744A0473A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00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19E439-0A36-4389-B1D4-036D35E9F4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8963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6CFC0-9F45-F8C9-02FF-0B9DEAB4F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9401E2-CB0B-24FC-80F4-A730EA025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6186E-9CD0-F42E-1BD4-80E254FE5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to expect from Joule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57FBC-E98F-9C55-EE0F-06BDBCCD5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D9746-BA13-4E75-BA9B-3744A0473A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53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to expect from Joule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D9746-BA13-4E75-BA9B-3744A0473A7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81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to expect from Joule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D9746-BA13-4E75-BA9B-3744A0473A7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67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to expect from Joule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D9746-BA13-4E75-BA9B-3744A0473A7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57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ack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200" y="5845180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  <a:lvl2pPr marL="0" indent="0" algn="l">
              <a:buNone/>
              <a:defRPr sz="1600" b="0">
                <a:solidFill>
                  <a:schemeClr val="bg1"/>
                </a:solidFill>
              </a:defRPr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title style</a:t>
            </a:r>
          </a:p>
          <a:p>
            <a:pPr lvl="1"/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699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22" name="Group 21"/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3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33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04557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327" y="5845180"/>
            <a:ext cx="559434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 algn="l">
              <a:buNone/>
              <a:defRPr sz="1600" b="0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title style</a:t>
            </a:r>
          </a:p>
          <a:p>
            <a:pPr lvl="1"/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699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19" name="Group 18"/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0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1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30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830794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ircle Black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4210150" y="1530450"/>
            <a:ext cx="3780000" cy="378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3800"/>
              </a:lnSpc>
              <a:defRPr sz="3200" b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75200" y="5845180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699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16" name="Group 15"/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1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2220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ircl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4212000" y="1530000"/>
            <a:ext cx="3780000" cy="378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3800"/>
              </a:lnSpc>
              <a:defRPr sz="3200" b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75327" y="5845180"/>
            <a:ext cx="559434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699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16" name="Group 15"/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76115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0" y="1700213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899" y="3423545"/>
            <a:ext cx="10418235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93823792-EE26-4CDD-972F-220A04CD6C04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ABE9EAAF-3637-4DBD-97CC-9D801D594A84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9365AE-2970-4F25-A997-BF6CFABBA94C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5741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dark green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3F44FF44-C602-481C-AB45-01E8C7641773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1A45E768-6B1E-4968-BBCE-03E8ABE5493F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427AA6-2805-4D45-8C22-C52EB3443F54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4826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ue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CaseCode">
            <a:extLst>
              <a:ext uri="{FF2B5EF4-FFF2-40B4-BE49-F238E27FC236}">
                <a16:creationId xmlns:a16="http://schemas.microsoft.com/office/drawing/2014/main" id="{D6C60C41-80C5-4AD8-9F29-FD85E6D4C19C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613A5341-684B-4EA3-8645-F86A6932914E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77575C-C40C-4032-B0DB-EF510C909D71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0214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dark blue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3C64501B-D85D-4B85-ABA7-D68ECF8B73C7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0551EEA-624A-4296-AD75-4BD6C8D14CF9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09C971-19FA-4D4C-A588-010A8861B9DB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371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1558CCC8-C369-4C81-A41A-5E09DEB241AA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2A717A35-16B8-4C69-9FC9-C491F8F47997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952D5D-FD02-4F41-B2C9-74CDCEDF85C6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9789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1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541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95150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dark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aseCode">
            <a:extLst>
              <a:ext uri="{FF2B5EF4-FFF2-40B4-BE49-F238E27FC236}">
                <a16:creationId xmlns:a16="http://schemas.microsoft.com/office/drawing/2014/main" id="{E1DA34B1-AA2A-40A2-9A35-1AEEF4E1211A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03D338E6-56A9-45ED-B5AA-5396221BD362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AE743-08BD-4226-8282-8C33D40A1260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88157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dark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aseCode">
            <a:extLst>
              <a:ext uri="{FF2B5EF4-FFF2-40B4-BE49-F238E27FC236}">
                <a16:creationId xmlns:a16="http://schemas.microsoft.com/office/drawing/2014/main" id="{EAC56137-7BAD-4495-9072-3F985AC7793D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859C8E56-7C3D-40BF-A699-BF0A3A8BC54A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672FC1-2A7C-42FE-B0E7-B8E1F68064D2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56764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aseCode">
            <a:extLst>
              <a:ext uri="{FF2B5EF4-FFF2-40B4-BE49-F238E27FC236}">
                <a16:creationId xmlns:a16="http://schemas.microsoft.com/office/drawing/2014/main" id="{79CFFB27-DC38-4F22-9FCB-C14E2BC292E3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087D3E6E-E52A-4AA0-8A4B-F5A642ED733E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582A3E-9D2A-4FEA-A54A-A082C5574BD2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3754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aseCode">
            <a:extLst>
              <a:ext uri="{FF2B5EF4-FFF2-40B4-BE49-F238E27FC236}">
                <a16:creationId xmlns:a16="http://schemas.microsoft.com/office/drawing/2014/main" id="{20B14932-EB23-43AC-A539-6F4711C4067B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7E8B7BA2-762B-4C4A-A8B6-370F682AD329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0EEFD-A9B6-40AE-9F1A-6AA0E241A486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48670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69900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tx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02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91"/>
            <a:ext cx="9348787" cy="4633910"/>
          </a:xfrm>
          <a:prstGeom prst="rect">
            <a:avLst/>
          </a:prstGeom>
        </p:spPr>
        <p:txBody>
          <a:bodyPr/>
          <a:lstStyle>
            <a:lvl1pPr>
              <a:tabLst>
                <a:tab pos="8972326" algn="r"/>
              </a:tabLst>
              <a:defRPr/>
            </a:lvl1pPr>
            <a:lvl2pPr>
              <a:tabLst>
                <a:tab pos="8972326" algn="r"/>
              </a:tabLst>
              <a:defRPr/>
            </a:lvl2pPr>
            <a:lvl3pPr>
              <a:tabLst>
                <a:tab pos="8972326" algn="r"/>
              </a:tabLst>
              <a:defRPr/>
            </a:lvl3pPr>
            <a:lvl4pPr>
              <a:tabLst>
                <a:tab pos="8972326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  <a:lvl6pPr>
              <a:tabLst>
                <a:tab pos="8972326" algn="r"/>
              </a:tabLst>
              <a:defRPr/>
            </a:lvl6pPr>
            <a:lvl7pPr>
              <a:tabLst>
                <a:tab pos="8972326" algn="r"/>
              </a:tabLst>
              <a:defRPr/>
            </a:lvl7pPr>
            <a:lvl8pPr>
              <a:tabLst>
                <a:tab pos="8972326" algn="r"/>
              </a:tabLst>
              <a:defRPr/>
            </a:lvl8pPr>
            <a:lvl9pPr>
              <a:tabLst>
                <a:tab pos="8972326" algn="r"/>
              </a:tabLst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51087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604867" y="1700213"/>
            <a:ext cx="6117233" cy="4598988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90"/>
            <a:ext cx="4333663" cy="4633911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3979046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109111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65818"/>
            <a:ext cx="1125220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27000" indent="-1270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279400" indent="-1270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31800" indent="-1270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584200" indent="-1270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2647120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1 column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76402"/>
            <a:ext cx="11252200" cy="4622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77893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8000" y="2054581"/>
            <a:ext cx="11252200" cy="3928209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8000" y="1659816"/>
            <a:ext cx="11252200" cy="357187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297029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8000" y="2051999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8000" y="1665289"/>
            <a:ext cx="3600000" cy="392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296000" y="2051998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296003" y="1665288"/>
            <a:ext cx="3600000" cy="392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086960" y="2051999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086959" y="1659145"/>
            <a:ext cx="3600000" cy="39825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5081642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468000" y="1665288"/>
            <a:ext cx="5328000" cy="4622507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94100" y="1656000"/>
            <a:ext cx="5328000" cy="4631795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2891208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9"/>
            <a:ext cx="4431857" cy="4633913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82100" y="1700213"/>
            <a:ext cx="6240000" cy="4598989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0274777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8"/>
            <a:ext cx="5328000" cy="463391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1600"/>
            </a:lvl1pPr>
            <a:lvl2pPr>
              <a:tabLst>
                <a:tab pos="6705432" algn="r"/>
              </a:tabLst>
              <a:defRPr sz="1600"/>
            </a:lvl2pPr>
            <a:lvl3pPr>
              <a:tabLst>
                <a:tab pos="6705432" algn="r"/>
              </a:tabLst>
              <a:defRPr sz="1600"/>
            </a:lvl3pPr>
            <a:lvl4pPr>
              <a:tabLst>
                <a:tab pos="6705432" algn="r"/>
              </a:tabLst>
              <a:defRPr sz="1600"/>
            </a:lvl4pPr>
            <a:lvl5pPr>
              <a:tabLst>
                <a:tab pos="6705432" algn="r"/>
              </a:tabLst>
              <a:defRPr sz="1000" baseline="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20"/>
          </p:nvPr>
        </p:nvSpPr>
        <p:spPr>
          <a:xfrm>
            <a:off x="6394100" y="1665288"/>
            <a:ext cx="5328000" cy="463391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1600"/>
            </a:lvl1pPr>
            <a:lvl2pPr>
              <a:tabLst>
                <a:tab pos="6705432" algn="r"/>
              </a:tabLst>
              <a:defRPr sz="1600"/>
            </a:lvl2pPr>
            <a:lvl3pPr>
              <a:tabLst>
                <a:tab pos="6705432" algn="r"/>
              </a:tabLst>
              <a:defRPr sz="1600"/>
            </a:lvl3pPr>
            <a:lvl4pPr>
              <a:tabLst>
                <a:tab pos="6705432" algn="r"/>
              </a:tabLst>
              <a:defRPr sz="1600"/>
            </a:lvl4pPr>
            <a:lvl5pPr>
              <a:tabLst>
                <a:tab pos="6705432" algn="r"/>
              </a:tabLst>
              <a:defRPr sz="1000" baseline="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1036312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8"/>
            <a:ext cx="5480400" cy="431750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239584" y="2125013"/>
            <a:ext cx="5482516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239584" y="1655763"/>
            <a:ext cx="5482516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946623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239584" y="2125013"/>
            <a:ext cx="5482516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239585" y="1654028"/>
            <a:ext cx="5482516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469900" y="2125013"/>
            <a:ext cx="5482517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69898" y="1665288"/>
            <a:ext cx="5482517" cy="40942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0285679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455116" y="1626099"/>
            <a:ext cx="4266983" cy="4673101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2400">
                <a:solidFill>
                  <a:schemeClr val="accent3"/>
                </a:solidFill>
              </a:defRPr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469900" y="1665288"/>
            <a:ext cx="6660866" cy="4633913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198571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88742" y="1700213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41040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93338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9045636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82363" y="3076573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207211" y="3079742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44787" y="3076573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9069636" y="3079742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032526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76780" y="170386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84900" y="170386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69900" y="406517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6184900" y="406517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476780" y="1880213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6204097" y="1880212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481779" y="4256211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Picture Placeholder 11"/>
          <p:cNvSpPr>
            <a:spLocks noGrp="1"/>
          </p:cNvSpPr>
          <p:nvPr>
            <p:ph type="pic" sz="quarter" idx="31"/>
          </p:nvPr>
        </p:nvSpPr>
        <p:spPr>
          <a:xfrm>
            <a:off x="6204097" y="4256211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2840780" y="1880213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8550676" y="1880213"/>
            <a:ext cx="3171024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802551" y="4256213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8548900" y="4256212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0504324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78609" y="1700213"/>
            <a:ext cx="3639312" cy="2052830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82784" y="1700213"/>
            <a:ext cx="3639316" cy="2059099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84188" y="1700212"/>
            <a:ext cx="3636962" cy="2057767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 hasCustomPrompt="1"/>
          </p:nvPr>
        </p:nvSpPr>
        <p:spPr>
          <a:xfrm>
            <a:off x="478609" y="3832225"/>
            <a:ext cx="3639312" cy="21814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 hasCustomPrompt="1"/>
          </p:nvPr>
        </p:nvSpPr>
        <p:spPr>
          <a:xfrm>
            <a:off x="4278313" y="3832224"/>
            <a:ext cx="3636962" cy="21866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 hasCustomPrompt="1"/>
          </p:nvPr>
        </p:nvSpPr>
        <p:spPr>
          <a:xfrm>
            <a:off x="8082784" y="3832224"/>
            <a:ext cx="3639316" cy="2188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556094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95933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899" y="1857892"/>
            <a:ext cx="5544000" cy="1695451"/>
          </a:xfrm>
        </p:spPr>
        <p:txBody>
          <a:bodyPr/>
          <a:lstStyle>
            <a:lvl1pPr marL="0" indent="0" algn="l">
              <a:spcAft>
                <a:spcPts val="1333"/>
              </a:spcAft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77462" y="1857892"/>
            <a:ext cx="5544000" cy="1695451"/>
          </a:xfrm>
        </p:spPr>
        <p:txBody>
          <a:bodyPr/>
          <a:lstStyle>
            <a:lvl1pPr marL="0" indent="0" algn="l">
              <a:spcAft>
                <a:spcPts val="1333"/>
              </a:spcAft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9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67635" y="1857892"/>
            <a:ext cx="1244161" cy="549275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20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4795" y="1863917"/>
            <a:ext cx="1244906" cy="549275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39408974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899" y="1857892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77462" y="1857892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67635" y="1857892"/>
            <a:ext cx="1244161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469899" y="4249681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6177460" y="4249681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469899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6167796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00436" y="4249683"/>
            <a:ext cx="1274916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459036" y="4248209"/>
            <a:ext cx="1244160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4795" y="1863917"/>
            <a:ext cx="1244906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7561385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green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278313" y="1705968"/>
            <a:ext cx="3636962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69900" y="1705968"/>
            <a:ext cx="3627438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8104176" y="1705968"/>
            <a:ext cx="3629025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278313" y="1851441"/>
            <a:ext cx="3630168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9900" y="1851441"/>
            <a:ext cx="3627438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8093075" y="1851441"/>
            <a:ext cx="3629025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5867472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9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1301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56633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43366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2430734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olumn icon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903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1301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56635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43367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Presentation title</a:t>
            </a:r>
            <a:br>
              <a:rPr lang="en-US" sz="650" noProof="0">
                <a:solidFill>
                  <a:schemeClr val="bg1"/>
                </a:solidFill>
              </a:rPr>
            </a:br>
            <a:r>
              <a:rPr lang="en-US" sz="650" noProof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4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2017 Deloitte Development LLC.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382378" y="6477001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4370876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467783" y="1665817"/>
            <a:ext cx="553773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7089491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2278702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23936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200" y="5845180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0" indent="0" algn="l">
              <a:buNone/>
              <a:defRPr sz="1600" b="0">
                <a:solidFill>
                  <a:schemeClr val="bg1"/>
                </a:solidFill>
              </a:defRPr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Overview of SCP Capabilities &amp; Use Cases</a:t>
            </a:r>
          </a:p>
          <a:p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699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 noProof="0"/>
          </a:p>
        </p:txBody>
      </p:sp>
      <p:grpSp>
        <p:nvGrpSpPr>
          <p:cNvPr id="22" name="Group 21"/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3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18" name="Rectangle 17"/>
          <p:cNvSpPr/>
          <p:nvPr userDrawn="1"/>
        </p:nvSpPr>
        <p:spPr>
          <a:xfrm>
            <a:off x="462811" y="5421731"/>
            <a:ext cx="2462213" cy="33855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b="1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SAP BTP</a:t>
            </a:r>
            <a:r>
              <a:rPr lang="en-US" sz="2200" b="1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	</a:t>
            </a:r>
            <a:endParaRPr lang="en-US" sz="22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2" name="TextBox 1"/>
          <p:cNvSpPr txBox="1"/>
          <p:nvPr userDrawn="1"/>
        </p:nvSpPr>
        <p:spPr bwMode="gray">
          <a:xfrm>
            <a:off x="172720" y="152400"/>
            <a:ext cx="914400" cy="914400"/>
          </a:xfrm>
          <a:prstGeom prst="rect">
            <a:avLst/>
          </a:prstGeom>
        </p:spPr>
        <p:txBody>
          <a:bodyPr wrap="none" lIns="0" rIns="0" rtlCol="0" anchor="b" anchorCtr="0">
            <a:normAutofit/>
          </a:bodyPr>
          <a:lstStyle/>
          <a:p>
            <a:pPr>
              <a:lnSpc>
                <a:spcPts val="900"/>
              </a:lnSpc>
            </a:pPr>
            <a:endParaRPr lang="en-US" sz="1300" b="1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D5A8C-FC13-4EA7-A25A-6DDF29D7C2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22367" y="451165"/>
            <a:ext cx="5116785" cy="546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222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0270"/>
            <a:ext cx="11094171" cy="8581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331626"/>
            <a:ext cx="5384800" cy="4912003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011" y="1331626"/>
            <a:ext cx="5384800" cy="4912003"/>
          </a:xfrm>
        </p:spPr>
        <p:txBody>
          <a:bodyPr vert="horz" lIns="0" tIns="0" rIns="0" bIns="0" rtlCol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33988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Key statem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01651" y="1070768"/>
            <a:ext cx="11188700" cy="51229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36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472D8F-934F-DF16-E100-01BB125B0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8227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 &amp; 1 column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 b="0">
                <a:solidFill>
                  <a:schemeClr val="bg2"/>
                </a:solidFill>
                <a:latin typeface="+mn-lt"/>
                <a:ea typeface="Verdana" charset="0"/>
                <a:cs typeface="Verdana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1014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400">
                <a:solidFill>
                  <a:schemeClr val="accent5"/>
                </a:solidFill>
                <a:latin typeface="+mn-lt"/>
                <a:ea typeface="Verdana" charset="0"/>
                <a:cs typeface="Verdana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65818"/>
            <a:ext cx="1125220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127000" indent="-127000" algn="l"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n-lt"/>
              </a:defRPr>
            </a:lvl2pPr>
            <a:lvl3pPr marL="279400" indent="-127000" algn="l"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  <a:latin typeface="+mn-lt"/>
              </a:defRPr>
            </a:lvl3pPr>
            <a:lvl4pPr marL="431800" indent="-127000" algn="l"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  <a:latin typeface="+mn-lt"/>
              </a:defRPr>
            </a:lvl4pPr>
            <a:lvl5pPr marL="584200" indent="-127000" algn="l"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61013" y="155059"/>
            <a:ext cx="11248765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bg2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228600" lvl="0" indent="-228600"/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327336019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ags" Target="../tags/tag2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46"/>
            </p:custDataLst>
            <p:extLst>
              <p:ext uri="{D42A27DB-BD31-4B8C-83A1-F6EECF244321}">
                <p14:modId xmlns:p14="http://schemas.microsoft.com/office/powerpoint/2010/main" val="1616855049"/>
              </p:ext>
            </p:ext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7" imgW="270" imgH="270" progId="TCLayout.ActiveDocument.1">
                  <p:embed/>
                </p:oleObj>
              </mc:Choice>
              <mc:Fallback>
                <p:oleObj name="think-cell Slide" r:id="rId47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69900" y="402586"/>
            <a:ext cx="11252200" cy="6921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aseCode"/>
          <p:cNvSpPr txBox="1"/>
          <p:nvPr userDrawn="1"/>
        </p:nvSpPr>
        <p:spPr>
          <a:xfrm>
            <a:off x="6366480" y="6757973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tx1"/>
                </a:solidFill>
              </a:rPr>
              <a:t>SAP BTP | Overview of BTP Capabilities &amp; Use Cases</a:t>
            </a:r>
          </a:p>
        </p:txBody>
      </p:sp>
      <p:sp>
        <p:nvSpPr>
          <p:cNvPr id="11" name="Copyright"/>
          <p:cNvSpPr txBox="1"/>
          <p:nvPr userDrawn="1"/>
        </p:nvSpPr>
        <p:spPr>
          <a:xfrm>
            <a:off x="459740" y="6757973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tx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56393" y="6757973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tx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55" r:id="rId3"/>
    <p:sldLayoutId id="2147483756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13" r:id="rId10"/>
    <p:sldLayoutId id="2147483708" r:id="rId11"/>
    <p:sldLayoutId id="2147483710" r:id="rId12"/>
    <p:sldLayoutId id="2147483754" r:id="rId13"/>
    <p:sldLayoutId id="2147483711" r:id="rId14"/>
    <p:sldLayoutId id="2147483753" r:id="rId15"/>
    <p:sldLayoutId id="2147483679" r:id="rId16"/>
    <p:sldLayoutId id="2147483712" r:id="rId17"/>
    <p:sldLayoutId id="2147483678" r:id="rId18"/>
    <p:sldLayoutId id="2147483681" r:id="rId19"/>
    <p:sldLayoutId id="2147483735" r:id="rId20"/>
    <p:sldLayoutId id="2147483699" r:id="rId21"/>
    <p:sldLayoutId id="2147483714" r:id="rId22"/>
    <p:sldLayoutId id="2147483697" r:id="rId23"/>
    <p:sldLayoutId id="2147483718" r:id="rId24"/>
    <p:sldLayoutId id="2147483715" r:id="rId25"/>
    <p:sldLayoutId id="2147483716" r:id="rId26"/>
    <p:sldLayoutId id="2147483717" r:id="rId27"/>
    <p:sldLayoutId id="2147483728" r:id="rId28"/>
    <p:sldLayoutId id="2147483720" r:id="rId29"/>
    <p:sldLayoutId id="2147483721" r:id="rId30"/>
    <p:sldLayoutId id="2147483722" r:id="rId31"/>
    <p:sldLayoutId id="2147483695" r:id="rId32"/>
    <p:sldLayoutId id="2147483751" r:id="rId33"/>
    <p:sldLayoutId id="2147483724" r:id="rId34"/>
    <p:sldLayoutId id="2147483725" r:id="rId35"/>
    <p:sldLayoutId id="2147483726" r:id="rId36"/>
    <p:sldLayoutId id="2147483727" r:id="rId37"/>
    <p:sldLayoutId id="2147483698" r:id="rId38"/>
    <p:sldLayoutId id="2147483752" r:id="rId39"/>
    <p:sldLayoutId id="2147483696" r:id="rId40"/>
    <p:sldLayoutId id="2147483757" r:id="rId41"/>
    <p:sldLayoutId id="2147483760" r:id="rId42"/>
    <p:sldLayoutId id="2147483761" r:id="rId43"/>
    <p:sldLayoutId id="2147483762" r:id="rId44"/>
  </p:sldLayoutIdLst>
  <p:transition>
    <p:fade/>
  </p:transition>
  <p:hf hdr="0" dt="0"/>
  <p:txStyles>
    <p:titleStyle>
      <a:lvl1pPr algn="l" defTabSz="1219170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spcBef>
          <a:spcPts val="0"/>
        </a:spcBef>
        <a:spcAft>
          <a:spcPts val="1333"/>
        </a:spcAft>
        <a:buSzPct val="100000"/>
        <a:buFontTx/>
        <a:buNone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270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2794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−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4318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◦"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584200" indent="-127000" algn="l" defTabSz="1064657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−"/>
        <a:tabLst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098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orient="horz" pos="3968" userDrawn="1">
          <p15:clr>
            <a:srgbClr val="F26B43"/>
          </p15:clr>
        </p15:guide>
        <p15:guide id="4" pos="296" userDrawn="1">
          <p15:clr>
            <a:srgbClr val="F26B43"/>
          </p15:clr>
        </p15:guide>
        <p15:guide id="5" pos="7384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  <p15:guide id="7" orient="horz" pos="245" userDrawn="1">
          <p15:clr>
            <a:srgbClr val="F26B43"/>
          </p15:clr>
        </p15:guide>
        <p15:guide id="8" orient="horz" pos="4081" userDrawn="1">
          <p15:clr>
            <a:srgbClr val="F26B43"/>
          </p15:clr>
        </p15:guide>
        <p15:guide id="10" pos="4986" userDrawn="1">
          <p15:clr>
            <a:srgbClr val="F26B43"/>
          </p15:clr>
        </p15:guide>
        <p15:guide id="12" pos="1382" userDrawn="1">
          <p15:clr>
            <a:srgbClr val="F26B43"/>
          </p15:clr>
        </p15:guide>
        <p15:guide id="13" pos="1496" userDrawn="1">
          <p15:clr>
            <a:srgbClr val="F26B43"/>
          </p15:clr>
        </p15:guide>
        <p15:guide id="14" pos="2581" userDrawn="1">
          <p15:clr>
            <a:srgbClr val="F26B43"/>
          </p15:clr>
        </p15:guide>
        <p15:guide id="15" pos="2695" userDrawn="1">
          <p15:clr>
            <a:srgbClr val="F26B43"/>
          </p15:clr>
        </p15:guide>
        <p15:guide id="16" pos="6185" userDrawn="1">
          <p15:clr>
            <a:srgbClr val="F26B43"/>
          </p15:clr>
        </p15:guide>
        <p15:guide id="17" pos="3783" userDrawn="1">
          <p15:clr>
            <a:srgbClr val="F26B43"/>
          </p15:clr>
        </p15:guide>
        <p15:guide id="18" pos="3896" userDrawn="1">
          <p15:clr>
            <a:srgbClr val="F26B43"/>
          </p15:clr>
        </p15:guide>
        <p15:guide id="19" pos="3840" userDrawn="1">
          <p15:clr>
            <a:srgbClr val="F26B43"/>
          </p15:clr>
        </p15:guide>
        <p15:guide id="20" pos="6299" userDrawn="1">
          <p15:clr>
            <a:srgbClr val="F26B43"/>
          </p15:clr>
        </p15:guide>
        <p15:guide id="21" orient="horz" pos="1049" userDrawn="1">
          <p15:clr>
            <a:srgbClr val="F26B43"/>
          </p15:clr>
        </p15:guide>
        <p15:guide id="22" orient="horz" pos="641" userDrawn="1">
          <p15:clr>
            <a:srgbClr val="F26B43"/>
          </p15:clr>
        </p15:guide>
        <p15:guide id="23" orient="horz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3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9A40E202-D37F-4FA8-82FB-20DA95C25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5667" y="4561726"/>
            <a:ext cx="6272695" cy="1859623"/>
          </a:xfrm>
        </p:spPr>
        <p:txBody>
          <a:bodyPr anchor="t"/>
          <a:lstStyle/>
          <a:p>
            <a:pPr algn="ctr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SAP Build Apps &amp; Build Code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9742490" y="6547634"/>
            <a:ext cx="2319371" cy="192213"/>
          </a:xfrm>
        </p:spPr>
        <p:txBody>
          <a:bodyPr/>
          <a:lstStyle/>
          <a:p>
            <a:r>
              <a:rPr lang="en-US" noProof="0"/>
              <a:t>Deloitte Consulting LLP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5C13028-3154-401C-868E-0725508DBD0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-12641" t="-8657" r="-12641" b="-8657"/>
          <a:stretch/>
        </p:blipFill>
        <p:spPr>
          <a:xfrm>
            <a:off x="3182276" y="94162"/>
            <a:ext cx="5400000" cy="4479532"/>
          </a:xfrm>
        </p:spPr>
      </p:pic>
    </p:spTree>
    <p:extLst>
      <p:ext uri="{BB962C8B-B14F-4D97-AF65-F5344CB8AC3E}">
        <p14:creationId xmlns:p14="http://schemas.microsoft.com/office/powerpoint/2010/main" val="125988806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4">
            <a:extLst>
              <a:ext uri="{FF2B5EF4-FFF2-40B4-BE49-F238E27FC236}">
                <a16:creationId xmlns:a16="http://schemas.microsoft.com/office/drawing/2014/main" id="{3672ECB5-F3BF-8B63-35C9-932FF744C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50" y="317501"/>
            <a:ext cx="11188700" cy="309820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	     SAP Build Portfolio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9A007-A6DD-9925-60D7-E284FDC84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458" y="914764"/>
            <a:ext cx="8598482" cy="3089779"/>
          </a:xfrm>
          <a:prstGeom prst="rect">
            <a:avLst/>
          </a:prstGeom>
        </p:spPr>
      </p:pic>
      <p:pic>
        <p:nvPicPr>
          <p:cNvPr id="4" name="Picture 3" descr="Screens screenshots of a software application&#10;&#10;Description automatically generated">
            <a:extLst>
              <a:ext uri="{FF2B5EF4-FFF2-40B4-BE49-F238E27FC236}">
                <a16:creationId xmlns:a16="http://schemas.microsoft.com/office/drawing/2014/main" id="{E6E608A4-93F8-E286-7B3E-AED4DE307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647" y="4291987"/>
            <a:ext cx="10511118" cy="216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02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D16E7EB-41DB-4253-8964-51F2C1952B76}"/>
              </a:ext>
            </a:extLst>
          </p:cNvPr>
          <p:cNvSpPr txBox="1"/>
          <p:nvPr/>
        </p:nvSpPr>
        <p:spPr bwMode="gray">
          <a:xfrm>
            <a:off x="0" y="0"/>
            <a:ext cx="12192000" cy="596900"/>
          </a:xfrm>
          <a:prstGeom prst="rect">
            <a:avLst/>
          </a:prstGeom>
        </p:spPr>
        <p:txBody>
          <a:bodyPr wrap="square" lIns="0" rIns="0" rtlCol="0" anchor="b" anchorCtr="0">
            <a:noAutofit/>
          </a:bodyPr>
          <a:lstStyle/>
          <a:p>
            <a:pPr algn="ctr">
              <a:lnSpc>
                <a:spcPts val="900"/>
              </a:lnSpc>
              <a:spcAft>
                <a:spcPts val="600"/>
              </a:spcAft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Build Apps Features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6763A5-7F48-52A9-B3F5-F500BCC05FB7}"/>
              </a:ext>
            </a:extLst>
          </p:cNvPr>
          <p:cNvGrpSpPr/>
          <p:nvPr/>
        </p:nvGrpSpPr>
        <p:grpSpPr>
          <a:xfrm>
            <a:off x="1509269" y="2328738"/>
            <a:ext cx="3107886" cy="415498"/>
            <a:chOff x="3198310" y="766692"/>
            <a:chExt cx="4143847" cy="55399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62D48F2-EFB7-AF2C-0952-0674162811B6}"/>
                </a:ext>
              </a:extLst>
            </p:cNvPr>
            <p:cNvSpPr/>
            <p:nvPr/>
          </p:nvSpPr>
          <p:spPr bwMode="gray">
            <a:xfrm>
              <a:off x="3942427" y="841716"/>
              <a:ext cx="3399730" cy="403951"/>
            </a:xfrm>
            <a:prstGeom prst="rect">
              <a:avLst/>
            </a:prstGeom>
            <a:solidFill>
              <a:srgbClr val="009A44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defRPr/>
              </a:pPr>
              <a:r>
                <a:rPr lang="en-US" sz="1000" b="1" dirty="0">
                  <a:solidFill>
                    <a:prstClr val="white"/>
                  </a:solidFill>
                </a:rPr>
                <a:t>Build Simpler and Faster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08F2C4F-E952-3E40-1C18-937975DB1ADB}"/>
                </a:ext>
              </a:extLst>
            </p:cNvPr>
            <p:cNvSpPr txBox="1"/>
            <p:nvPr/>
          </p:nvSpPr>
          <p:spPr>
            <a:xfrm>
              <a:off x="3198310" y="766692"/>
              <a:ext cx="805844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685800">
                <a:spcBef>
                  <a:spcPts val="450"/>
                </a:spcBef>
                <a:buSzPct val="100000"/>
                <a:defRPr/>
              </a:pPr>
              <a:r>
                <a:rPr lang="en-US" sz="2700" b="1" dirty="0">
                  <a:solidFill>
                    <a:schemeClr val="bg1"/>
                  </a:solidFill>
                  <a:latin typeface="Calibri Light"/>
                </a:rPr>
                <a:t>02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4E23523-C937-CCFC-5E73-2536A25533DE}"/>
              </a:ext>
            </a:extLst>
          </p:cNvPr>
          <p:cNvGrpSpPr/>
          <p:nvPr/>
        </p:nvGrpSpPr>
        <p:grpSpPr>
          <a:xfrm>
            <a:off x="752852" y="3105425"/>
            <a:ext cx="3647084" cy="415498"/>
            <a:chOff x="3198310" y="766692"/>
            <a:chExt cx="4862778" cy="55399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CDBD91-581B-9E19-7D9B-CB03EFD12480}"/>
                </a:ext>
              </a:extLst>
            </p:cNvPr>
            <p:cNvSpPr/>
            <p:nvPr/>
          </p:nvSpPr>
          <p:spPr bwMode="gray">
            <a:xfrm>
              <a:off x="3942427" y="841716"/>
              <a:ext cx="4118661" cy="403951"/>
            </a:xfrm>
            <a:prstGeom prst="rect">
              <a:avLst/>
            </a:prstGeom>
            <a:solidFill>
              <a:srgbClr val="0097A9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defRPr/>
              </a:pPr>
              <a:r>
                <a:rPr lang="en-US" sz="1000" b="1" dirty="0">
                  <a:solidFill>
                    <a:prstClr val="white"/>
                  </a:solidFill>
                </a:rPr>
                <a:t>Integrate Seamlessly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40E9518-8748-7B22-5F2D-2F4CB715810E}"/>
                </a:ext>
              </a:extLst>
            </p:cNvPr>
            <p:cNvSpPr txBox="1"/>
            <p:nvPr/>
          </p:nvSpPr>
          <p:spPr>
            <a:xfrm>
              <a:off x="3198310" y="766692"/>
              <a:ext cx="805844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685800">
                <a:spcBef>
                  <a:spcPts val="450"/>
                </a:spcBef>
                <a:buSzPct val="100000"/>
                <a:defRPr/>
              </a:pPr>
              <a:r>
                <a:rPr lang="en-US" sz="2700" b="1" dirty="0">
                  <a:solidFill>
                    <a:schemeClr val="bg1"/>
                  </a:solidFill>
                  <a:latin typeface="Calibri Light"/>
                </a:rPr>
                <a:t>03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70D91E4-464B-F8CC-D8C3-4387DC08C6FD}"/>
              </a:ext>
            </a:extLst>
          </p:cNvPr>
          <p:cNvSpPr/>
          <p:nvPr/>
        </p:nvSpPr>
        <p:spPr bwMode="gray">
          <a:xfrm>
            <a:off x="1310884" y="3938379"/>
            <a:ext cx="3088997" cy="302963"/>
          </a:xfrm>
          <a:prstGeom prst="rect">
            <a:avLst/>
          </a:prstGeom>
          <a:solidFill>
            <a:srgbClr val="007680"/>
          </a:solidFill>
          <a:ln w="19050" algn="ctr">
            <a:noFill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 algn="ctr" defTabSz="685800">
              <a:defRPr/>
            </a:pPr>
            <a:r>
              <a:rPr lang="en-US" sz="1000" b="1" dirty="0">
                <a:solidFill>
                  <a:prstClr val="white"/>
                </a:solidFill>
              </a:rPr>
              <a:t>Collaboration and Governance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76AB44-020B-9708-A21A-CF7D6B5B1890}"/>
              </a:ext>
            </a:extLst>
          </p:cNvPr>
          <p:cNvSpPr txBox="1"/>
          <p:nvPr/>
        </p:nvSpPr>
        <p:spPr>
          <a:xfrm>
            <a:off x="752796" y="3882111"/>
            <a:ext cx="604383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800">
              <a:spcBef>
                <a:spcPts val="450"/>
              </a:spcBef>
              <a:buSzPct val="100000"/>
              <a:defRPr/>
            </a:pPr>
            <a:r>
              <a:rPr lang="en-US" sz="2700" b="1" dirty="0">
                <a:solidFill>
                  <a:schemeClr val="bg1"/>
                </a:solidFill>
                <a:latin typeface="Calibri Light"/>
              </a:rPr>
              <a:t>04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D5B6D0-880C-E2B7-7707-6588CF43C374}"/>
              </a:ext>
            </a:extLst>
          </p:cNvPr>
          <p:cNvSpPr/>
          <p:nvPr/>
        </p:nvSpPr>
        <p:spPr bwMode="gray">
          <a:xfrm>
            <a:off x="2065264" y="4715066"/>
            <a:ext cx="2549798" cy="401464"/>
          </a:xfrm>
          <a:prstGeom prst="rect">
            <a:avLst/>
          </a:prstGeom>
          <a:solidFill>
            <a:srgbClr val="004F59"/>
          </a:solidFill>
          <a:ln w="19050" algn="ctr">
            <a:noFill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 defTabSz="685800">
              <a:defRPr/>
            </a:pPr>
            <a:r>
              <a:rPr lang="en-US" sz="1000" b="1" dirty="0">
                <a:solidFill>
                  <a:prstClr val="white"/>
                </a:solidFill>
              </a:rPr>
              <a:t>Pre delivered templates &amp; logic components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1C35F2-D995-D063-3448-189960B9B045}"/>
              </a:ext>
            </a:extLst>
          </p:cNvPr>
          <p:cNvSpPr txBox="1"/>
          <p:nvPr/>
        </p:nvSpPr>
        <p:spPr>
          <a:xfrm>
            <a:off x="1507176" y="4658798"/>
            <a:ext cx="604383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800">
              <a:spcBef>
                <a:spcPts val="450"/>
              </a:spcBef>
              <a:buSzPct val="100000"/>
              <a:defRPr/>
            </a:pPr>
            <a:r>
              <a:rPr lang="en-US" sz="2700" b="1" dirty="0">
                <a:solidFill>
                  <a:schemeClr val="bg1"/>
                </a:solidFill>
                <a:latin typeface="Calibri Light"/>
              </a:rPr>
              <a:t>05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AC40A3-DE65-6F95-C9FC-A558A02C13A0}"/>
              </a:ext>
            </a:extLst>
          </p:cNvPr>
          <p:cNvSpPr/>
          <p:nvPr/>
        </p:nvSpPr>
        <p:spPr bwMode="gray">
          <a:xfrm>
            <a:off x="2778496" y="5491751"/>
            <a:ext cx="1990140" cy="395341"/>
          </a:xfrm>
          <a:prstGeom prst="rect">
            <a:avLst/>
          </a:prstGeom>
          <a:solidFill>
            <a:srgbClr val="005587"/>
          </a:solidFill>
          <a:ln w="19050" algn="ctr">
            <a:noFill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 defTabSz="685800">
              <a:defRPr/>
            </a:pPr>
            <a:r>
              <a:rPr lang="en-US" sz="1000" b="1" dirty="0">
                <a:solidFill>
                  <a:prstClr val="white"/>
                </a:solidFill>
              </a:rPr>
              <a:t>Develop and Extend web &amp; mobile applications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481BBC-01A8-6DF5-D135-2DA1B796C715}"/>
              </a:ext>
            </a:extLst>
          </p:cNvPr>
          <p:cNvSpPr txBox="1"/>
          <p:nvPr/>
        </p:nvSpPr>
        <p:spPr>
          <a:xfrm>
            <a:off x="2220408" y="5435483"/>
            <a:ext cx="604383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800">
              <a:spcBef>
                <a:spcPts val="450"/>
              </a:spcBef>
              <a:buSzPct val="100000"/>
              <a:defRPr/>
            </a:pPr>
            <a:r>
              <a:rPr lang="en-US" sz="2700" b="1" dirty="0">
                <a:solidFill>
                  <a:schemeClr val="bg1"/>
                </a:solidFill>
                <a:latin typeface="Calibri Light"/>
              </a:rPr>
              <a:t>06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9F8E671-0884-C17F-7023-DB69DDBA7742}"/>
              </a:ext>
            </a:extLst>
          </p:cNvPr>
          <p:cNvGrpSpPr/>
          <p:nvPr/>
        </p:nvGrpSpPr>
        <p:grpSpPr>
          <a:xfrm>
            <a:off x="2218841" y="1552052"/>
            <a:ext cx="2549795" cy="415498"/>
            <a:chOff x="3198310" y="766692"/>
            <a:chExt cx="2908129" cy="553998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8F80F76-2B9A-E053-1165-411C4BF3FD5C}"/>
                </a:ext>
              </a:extLst>
            </p:cNvPr>
            <p:cNvSpPr/>
            <p:nvPr/>
          </p:nvSpPr>
          <p:spPr bwMode="gray">
            <a:xfrm>
              <a:off x="3942427" y="841716"/>
              <a:ext cx="2164012" cy="403951"/>
            </a:xfrm>
            <a:prstGeom prst="rect">
              <a:avLst/>
            </a:prstGeom>
            <a:solidFill>
              <a:srgbClr val="43B02A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defTabSz="685800">
                <a:defRPr/>
              </a:pPr>
              <a:r>
                <a:rPr lang="en-US" sz="1000" b="1" dirty="0">
                  <a:solidFill>
                    <a:prstClr val="white"/>
                  </a:solidFill>
                </a:rPr>
                <a:t>Create Apps without code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EFD01A5-05C7-3AAC-F5FB-BF70B037B133}"/>
                </a:ext>
              </a:extLst>
            </p:cNvPr>
            <p:cNvSpPr txBox="1"/>
            <p:nvPr/>
          </p:nvSpPr>
          <p:spPr>
            <a:xfrm>
              <a:off x="3198310" y="766692"/>
              <a:ext cx="805844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685800">
                <a:spcBef>
                  <a:spcPts val="450"/>
                </a:spcBef>
                <a:buSzPct val="100000"/>
                <a:defRPr/>
              </a:pPr>
              <a:r>
                <a:rPr lang="en-US" sz="2700" b="1" dirty="0">
                  <a:solidFill>
                    <a:schemeClr val="bg1"/>
                  </a:solidFill>
                  <a:latin typeface="Calibri Light"/>
                </a:rPr>
                <a:t>01</a:t>
              </a:r>
            </a:p>
          </p:txBody>
        </p:sp>
      </p:grpSp>
      <p:pic>
        <p:nvPicPr>
          <p:cNvPr id="2" name="Picture 1" descr="SAP Build Apps screen seen on a monitor">
            <a:extLst>
              <a:ext uri="{FF2B5EF4-FFF2-40B4-BE49-F238E27FC236}">
                <a16:creationId xmlns:a16="http://schemas.microsoft.com/office/drawing/2014/main" id="{790A1D1E-601F-7060-A4F6-5C9E6909D2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568" y="1247997"/>
            <a:ext cx="7141298" cy="46082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820148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D16E7EB-41DB-4253-8964-51F2C1952B76}"/>
              </a:ext>
            </a:extLst>
          </p:cNvPr>
          <p:cNvSpPr txBox="1"/>
          <p:nvPr/>
        </p:nvSpPr>
        <p:spPr bwMode="gray">
          <a:xfrm>
            <a:off x="0" y="-10274"/>
            <a:ext cx="12192000" cy="596900"/>
          </a:xfrm>
          <a:prstGeom prst="rect">
            <a:avLst/>
          </a:prstGeom>
        </p:spPr>
        <p:txBody>
          <a:bodyPr wrap="square" lIns="0" rIns="0" rtlCol="0" anchor="b" anchorCtr="0">
            <a:noAutofit/>
          </a:bodyPr>
          <a:lstStyle/>
          <a:p>
            <a:pPr algn="ctr">
              <a:lnSpc>
                <a:spcPts val="900"/>
              </a:lnSpc>
              <a:spcAft>
                <a:spcPts val="600"/>
              </a:spcAft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Build Apps Insights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0796C6-7FC0-C829-C263-A4CBF4184A1C}"/>
              </a:ext>
            </a:extLst>
          </p:cNvPr>
          <p:cNvSpPr txBox="1"/>
          <p:nvPr/>
        </p:nvSpPr>
        <p:spPr bwMode="gray">
          <a:xfrm>
            <a:off x="9785023" y="6419654"/>
            <a:ext cx="1875934" cy="301657"/>
          </a:xfrm>
          <a:prstGeom prst="rect">
            <a:avLst/>
          </a:prstGeom>
        </p:spPr>
        <p:txBody>
          <a:bodyPr wrap="square" lIns="0" rIns="0" rtlCol="0" anchor="b" anchorCtr="0">
            <a:normAutofit/>
          </a:bodyPr>
          <a:lstStyle/>
          <a:p>
            <a:pPr>
              <a:lnSpc>
                <a:spcPts val="900"/>
              </a:lnSpc>
            </a:pPr>
            <a:endParaRPr lang="en-US" sz="1300" b="1" dirty="0">
              <a:solidFill>
                <a:schemeClr val="bg1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126BBD0-83E5-BDAF-CE21-C0193F8E7967}"/>
              </a:ext>
            </a:extLst>
          </p:cNvPr>
          <p:cNvGrpSpPr/>
          <p:nvPr/>
        </p:nvGrpSpPr>
        <p:grpSpPr>
          <a:xfrm>
            <a:off x="359248" y="1141323"/>
            <a:ext cx="11473500" cy="4733907"/>
            <a:chOff x="1354879" y="1608028"/>
            <a:chExt cx="9482238" cy="3912320"/>
          </a:xfrm>
        </p:grpSpPr>
        <p:sp>
          <p:nvSpPr>
            <p:cNvPr id="32" name="Text Placeholder 5">
              <a:extLst>
                <a:ext uri="{FF2B5EF4-FFF2-40B4-BE49-F238E27FC236}">
                  <a16:creationId xmlns:a16="http://schemas.microsoft.com/office/drawing/2014/main" id="{6D28F1B0-6EBD-65AD-7DD8-B629B1152213}"/>
                </a:ext>
              </a:extLst>
            </p:cNvPr>
            <p:cNvSpPr txBox="1">
              <a:spLocks/>
            </p:cNvSpPr>
            <p:nvPr>
              <p:custDataLst>
                <p:tags r:id="rId1"/>
              </p:custDataLst>
            </p:nvPr>
          </p:nvSpPr>
          <p:spPr>
            <a:xfrm>
              <a:off x="1354879" y="1608896"/>
              <a:ext cx="3605213" cy="3911452"/>
            </a:xfrm>
            <a:prstGeom prst="homePlate">
              <a:avLst>
                <a:gd name="adj" fmla="val 8173"/>
              </a:avLst>
            </a:prstGeom>
            <a:solidFill>
              <a:sysClr val="window" lastClr="FFFFFF"/>
            </a:solidFill>
            <a:ln w="6350">
              <a:solidFill>
                <a:srgbClr val="BBBCBC"/>
              </a:solidFill>
            </a:ln>
          </p:spPr>
          <p:txBody>
            <a:bodyPr wrap="square" lIns="88900" tIns="88900" rIns="88900" bIns="88900"/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defRPr/>
              </a:pPr>
              <a:r>
                <a:rPr lang="en-US" sz="1600" b="1" dirty="0">
                  <a:solidFill>
                    <a:schemeClr val="tx1"/>
                  </a:solidFill>
                </a:rPr>
                <a:t>Pros</a:t>
              </a:r>
            </a:p>
            <a:p>
              <a:pPr marL="0" lvl="1" indent="0">
                <a:spcBef>
                  <a:spcPts val="600"/>
                </a:spcBef>
                <a:buSzPct val="100000"/>
                <a:defRPr/>
              </a:pPr>
              <a:r>
                <a:rPr lang="en-US" sz="1600" dirty="0">
                  <a:solidFill>
                    <a:srgbClr val="3C3C3C"/>
                  </a:solidFill>
                  <a:ea typeface="+mn-ea"/>
                  <a:cs typeface="+mn-cs"/>
                </a:rPr>
                <a:t> Low code/no code development to create apps with minimal or no coding required</a:t>
              </a:r>
            </a:p>
            <a:p>
              <a:pPr marL="0" lvl="1" indent="0">
                <a:spcBef>
                  <a:spcPts val="600"/>
                </a:spcBef>
                <a:buSzPct val="100000"/>
                <a:buNone/>
                <a:defRPr/>
              </a:pPr>
              <a:endParaRPr lang="en-US" sz="1600" dirty="0">
                <a:solidFill>
                  <a:srgbClr val="3C3C3C"/>
                </a:solidFill>
                <a:ea typeface="+mn-ea"/>
                <a:cs typeface="+mn-cs"/>
              </a:endParaRPr>
            </a:p>
            <a:p>
              <a:pPr marL="0" lvl="1" indent="0">
                <a:spcBef>
                  <a:spcPts val="600"/>
                </a:spcBef>
                <a:buSzPct val="100000"/>
                <a:defRPr/>
              </a:pPr>
              <a:r>
                <a:rPr lang="en-US" sz="1600" dirty="0">
                  <a:solidFill>
                    <a:srgbClr val="3C3C3C"/>
                  </a:solidFill>
                  <a:ea typeface="+mn-ea"/>
                  <a:cs typeface="+mn-cs"/>
                </a:rPr>
                <a:t> Offers User friendly interface to create prototypes without extensive technical knowledge</a:t>
              </a:r>
            </a:p>
            <a:p>
              <a:pPr marL="0" lvl="1" indent="0">
                <a:spcBef>
                  <a:spcPts val="600"/>
                </a:spcBef>
                <a:buSzPct val="100000"/>
                <a:buNone/>
                <a:defRPr/>
              </a:pPr>
              <a:endParaRPr lang="en-US" sz="1600" dirty="0">
                <a:solidFill>
                  <a:srgbClr val="3C3C3C"/>
                </a:solidFill>
                <a:ea typeface="+mn-ea"/>
                <a:cs typeface="+mn-cs"/>
              </a:endParaRPr>
            </a:p>
            <a:p>
              <a:pPr marL="0" lvl="1" indent="0">
                <a:spcBef>
                  <a:spcPts val="600"/>
                </a:spcBef>
                <a:buSzPct val="100000"/>
                <a:defRPr/>
              </a:pPr>
              <a:r>
                <a:rPr lang="en-US" sz="1600" dirty="0">
                  <a:solidFill>
                    <a:srgbClr val="3C3C3C"/>
                  </a:solidFill>
                  <a:ea typeface="+mn-ea"/>
                  <a:cs typeface="+mn-cs"/>
                </a:rPr>
                <a:t> Available in Trial Account</a:t>
              </a:r>
            </a:p>
          </p:txBody>
        </p:sp>
        <p:sp>
          <p:nvSpPr>
            <p:cNvPr id="33" name="Text Placeholder 5">
              <a:extLst>
                <a:ext uri="{FF2B5EF4-FFF2-40B4-BE49-F238E27FC236}">
                  <a16:creationId xmlns:a16="http://schemas.microsoft.com/office/drawing/2014/main" id="{0EF8017E-00D8-6A98-1C4A-07D873B3D34E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7231904" y="1608028"/>
              <a:ext cx="3605213" cy="3911452"/>
            </a:xfrm>
            <a:prstGeom prst="homePlate">
              <a:avLst>
                <a:gd name="adj" fmla="val 8173"/>
              </a:avLst>
            </a:prstGeom>
            <a:solidFill>
              <a:sysClr val="window" lastClr="FFFFFF"/>
            </a:solidFill>
            <a:ln w="6350">
              <a:solidFill>
                <a:srgbClr val="BBBCBC"/>
              </a:solidFill>
            </a:ln>
          </p:spPr>
          <p:txBody>
            <a:bodyPr wrap="square" lIns="274320" tIns="88900" rIns="88900" bIns="88900"/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defRPr/>
              </a:pPr>
              <a:r>
                <a:rPr lang="en-US" sz="1600" b="1" dirty="0">
                  <a:solidFill>
                    <a:schemeClr val="tx1"/>
                  </a:solidFill>
                </a:rPr>
                <a:t>Limitations</a:t>
              </a:r>
            </a:p>
            <a:p>
              <a:pPr marL="285750" indent="-285750" algn="l"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3C3C3C"/>
                  </a:solidFill>
                </a:rPr>
                <a:t>Offers limited customization and well suited for simple to medium complexity developments</a:t>
              </a:r>
            </a:p>
            <a:p>
              <a:pPr algn="l"/>
              <a:endParaRPr lang="en-US" sz="1600" dirty="0">
                <a:solidFill>
                  <a:srgbClr val="3C3C3C"/>
                </a:solidFill>
              </a:endParaRPr>
            </a:p>
            <a:p>
              <a:pPr marL="285750" indent="-285750" algn="l"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3C3C3C"/>
                  </a:solidFill>
                </a:rPr>
                <a:t>For small &amp; medium sized enterprises, cost needs to be well assessed &amp; weighed</a:t>
              </a:r>
            </a:p>
            <a:p>
              <a:pPr algn="l"/>
              <a:endParaRPr lang="en-US" sz="1600" dirty="0">
                <a:solidFill>
                  <a:srgbClr val="3C3C3C"/>
                </a:solidFill>
              </a:endParaRPr>
            </a:p>
            <a:p>
              <a:pPr marL="285750" indent="-285750" algn="l">
                <a:buFont typeface="Wingdings" panose="05000000000000000000" pitchFamily="2" charset="2"/>
                <a:buChar char="§"/>
              </a:pPr>
              <a:r>
                <a:rPr lang="en-US" sz="1600" b="0" i="0" dirty="0">
                  <a:solidFill>
                    <a:srgbClr val="3C3C3C"/>
                  </a:solidFill>
                  <a:effectLst/>
                </a:rPr>
                <a:t>A bit learning curve </a:t>
              </a:r>
              <a:r>
                <a:rPr lang="en-US" sz="1600" dirty="0">
                  <a:solidFill>
                    <a:srgbClr val="3C3C3C"/>
                  </a:solidFill>
                </a:rPr>
                <a:t>might be needed for those who are not familiar with SAP products</a:t>
              </a:r>
              <a:endParaRPr lang="en-US" sz="1600" b="0" i="0" dirty="0">
                <a:solidFill>
                  <a:srgbClr val="3C3C3C"/>
                </a:solidFill>
                <a:effectLst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CF99857-81A6-95CA-F5DC-1A8B788A9B96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964087" y="2430541"/>
              <a:ext cx="2263829" cy="2266427"/>
            </a:xfrm>
            <a:prstGeom prst="ellipse">
              <a:avLst/>
            </a:prstGeom>
            <a:solidFill>
              <a:srgbClr val="86BC25"/>
            </a:solidFill>
            <a:ln w="6350" algn="ctr">
              <a:noFill/>
              <a:round/>
              <a:headEnd/>
              <a:tailEnd/>
            </a:ln>
          </p:spPr>
          <p:txBody>
            <a:bodyPr lIns="88900" tIns="88900" rIns="88900" bIns="88900" anchor="ctr"/>
            <a:lstStyle/>
            <a:p>
              <a:pPr algn="ctr">
                <a:defRPr/>
              </a:pPr>
              <a:r>
                <a:rPr lang="en-US" sz="1600" kern="0" dirty="0">
                  <a:solidFill>
                    <a:prstClr val="white"/>
                  </a:solidFill>
                  <a:latin typeface="+mj-lt"/>
                  <a:ea typeface="ＭＳ Ｐゴシック" pitchFamily="50" charset="-128"/>
                </a:rPr>
                <a:t>SAP Build Apps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352939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C2DBE47-0576-DDE9-F266-0FED66AA886F}"/>
              </a:ext>
            </a:extLst>
          </p:cNvPr>
          <p:cNvSpPr txBox="1">
            <a:spLocks/>
          </p:cNvSpPr>
          <p:nvPr/>
        </p:nvSpPr>
        <p:spPr bwMode="gray">
          <a:xfrm>
            <a:off x="461014" y="225135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21917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800" b="1" dirty="0">
                <a:solidFill>
                  <a:prstClr val="white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SAP Build Apps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BBE1A5-90D7-38ED-FD18-1B1F395E7946}"/>
              </a:ext>
            </a:extLst>
          </p:cNvPr>
          <p:cNvSpPr txBox="1"/>
          <p:nvPr/>
        </p:nvSpPr>
        <p:spPr bwMode="gray">
          <a:xfrm>
            <a:off x="327083" y="797311"/>
            <a:ext cx="105796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C</a:t>
            </a:r>
            <a:r>
              <a:rPr lang="en-US" sz="2000" b="1" i="0" dirty="0">
                <a:solidFill>
                  <a:schemeClr val="bg1"/>
                </a:solidFill>
                <a:effectLst/>
              </a:rPr>
              <a:t>reate a new project from Build Lobby</a:t>
            </a:r>
            <a:r>
              <a:rPr lang="en-US" sz="2000" b="1" dirty="0">
                <a:solidFill>
                  <a:schemeClr val="bg1"/>
                </a:solidFill>
              </a:rPr>
              <a:t> and launch</a:t>
            </a:r>
            <a:r>
              <a:rPr lang="en-US" sz="2000" b="1" i="0" dirty="0">
                <a:solidFill>
                  <a:schemeClr val="bg1"/>
                </a:solidFill>
                <a:effectLst/>
              </a:rPr>
              <a:t> SAP Build Apps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2050" name="Picture 2" descr="The Logic Pane">
            <a:extLst>
              <a:ext uri="{FF2B5EF4-FFF2-40B4-BE49-F238E27FC236}">
                <a16:creationId xmlns:a16="http://schemas.microsoft.com/office/drawing/2014/main" id="{259405E1-3840-6C81-AD35-FA7772809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784" y="1709363"/>
            <a:ext cx="8513852" cy="478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075854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D16E7EB-41DB-4253-8964-51F2C1952B76}"/>
              </a:ext>
            </a:extLst>
          </p:cNvPr>
          <p:cNvSpPr txBox="1"/>
          <p:nvPr/>
        </p:nvSpPr>
        <p:spPr bwMode="gray">
          <a:xfrm>
            <a:off x="0" y="0"/>
            <a:ext cx="12192000" cy="596900"/>
          </a:xfrm>
          <a:prstGeom prst="rect">
            <a:avLst/>
          </a:prstGeom>
        </p:spPr>
        <p:txBody>
          <a:bodyPr wrap="square" lIns="0" rIns="0" rtlCol="0" anchor="b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SAP Build </a:t>
            </a:r>
            <a:r>
              <a:rPr lang="en-US" sz="280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Features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6763A5-7F48-52A9-B3F5-F500BCC05FB7}"/>
              </a:ext>
            </a:extLst>
          </p:cNvPr>
          <p:cNvGrpSpPr/>
          <p:nvPr/>
        </p:nvGrpSpPr>
        <p:grpSpPr>
          <a:xfrm>
            <a:off x="1509269" y="2328738"/>
            <a:ext cx="3107886" cy="415498"/>
            <a:chOff x="3198310" y="766692"/>
            <a:chExt cx="4143847" cy="55399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62D48F2-EFB7-AF2C-0952-0674162811B6}"/>
                </a:ext>
              </a:extLst>
            </p:cNvPr>
            <p:cNvSpPr/>
            <p:nvPr/>
          </p:nvSpPr>
          <p:spPr bwMode="gray">
            <a:xfrm>
              <a:off x="3942427" y="841716"/>
              <a:ext cx="3399730" cy="403951"/>
            </a:xfrm>
            <a:prstGeom prst="rect">
              <a:avLst/>
            </a:prstGeom>
            <a:solidFill>
              <a:srgbClr val="009A44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Enhance fusion development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08F2C4F-E952-3E40-1C18-937975DB1ADB}"/>
                </a:ext>
              </a:extLst>
            </p:cNvPr>
            <p:cNvSpPr txBox="1"/>
            <p:nvPr/>
          </p:nvSpPr>
          <p:spPr>
            <a:xfrm>
              <a:off x="3198310" y="766692"/>
              <a:ext cx="805844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27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4E23523-C937-CCFC-5E73-2536A25533DE}"/>
              </a:ext>
            </a:extLst>
          </p:cNvPr>
          <p:cNvGrpSpPr/>
          <p:nvPr/>
        </p:nvGrpSpPr>
        <p:grpSpPr>
          <a:xfrm>
            <a:off x="752852" y="3105425"/>
            <a:ext cx="3647084" cy="415498"/>
            <a:chOff x="3198310" y="766692"/>
            <a:chExt cx="4862778" cy="55399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CDBD91-581B-9E19-7D9B-CB03EFD12480}"/>
                </a:ext>
              </a:extLst>
            </p:cNvPr>
            <p:cNvSpPr/>
            <p:nvPr/>
          </p:nvSpPr>
          <p:spPr bwMode="gray">
            <a:xfrm>
              <a:off x="3942427" y="841716"/>
              <a:ext cx="4118661" cy="403951"/>
            </a:xfrm>
            <a:prstGeom prst="rect">
              <a:avLst/>
            </a:prstGeom>
            <a:solidFill>
              <a:srgbClr val="0097A9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dirty="0">
                  <a:solidFill>
                    <a:prstClr val="white"/>
                  </a:solidFill>
                  <a:latin typeface="Verdana"/>
                </a:rPr>
                <a:t>Tailored for SAP development</a:t>
              </a:r>
              <a:endPara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40E9518-8748-7B22-5F2D-2F4CB715810E}"/>
                </a:ext>
              </a:extLst>
            </p:cNvPr>
            <p:cNvSpPr txBox="1"/>
            <p:nvPr/>
          </p:nvSpPr>
          <p:spPr>
            <a:xfrm>
              <a:off x="3198310" y="766692"/>
              <a:ext cx="805844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27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03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70D91E4-464B-F8CC-D8C3-4387DC08C6FD}"/>
              </a:ext>
            </a:extLst>
          </p:cNvPr>
          <p:cNvSpPr/>
          <p:nvPr/>
        </p:nvSpPr>
        <p:spPr bwMode="gray">
          <a:xfrm>
            <a:off x="1310884" y="3938379"/>
            <a:ext cx="3088997" cy="302963"/>
          </a:xfrm>
          <a:prstGeom prst="rect">
            <a:avLst/>
          </a:prstGeom>
          <a:solidFill>
            <a:srgbClr val="007680"/>
          </a:solidFill>
          <a:ln w="19050" algn="ctr">
            <a:noFill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>
                <a:solidFill>
                  <a:prstClr val="white"/>
                </a:solidFill>
                <a:latin typeface="Verdana"/>
              </a:rPr>
              <a:t>Combines SAP BAS with SDKs on BTP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76AB44-020B-9708-A21A-CF7D6B5B1890}"/>
              </a:ext>
            </a:extLst>
          </p:cNvPr>
          <p:cNvSpPr txBox="1"/>
          <p:nvPr/>
        </p:nvSpPr>
        <p:spPr>
          <a:xfrm>
            <a:off x="752796" y="3882111"/>
            <a:ext cx="604383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04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D5B6D0-880C-E2B7-7707-6588CF43C374}"/>
              </a:ext>
            </a:extLst>
          </p:cNvPr>
          <p:cNvSpPr/>
          <p:nvPr/>
        </p:nvSpPr>
        <p:spPr bwMode="gray">
          <a:xfrm>
            <a:off x="2065264" y="4715066"/>
            <a:ext cx="2549798" cy="514480"/>
          </a:xfrm>
          <a:prstGeom prst="rect">
            <a:avLst/>
          </a:prstGeom>
          <a:solidFill>
            <a:srgbClr val="004F59"/>
          </a:solidFill>
          <a:ln w="19050" algn="ctr">
            <a:noFill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>
                <a:solidFill>
                  <a:prstClr val="white"/>
                </a:solidFill>
                <a:latin typeface="Verdana"/>
              </a:rPr>
              <a:t>Automatic generation of app code , data models and services with sample data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1C35F2-D995-D063-3448-189960B9B045}"/>
              </a:ext>
            </a:extLst>
          </p:cNvPr>
          <p:cNvSpPr txBox="1"/>
          <p:nvPr/>
        </p:nvSpPr>
        <p:spPr>
          <a:xfrm>
            <a:off x="1507176" y="4658798"/>
            <a:ext cx="604383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05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AC40A3-DE65-6F95-C9FC-A558A02C13A0}"/>
              </a:ext>
            </a:extLst>
          </p:cNvPr>
          <p:cNvSpPr/>
          <p:nvPr/>
        </p:nvSpPr>
        <p:spPr bwMode="gray">
          <a:xfrm>
            <a:off x="2778496" y="5491751"/>
            <a:ext cx="1990140" cy="395341"/>
          </a:xfrm>
          <a:prstGeom prst="rect">
            <a:avLst/>
          </a:prstGeom>
          <a:solidFill>
            <a:srgbClr val="005587"/>
          </a:solidFill>
          <a:ln w="19050" algn="ctr">
            <a:noFill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Access via SAP Build lobby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481BBC-01A8-6DF5-D135-2DA1B796C715}"/>
              </a:ext>
            </a:extLst>
          </p:cNvPr>
          <p:cNvSpPr txBox="1"/>
          <p:nvPr/>
        </p:nvSpPr>
        <p:spPr>
          <a:xfrm>
            <a:off x="2220408" y="5435483"/>
            <a:ext cx="604383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06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9F8E671-0884-C17F-7023-DB69DDBA7742}"/>
              </a:ext>
            </a:extLst>
          </p:cNvPr>
          <p:cNvGrpSpPr/>
          <p:nvPr/>
        </p:nvGrpSpPr>
        <p:grpSpPr>
          <a:xfrm>
            <a:off x="1674689" y="1552052"/>
            <a:ext cx="3093948" cy="415498"/>
            <a:chOff x="3198310" y="766692"/>
            <a:chExt cx="2908129" cy="553998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8F80F76-2B9A-E053-1165-411C4BF3FD5C}"/>
                </a:ext>
              </a:extLst>
            </p:cNvPr>
            <p:cNvSpPr/>
            <p:nvPr/>
          </p:nvSpPr>
          <p:spPr bwMode="gray">
            <a:xfrm>
              <a:off x="3942427" y="793217"/>
              <a:ext cx="2164012" cy="452450"/>
            </a:xfrm>
            <a:prstGeom prst="rect">
              <a:avLst/>
            </a:prstGeom>
            <a:solidFill>
              <a:srgbClr val="43B02A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dirty="0">
                  <a:solidFill>
                    <a:prstClr val="white"/>
                  </a:solidFill>
                  <a:latin typeface="Verdana"/>
                </a:rPr>
                <a:t>Supercharged development with generative AI</a:t>
              </a:r>
              <a:endPara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EFD01A5-05C7-3AAC-F5FB-BF70B037B133}"/>
                </a:ext>
              </a:extLst>
            </p:cNvPr>
            <p:cNvSpPr txBox="1"/>
            <p:nvPr/>
          </p:nvSpPr>
          <p:spPr>
            <a:xfrm>
              <a:off x="3198310" y="766692"/>
              <a:ext cx="805844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sz="27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01</a:t>
              </a:r>
            </a:p>
          </p:txBody>
        </p:sp>
      </p:grpSp>
      <p:pic>
        <p:nvPicPr>
          <p:cNvPr id="1026" name="Picture 2" descr="Diagram with the services that compose SAP Build Code">
            <a:extLst>
              <a:ext uri="{FF2B5EF4-FFF2-40B4-BE49-F238E27FC236}">
                <a16:creationId xmlns:a16="http://schemas.microsoft.com/office/drawing/2014/main" id="{80BBD835-5DA4-49F9-659F-C585A08C0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427" y="1336345"/>
            <a:ext cx="6946044" cy="4376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4545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A836D-A264-B9ED-740B-EEA549D78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26D512D-62BE-0570-C8DD-773DA66F4673}"/>
              </a:ext>
            </a:extLst>
          </p:cNvPr>
          <p:cNvSpPr txBox="1"/>
          <p:nvPr/>
        </p:nvSpPr>
        <p:spPr bwMode="gray">
          <a:xfrm>
            <a:off x="471287" y="1116995"/>
            <a:ext cx="11252200" cy="937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rgbClr val="FFCD00"/>
              </a:buClr>
              <a:buSzPct val="100000"/>
            </a:pPr>
            <a:r>
              <a:rPr lang="en-US" sz="2000" b="1" dirty="0">
                <a:solidFill>
                  <a:schemeClr val="bg1"/>
                </a:solidFill>
              </a:rPr>
              <a:t>Generative AI-based code development with Joule copilot, optimized for Java and JavaScript application development.</a:t>
            </a:r>
          </a:p>
          <a:p>
            <a:pPr>
              <a:lnSpc>
                <a:spcPct val="90000"/>
              </a:lnSpc>
              <a:spcAft>
                <a:spcPts val="1000"/>
              </a:spcAft>
              <a:buSzPct val="100000"/>
            </a:pPr>
            <a:endParaRPr lang="en-US" sz="1400" b="0" kern="1200" dirty="0">
              <a:solidFill>
                <a:schemeClr val="bg2"/>
              </a:solidFill>
              <a:latin typeface="+mn-lt"/>
              <a:ea typeface="Verdana" charset="0"/>
              <a:cs typeface="Verdana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4502ECC-A367-C149-E961-E7AB99B18B3C}"/>
              </a:ext>
            </a:extLst>
          </p:cNvPr>
          <p:cNvSpPr txBox="1">
            <a:spLocks/>
          </p:cNvSpPr>
          <p:nvPr/>
        </p:nvSpPr>
        <p:spPr bwMode="gray">
          <a:xfrm>
            <a:off x="461014" y="225135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21917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sz="2800" b="1" dirty="0">
                <a:solidFill>
                  <a:prstClr val="white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SAP Build Code – with Joule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33B9B3-D6A1-D16E-BCBF-06601EEED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635" y="2495193"/>
            <a:ext cx="9532338" cy="392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27786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C2DBE47-0576-DDE9-F266-0FED66AA886F}"/>
              </a:ext>
            </a:extLst>
          </p:cNvPr>
          <p:cNvSpPr txBox="1">
            <a:spLocks/>
          </p:cNvSpPr>
          <p:nvPr/>
        </p:nvSpPr>
        <p:spPr bwMode="gray">
          <a:xfrm>
            <a:off x="461014" y="225135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21917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800" b="1" dirty="0">
                <a:solidFill>
                  <a:prstClr val="white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SAP Build Code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BBE1A5-90D7-38ED-FD18-1B1F395E7946}"/>
              </a:ext>
            </a:extLst>
          </p:cNvPr>
          <p:cNvSpPr txBox="1"/>
          <p:nvPr/>
        </p:nvSpPr>
        <p:spPr bwMode="gray">
          <a:xfrm>
            <a:off x="327083" y="797311"/>
            <a:ext cx="105796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C</a:t>
            </a:r>
            <a:r>
              <a:rPr lang="en-US" sz="2000" b="1" i="0" dirty="0">
                <a:solidFill>
                  <a:schemeClr val="bg1"/>
                </a:solidFill>
                <a:effectLst/>
              </a:rPr>
              <a:t>reating a new project from SAP Build Code lobby : </a:t>
            </a:r>
            <a:r>
              <a:rPr lang="en-US" sz="2000" b="1" dirty="0">
                <a:solidFill>
                  <a:schemeClr val="bg1"/>
                </a:solidFill>
              </a:rPr>
              <a:t>BAS</a:t>
            </a:r>
            <a:r>
              <a:rPr lang="en-US" sz="2000" b="1" i="0" dirty="0">
                <a:solidFill>
                  <a:schemeClr val="bg1"/>
                </a:solidFill>
                <a:effectLst/>
              </a:rPr>
              <a:t> launched with the Storyboard viewer opened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C2AE41E-9A92-62C1-C988-CBB77E34F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823" y="1681718"/>
            <a:ext cx="4774483" cy="2725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FC5947E-A60F-6520-81E0-A9A53EC36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421" y="2982205"/>
            <a:ext cx="5393760" cy="307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259574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C2DBE47-0576-DDE9-F266-0FED66AA886F}"/>
              </a:ext>
            </a:extLst>
          </p:cNvPr>
          <p:cNvSpPr txBox="1">
            <a:spLocks/>
          </p:cNvSpPr>
          <p:nvPr/>
        </p:nvSpPr>
        <p:spPr bwMode="gray">
          <a:xfrm>
            <a:off x="461014" y="225135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21917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800" b="1" dirty="0">
                <a:solidFill>
                  <a:prstClr val="white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SAP Build Code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BBE1A5-90D7-38ED-FD18-1B1F395E7946}"/>
              </a:ext>
            </a:extLst>
          </p:cNvPr>
          <p:cNvSpPr txBox="1"/>
          <p:nvPr/>
        </p:nvSpPr>
        <p:spPr bwMode="gray">
          <a:xfrm>
            <a:off x="327084" y="797311"/>
            <a:ext cx="60978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Data Model and Service Creation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04958EC-EB10-C317-F4B3-D07BD2300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16" y="1654574"/>
            <a:ext cx="4127138" cy="235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279E599-2D95-778F-A744-DBACE04E0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331" y="2832354"/>
            <a:ext cx="4127139" cy="235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15EAA8C-CAB0-BF1E-02C2-CD0DF1245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796" y="4004181"/>
            <a:ext cx="4007290" cy="2287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777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C2DBE47-0576-DDE9-F266-0FED66AA886F}"/>
              </a:ext>
            </a:extLst>
          </p:cNvPr>
          <p:cNvSpPr txBox="1">
            <a:spLocks/>
          </p:cNvSpPr>
          <p:nvPr/>
        </p:nvSpPr>
        <p:spPr bwMode="gray">
          <a:xfrm>
            <a:off x="461014" y="225135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121917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800" b="1" dirty="0">
                <a:solidFill>
                  <a:prstClr val="white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SAP Build Code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BBE1A5-90D7-38ED-FD18-1B1F395E7946}"/>
              </a:ext>
            </a:extLst>
          </p:cNvPr>
          <p:cNvSpPr txBox="1"/>
          <p:nvPr/>
        </p:nvSpPr>
        <p:spPr bwMode="gray">
          <a:xfrm>
            <a:off x="327084" y="797311"/>
            <a:ext cx="60978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Application Logic Generation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5E0A00A-9156-0314-7229-7B4731B42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661" y="1404717"/>
            <a:ext cx="4439912" cy="212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31AAF18-C033-C57B-8FB7-40F9B5D4E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6721" y="3168978"/>
            <a:ext cx="4795760" cy="2737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3582A83B-9E0D-4376-9525-CA85B8B20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784" y="3952599"/>
            <a:ext cx="4414915" cy="251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62966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KEztrqPu0.ccF8qdOw.L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8.aFC3p0ils54GIHuZgw"/>
</p:tagLst>
</file>

<file path=ppt/theme/theme1.xml><?xml version="1.0" encoding="utf-8"?>
<a:theme xmlns:a="http://schemas.openxmlformats.org/drawingml/2006/main" name="Deloitte_US_Onscreen">
  <a:themeElements>
    <a:clrScheme name="Deloitte colors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046A38"/>
      </a:accent2>
      <a:accent3>
        <a:srgbClr val="62B5E5"/>
      </a:accent3>
      <a:accent4>
        <a:srgbClr val="012169"/>
      </a:accent4>
      <a:accent5>
        <a:srgbClr val="0097A9"/>
      </a:accent5>
      <a:accent6>
        <a:srgbClr val="75787B"/>
      </a:accent6>
      <a:hlink>
        <a:srgbClr val="00A3E0"/>
      </a:hlink>
      <a:folHlink>
        <a:srgbClr val="53565A"/>
      </a:folHlink>
    </a:clrScheme>
    <a:fontScheme name="Deloitte Powerpoint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/>
      <a:bodyPr lIns="0" rIns="0" anchor="b" anchorCtr="0">
        <a:normAutofit fontScale="92500"/>
      </a:bodyPr>
      <a:lstStyle>
        <a:defPPr>
          <a:lnSpc>
            <a:spcPts val="900"/>
          </a:lnSpc>
          <a:defRPr sz="1300" b="1" dirty="0">
            <a:solidFill>
              <a:schemeClr val="tx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Presentation1" id="{B250B804-2FDB-4928-98F0-F76F4A35E307}" vid="{34B986A3-8F99-4F88-AF27-8B60A5DA0F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eloitte colors">
    <a:dk1>
      <a:sysClr val="windowText" lastClr="000000"/>
    </a:dk1>
    <a:lt1>
      <a:sysClr val="window" lastClr="FFFFFF"/>
    </a:lt1>
    <a:dk2>
      <a:srgbClr val="53565A"/>
    </a:dk2>
    <a:lt2>
      <a:srgbClr val="D0D0CE"/>
    </a:lt2>
    <a:accent1>
      <a:srgbClr val="86BC25"/>
    </a:accent1>
    <a:accent2>
      <a:srgbClr val="046A38"/>
    </a:accent2>
    <a:accent3>
      <a:srgbClr val="62B5E5"/>
    </a:accent3>
    <a:accent4>
      <a:srgbClr val="012169"/>
    </a:accent4>
    <a:accent5>
      <a:srgbClr val="0097A9"/>
    </a:accent5>
    <a:accent6>
      <a:srgbClr val="75787B"/>
    </a:accent6>
    <a:hlink>
      <a:srgbClr val="00A3E0"/>
    </a:hlink>
    <a:folHlink>
      <a:srgbClr val="53565A"/>
    </a:folHlink>
  </a:clrScheme>
</a:themeOverride>
</file>

<file path=ppt/theme/themeOverride2.xml><?xml version="1.0" encoding="utf-8"?>
<a:themeOverride xmlns:a="http://schemas.openxmlformats.org/drawingml/2006/main">
  <a:clrScheme name="Deloitte colors">
    <a:dk1>
      <a:sysClr val="windowText" lastClr="000000"/>
    </a:dk1>
    <a:lt1>
      <a:sysClr val="window" lastClr="FFFFFF"/>
    </a:lt1>
    <a:dk2>
      <a:srgbClr val="53565A"/>
    </a:dk2>
    <a:lt2>
      <a:srgbClr val="D0D0CE"/>
    </a:lt2>
    <a:accent1>
      <a:srgbClr val="86BC25"/>
    </a:accent1>
    <a:accent2>
      <a:srgbClr val="046A38"/>
    </a:accent2>
    <a:accent3>
      <a:srgbClr val="62B5E5"/>
    </a:accent3>
    <a:accent4>
      <a:srgbClr val="012169"/>
    </a:accent4>
    <a:accent5>
      <a:srgbClr val="0097A9"/>
    </a:accent5>
    <a:accent6>
      <a:srgbClr val="75787B"/>
    </a:accent6>
    <a:hlink>
      <a:srgbClr val="00A3E0"/>
    </a:hlink>
    <a:folHlink>
      <a:srgbClr val="53565A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D685BAC3E09C4AA021D8E42E0DC2FC" ma:contentTypeVersion="14" ma:contentTypeDescription="Create a new document." ma:contentTypeScope="" ma:versionID="b9b83c56ce1ae3eaf881c9d673fc721e">
  <xsd:schema xmlns:xsd="http://www.w3.org/2001/XMLSchema" xmlns:xs="http://www.w3.org/2001/XMLSchema" xmlns:p="http://schemas.microsoft.com/office/2006/metadata/properties" xmlns:ns2="ed1847f7-4432-48e0-964f-25724acf5ead" xmlns:ns3="f384d200-71ad-4bc9-9d00-4e792d9d34a8" targetNamespace="http://schemas.microsoft.com/office/2006/metadata/properties" ma:root="true" ma:fieldsID="ab4e358f85e29d65b0c06168b676b381" ns2:_="" ns3:_="">
    <xsd:import namespace="ed1847f7-4432-48e0-964f-25724acf5ead"/>
    <xsd:import namespace="f384d200-71ad-4bc9-9d00-4e792d9d34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1847f7-4432-48e0-964f-25724acf5e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84d200-71ad-4bc9-9d00-4e792d9d34a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384d200-71ad-4bc9-9d00-4e792d9d34a8">
      <UserInfo>
        <DisplayName>Pandey, Divya</DisplayName>
        <AccountId>73</AccountId>
        <AccountType/>
      </UserInfo>
      <UserInfo>
        <DisplayName>Verma, Sandeep</DisplayName>
        <AccountId>74</AccountId>
        <AccountType/>
      </UserInfo>
      <UserInfo>
        <DisplayName>Parade, Pankaj Suresh</DisplayName>
        <AccountId>2547</AccountId>
        <AccountType/>
      </UserInfo>
      <UserInfo>
        <DisplayName>Sharma, Ayushi</DisplayName>
        <AccountId>2552</AccountId>
        <AccountType/>
      </UserInfo>
    </SharedWithUsers>
    <MediaLengthInSeconds xmlns="ed1847f7-4432-48e0-964f-25724acf5ead" xsi:nil="true"/>
  </documentManagement>
</p:properties>
</file>

<file path=customXml/itemProps1.xml><?xml version="1.0" encoding="utf-8"?>
<ds:datastoreItem xmlns:ds="http://schemas.openxmlformats.org/officeDocument/2006/customXml" ds:itemID="{9EE16009-4C9A-4D77-8D1E-1AFCC642A1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F1FB3E-6A16-4735-AD0F-4DEA245F33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1847f7-4432-48e0-964f-25724acf5ead"/>
    <ds:schemaRef ds:uri="f384d200-71ad-4bc9-9d00-4e792d9d34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70824B-0447-4F67-A3CE-65C88E7C5133}">
  <ds:schemaRefs>
    <ds:schemaRef ds:uri="e3f18b36-2a69-4a57-b787-c406cfa6560a"/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documentManagement/types"/>
    <ds:schemaRef ds:uri="3deb29b2-9f08-4609-a7dd-f913f64aeebc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elements/1.1/"/>
    <ds:schemaRef ds:uri="f384d200-71ad-4bc9-9d00-4e792d9d34a8"/>
    <ds:schemaRef ds:uri="ed1847f7-4432-48e0-964f-25724acf5ea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1276</TotalTime>
  <Words>346</Words>
  <Application>Microsoft Office PowerPoint</Application>
  <PresentationFormat>Widescreen</PresentationFormat>
  <Paragraphs>80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Deloitte_US_Onscreen</vt:lpstr>
      <vt:lpstr>PowerPoint Presentation</vt:lpstr>
      <vt:lpstr>        SAP Build Portfolio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Sravya, Chatrathi</cp:lastModifiedBy>
  <cp:revision>128</cp:revision>
  <cp:lastPrinted>2014-06-25T02:16:22Z</cp:lastPrinted>
  <dcterms:created xsi:type="dcterms:W3CDTF">2019-03-27T08:41:54Z</dcterms:created>
  <dcterms:modified xsi:type="dcterms:W3CDTF">2024-06-06T03:51:03Z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0x010100DBD685BAC3E09C4AA021D8E42E0DC2FC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2021-07-05T05:59:52Z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5de571cc-0432-4621-9a3b-99e902956dfa</vt:lpwstr>
  </property>
  <property fmtid="{D5CDD505-2E9C-101B-9397-08002B2CF9AE}" pid="9" name="MSIP_Label_ea60d57e-af5b-4752-ac57-3e4f28ca11dc_ContentBits">
    <vt:lpwstr>0</vt:lpwstr>
  </property>
  <property fmtid="{D5CDD505-2E9C-101B-9397-08002B2CF9AE}" pid="10" name="Order">
    <vt:r8>22200</vt:r8>
  </property>
  <property fmtid="{D5CDD505-2E9C-101B-9397-08002B2CF9AE}" pid="11" name="xd_Signature">
    <vt:bool>false</vt:bool>
  </property>
  <property fmtid="{D5CDD505-2E9C-101B-9397-08002B2CF9AE}" pid="12" name="xd_ProgID">
    <vt:lpwstr/>
  </property>
  <property fmtid="{D5CDD505-2E9C-101B-9397-08002B2CF9AE}" pid="13" name="_SourceUrl">
    <vt:lpwstr/>
  </property>
  <property fmtid="{D5CDD505-2E9C-101B-9397-08002B2CF9AE}" pid="14" name="_SharedFileIndex">
    <vt:lpwstr/>
  </property>
  <property fmtid="{D5CDD505-2E9C-101B-9397-08002B2CF9AE}" pid="15" name="ComplianceAssetId">
    <vt:lpwstr/>
  </property>
  <property fmtid="{D5CDD505-2E9C-101B-9397-08002B2CF9AE}" pid="16" name="TemplateUrl">
    <vt:lpwstr/>
  </property>
  <property fmtid="{D5CDD505-2E9C-101B-9397-08002B2CF9AE}" pid="17" name="_ExtendedDescription">
    <vt:lpwstr/>
  </property>
  <property fmtid="{D5CDD505-2E9C-101B-9397-08002B2CF9AE}" pid="18" name="TriggerFlowInfo">
    <vt:lpwstr/>
  </property>
</Properties>
</file>