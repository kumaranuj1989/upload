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5" r:id="rId10"/>
    <p:sldId id="261" r:id="rId11"/>
    <p:sldId id="262" r:id="rId12"/>
    <p:sldId id="266" r:id="rId13"/>
    <p:sldId id="267" r:id="rId14"/>
    <p:sldId id="268" r:id="rId15"/>
    <p:sldId id="58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1" clrIdx="0">
    <p:extLst>
      <p:ext uri="{19B8F6BF-5375-455C-9EA6-DF929625EA0E}">
        <p15:presenceInfo xmlns:p15="http://schemas.microsoft.com/office/powerpoint/2012/main" userId="Administrato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6BEA0F-570F-4B31-85D2-B80CFA0CD118}" v="2" dt="2021-06-15T11:52:06.1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yabharathi, Gadicherla" userId="S::gbhavyabharathi@deloitte.com::af57c133-f5ad-43fb-979d-fa7ce991ce19" providerId="AD" clId="Web-{186BEA0F-570F-4B31-85D2-B80CFA0CD118}"/>
    <pc:docChg chg="modSld">
      <pc:chgData name="Bhavyabharathi, Gadicherla" userId="S::gbhavyabharathi@deloitte.com::af57c133-f5ad-43fb-979d-fa7ce991ce19" providerId="AD" clId="Web-{186BEA0F-570F-4B31-85D2-B80CFA0CD118}" dt="2021-06-15T11:52:06.184" v="1" actId="1076"/>
      <pc:docMkLst>
        <pc:docMk/>
      </pc:docMkLst>
      <pc:sldChg chg="modSp">
        <pc:chgData name="Bhavyabharathi, Gadicherla" userId="S::gbhavyabharathi@deloitte.com::af57c133-f5ad-43fb-979d-fa7ce991ce19" providerId="AD" clId="Web-{186BEA0F-570F-4B31-85D2-B80CFA0CD118}" dt="2021-06-15T11:52:06.184" v="1" actId="1076"/>
        <pc:sldMkLst>
          <pc:docMk/>
          <pc:sldMk cId="953817843" sldId="262"/>
        </pc:sldMkLst>
        <pc:picChg chg="mod">
          <ac:chgData name="Bhavyabharathi, Gadicherla" userId="S::gbhavyabharathi@deloitte.com::af57c133-f5ad-43fb-979d-fa7ce991ce19" providerId="AD" clId="Web-{186BEA0F-570F-4B31-85D2-B80CFA0CD118}" dt="2021-06-15T11:52:06.184" v="1" actId="1076"/>
          <ac:picMkLst>
            <pc:docMk/>
            <pc:sldMk cId="953817843" sldId="262"/>
            <ac:picMk id="2" creationId="{91A067C1-24F4-498E-A2F9-B2248EF59F5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74AEB-34DB-4FA6-980D-8C48177E5409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71522-9581-429B-8623-339A5AC76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610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873" name="Rectangle 7"/>
          <p:cNvSpPr txBox="1">
            <a:spLocks noGrp="1" noChangeArrowheads="1"/>
          </p:cNvSpPr>
          <p:nvPr/>
        </p:nvSpPr>
        <p:spPr bwMode="auto">
          <a:xfrm>
            <a:off x="370896" y="8891734"/>
            <a:ext cx="216406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b">
            <a:spAutoFit/>
          </a:bodyPr>
          <a:lstStyle/>
          <a:p>
            <a:pPr defTabSz="606362"/>
            <a:fld id="{5846B39A-30BE-4295-A2C8-CD2E1E9535F7}" type="slidenum">
              <a:rPr lang="en-GB">
                <a:latin typeface="Calibri" pitchFamily="34" charset="0"/>
              </a:rPr>
              <a:pPr defTabSz="606362"/>
              <a:t>12</a:t>
            </a:fld>
            <a:endParaRPr lang="en-GB" dirty="0">
              <a:latin typeface="Calibri" pitchFamily="34" charset="0"/>
            </a:endParaRPr>
          </a:p>
        </p:txBody>
      </p:sp>
      <p:sp>
        <p:nvSpPr>
          <p:cNvPr id="847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-236538" y="366713"/>
            <a:ext cx="7315201" cy="41148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47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60527" y="4576690"/>
            <a:ext cx="6120925" cy="169277"/>
          </a:xfrm>
          <a:noFill/>
          <a:ln/>
        </p:spPr>
        <p:txBody>
          <a:bodyPr/>
          <a:lstStyle/>
          <a:p>
            <a:pPr marL="218290" indent="-218290" eaLnBrk="1" hangingPunct="1">
              <a:spcBef>
                <a:spcPct val="0"/>
              </a:spcBef>
            </a:pPr>
            <a:endParaRPr lang="en-US" dirty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2734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E8D4C-9754-4E8A-AA3A-3C3CE8ADC8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098D4E-FFAC-48AF-8058-0CBEE0CF5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F6B7A6-A288-4A86-BEEC-2E002EBE5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9CD70-E895-4071-8931-CBE989799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C9C38F-6312-450D-8E93-A0EDED8D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32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4B31B-8698-49C9-8BC9-3569139AC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A9F334-F92E-455B-86FE-8BDBFF208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D176A-E107-4392-9FB4-9F5C8B921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B422D-CF21-41B3-B1AC-C04B382DE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5483E-4D38-4093-AD26-0B7F1223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10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A153C-15F9-4EA0-AA39-373593C28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55E4F8-9231-4EBF-9C00-A7F18C155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FE4B6-FB4C-4C79-83A8-E13084C4C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B3ADC-CCF5-475B-BDD9-99FFC467D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0ABA7-BBB0-48B0-AED6-1C2ED9239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210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FF0EA-9327-4F00-8780-FF8994CF8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DA686-1D70-4211-9A63-B624B8CBB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2930FE-7774-4FCF-80DC-726F4A10E8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5B4C92-A264-4046-8BC9-C10B32ECE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86915-F4EF-4C63-BF57-355CB6580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A0C27D-0440-4E5F-811F-75AB8D88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9339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E7002-886F-4AD8-ABBA-06CFEA036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4642A4-D7FA-45C6-B87C-895BA2A9B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85DB62-3B23-453F-9A93-806BC2DCE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C0353E-5616-4E7C-A843-DBAC642F2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A9476F-0580-4D6F-96EF-C2753BEC4D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3FB004-1C1F-403C-B067-F68264DA6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57A7E0-97BC-46E3-AE65-AE4FD434B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BDF32AC-7648-45FE-871B-753CBF678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50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4FD5-34E7-4D91-B663-A69E37BD0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8846B7-6A7D-48F7-94FB-CD68710F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D7340B-A3D8-46A6-80DE-0443832D1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952856-F66F-4044-A13F-ADEB6CBF5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00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1058D2-D990-4E29-9844-903817A8DE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490D7F-2D3C-40F6-8ACC-14EA18A32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715451-060C-4E7D-91B9-8E0C24BB6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33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EE1A-91AF-43C2-8768-FD4017304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90EBE-55EC-4D03-B3E3-9BECD0424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0579B5-C2EC-405F-89C9-0A43ECB80A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0727B-EB05-4CC2-BB33-238D02120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4948F-5193-4FB5-A93B-643884D83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CB358-C7DE-4888-84A5-11359A10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19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43152-D6A5-4DAF-833E-EA2578E36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B4AE2DA-3D15-43A0-8471-4D5DBCD2F5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E27ED-40A9-4BDE-BAD0-259C51761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2E6C21-5AAB-4CFD-A779-1B27E1537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02398C-54D7-4347-BCF1-D3234B059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845CDA-236F-4D85-BB17-7D777DA66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214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F34C5-8302-4B85-829F-E4ECA0D96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6052B4-D459-429A-98C1-607DAA2F9F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2EFFC-7142-419B-B167-56417B039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929E1-6491-494E-A702-16111978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6635F-1220-43A5-B2F8-DFEA91AE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31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9E5413-A2D2-4F50-A034-5F527AAD60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319A18-8C51-4D37-92DB-C80320AD6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8AEF8-536B-4505-BBF4-7A775EAFE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D45E1A-B6FA-48DC-9421-038322C40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7316E-0B9D-4281-A0C6-D4C57E260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35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9" descr="DEL_PRI_RGB"/>
          <p:cNvPicPr>
            <a:picLocks noChangeAspect="1" noChangeArrowheads="1"/>
          </p:cNvPicPr>
          <p:nvPr userDrawn="1"/>
        </p:nvPicPr>
        <p:blipFill>
          <a:blip r:embed="rId2" cstate="print"/>
          <a:srcRect l="11237" t="27428" r="9845" b="25551"/>
          <a:stretch>
            <a:fillRect/>
          </a:stretch>
        </p:blipFill>
        <p:spPr bwMode="gray">
          <a:xfrm>
            <a:off x="3793068" y="3032126"/>
            <a:ext cx="4601633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5"/>
          <p:cNvSpPr>
            <a:spLocks noGrp="1"/>
          </p:cNvSpPr>
          <p:nvPr>
            <p:ph type="body" sz="quarter" idx="10"/>
          </p:nvPr>
        </p:nvSpPr>
        <p:spPr bwMode="gray">
          <a:xfrm>
            <a:off x="536448" y="5458968"/>
            <a:ext cx="6583680" cy="1152144"/>
          </a:xfrm>
        </p:spPr>
        <p:txBody>
          <a:bodyPr anchor="b" anchorCtr="0">
            <a:noAutofit/>
          </a:bodyPr>
          <a:lstStyle>
            <a:lvl1pPr>
              <a:lnSpc>
                <a:spcPts val="800"/>
              </a:lnSpc>
              <a:spcBef>
                <a:spcPts val="400"/>
              </a:spcBef>
              <a:spcAft>
                <a:spcPts val="400"/>
              </a:spcAft>
              <a:defRPr sz="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7832341"/>
      </p:ext>
    </p:extLst>
  </p:cSld>
  <p:clrMapOvr>
    <a:masterClrMapping/>
  </p:clrMapOvr>
  <p:transition/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CC7713-934A-4F10-B230-489DA0A64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E11F4-1B4E-497D-A0DA-25AF8C7F3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BD211-58AF-4C0A-BB30-666FB95D9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13B57E-D33B-4BA1-8928-06052730F271}" type="datetimeFigureOut">
              <a:rPr lang="en-US" smtClean="0"/>
              <a:t>6/15/2021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5F6226-5A75-4680-B3F5-B76A8896A8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39C82-1E03-4175-8227-C0FC205DD1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68DAA2-2ECC-49BA-A47C-AC39181FBB1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pyright">
            <a:extLst>
              <a:ext uri="{FF2B5EF4-FFF2-40B4-BE49-F238E27FC236}">
                <a16:creationId xmlns:a16="http://schemas.microsoft.com/office/drawing/2014/main" id="{1730E96B-E59E-4E87-A36A-8387F30D1149}"/>
              </a:ext>
            </a:extLst>
          </p:cNvPr>
          <p:cNvSpPr txBox="1"/>
          <p:nvPr userDrawn="1"/>
        </p:nvSpPr>
        <p:spPr>
          <a:xfrm>
            <a:off x="8676216" y="6568702"/>
            <a:ext cx="5355167" cy="15277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0" indent="0" algn="l" defTabSz="914400" rtl="0" eaLnBrk="1" latinLnBrk="0" hangingPunct="1">
              <a:buNone/>
            </a:pPr>
            <a:r>
              <a:rPr lang="en-US" sz="800" b="0" dirty="0">
                <a:solidFill>
                  <a:schemeClr val="tx1"/>
                </a:solidFill>
                <a:latin typeface="+mn-lt"/>
              </a:rPr>
              <a:t>Copyright © 2019 Deloitte Development LLC. All rights reserved</a:t>
            </a:r>
            <a:r>
              <a:rPr lang="en-US" sz="650" b="0" dirty="0">
                <a:solidFill>
                  <a:schemeClr val="tx1"/>
                </a:solidFill>
                <a:latin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5147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deloitte.com/about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hyperlink" Target="http://www.deloitte.com/us/abou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B99621-976A-43BD-814B-357107DA7963}"/>
              </a:ext>
            </a:extLst>
          </p:cNvPr>
          <p:cNvSpPr/>
          <p:nvPr/>
        </p:nvSpPr>
        <p:spPr>
          <a:xfrm>
            <a:off x="1058708" y="3004941"/>
            <a:ext cx="6564499" cy="126188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Message</a:t>
            </a:r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Aggregation in SAP CPI</a:t>
            </a:r>
          </a:p>
          <a:p>
            <a:endParaRPr lang="en-US" sz="2800" b="1" dirty="0">
              <a:solidFill>
                <a:srgbClr val="002060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  <a:p>
            <a:r>
              <a:rPr lang="en-US" sz="2000" b="1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June </a:t>
            </a:r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2021</a:t>
            </a:r>
          </a:p>
        </p:txBody>
      </p:sp>
      <p:pic>
        <p:nvPicPr>
          <p:cNvPr id="8" name="DeloitteB">
            <a:extLst>
              <a:ext uri="{FF2B5EF4-FFF2-40B4-BE49-F238E27FC236}">
                <a16:creationId xmlns:a16="http://schemas.microsoft.com/office/drawing/2014/main" id="{50ED7FA5-CC82-4E87-9F95-BAB7835D7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0" cy="0"/>
          </a:xfrm>
          <a:prstGeom prst="rect">
            <a:avLst/>
          </a:prstGeom>
        </p:spPr>
      </p:pic>
      <p:pic>
        <p:nvPicPr>
          <p:cNvPr id="10" name="DeloitteW">
            <a:extLst>
              <a:ext uri="{FF2B5EF4-FFF2-40B4-BE49-F238E27FC236}">
                <a16:creationId xmlns:a16="http://schemas.microsoft.com/office/drawing/2014/main" id="{1C15924A-E306-4F13-B27C-064724591A8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23" y="179028"/>
            <a:ext cx="2639961" cy="587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847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ABF679-94F6-42DE-A096-143B08143568}"/>
              </a:ext>
            </a:extLst>
          </p:cNvPr>
          <p:cNvSpPr/>
          <p:nvPr/>
        </p:nvSpPr>
        <p:spPr>
          <a:xfrm>
            <a:off x="738442" y="238699"/>
            <a:ext cx="270618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Integration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Flow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EDAFB2-1055-43E1-BC1D-5814FB778E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66" y="2684982"/>
            <a:ext cx="11745798" cy="292091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FE7A30-C455-43BA-8E93-951F7028CE51}"/>
              </a:ext>
            </a:extLst>
          </p:cNvPr>
          <p:cNvSpPr/>
          <p:nvPr/>
        </p:nvSpPr>
        <p:spPr>
          <a:xfrm>
            <a:off x="842128" y="1215619"/>
            <a:ext cx="101212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2060"/>
                </a:solidFill>
              </a:rPr>
              <a:t>Aggregator</a:t>
            </a:r>
            <a:r>
              <a:rPr lang="en-US" dirty="0">
                <a:solidFill>
                  <a:srgbClr val="002060"/>
                </a:solidFill>
              </a:rPr>
              <a:t> in SAP CPI is useful to combine multiple incoming messages into a single message for processing it to receiver.</a:t>
            </a: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It collects the each individual messages until a complete set of related messages has been received.</a:t>
            </a: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On successful receipt of the messages, aggregator publishes a single file(aggregated on some principle)</a:t>
            </a:r>
          </a:p>
        </p:txBody>
      </p:sp>
    </p:spTree>
    <p:extLst>
      <p:ext uri="{BB962C8B-B14F-4D97-AF65-F5344CB8AC3E}">
        <p14:creationId xmlns:p14="http://schemas.microsoft.com/office/powerpoint/2010/main" val="2639362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E88083-9A61-4C94-B493-2D65B9A0BCB5}"/>
              </a:ext>
            </a:extLst>
          </p:cNvPr>
          <p:cNvSpPr/>
          <p:nvPr/>
        </p:nvSpPr>
        <p:spPr>
          <a:xfrm>
            <a:off x="561770" y="488366"/>
            <a:ext cx="708732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b="1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Message Aggregator: Configuration of Sender 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Channel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F0F69B-F4D5-428D-B61A-2CB6EDC860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732" y="2138949"/>
            <a:ext cx="7716745" cy="440956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2EF909-0C76-4CFD-9A2A-4401623BCB22}"/>
              </a:ext>
            </a:extLst>
          </p:cNvPr>
          <p:cNvSpPr/>
          <p:nvPr/>
        </p:nvSpPr>
        <p:spPr>
          <a:xfrm>
            <a:off x="842128" y="1082825"/>
            <a:ext cx="1012124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Configure the Sender channel from Source system to Start Node with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HTTPS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adapter.</a:t>
            </a:r>
            <a:endParaRPr lang="en-US" b="1" dirty="0">
              <a:solidFill>
                <a:srgbClr val="00206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Configure the Address which should be unique for identification of iFlow.</a:t>
            </a:r>
          </a:p>
          <a:p>
            <a:pPr marL="285750" indent="-28575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Configure the User Role as ESBMessaging.send, This role should be necessary for user to trigger.</a:t>
            </a:r>
          </a:p>
        </p:txBody>
      </p:sp>
    </p:spTree>
    <p:extLst>
      <p:ext uri="{BB962C8B-B14F-4D97-AF65-F5344CB8AC3E}">
        <p14:creationId xmlns:p14="http://schemas.microsoft.com/office/powerpoint/2010/main" val="2075128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473888-670B-4B7C-80D4-483B9358F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1055" y="2364115"/>
            <a:ext cx="6305550" cy="267652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D904BA-07F0-4938-B787-3CEF17633C90}"/>
              </a:ext>
            </a:extLst>
          </p:cNvPr>
          <p:cNvSpPr/>
          <p:nvPr/>
        </p:nvSpPr>
        <p:spPr>
          <a:xfrm>
            <a:off x="366506" y="347928"/>
            <a:ext cx="424456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Configuring Aggregator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9D546A-B87A-4D4A-B73B-C8214D116CF9}"/>
              </a:ext>
            </a:extLst>
          </p:cNvPr>
          <p:cNvSpPr/>
          <p:nvPr/>
        </p:nvSpPr>
        <p:spPr>
          <a:xfrm>
            <a:off x="906661" y="1017467"/>
            <a:ext cx="1009188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Correlation: This XPath expression is important as to identify an element based on which incoming messages should be correlated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The Aggregator step generates an SAP Process Integration multi mapping with specific format.</a:t>
            </a:r>
          </a:p>
          <a:p>
            <a:endParaRPr lang="en-US" dirty="0">
              <a:solidFill>
                <a:srgbClr val="002060"/>
              </a:solidFill>
              <a:latin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33261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1804C25-0BF6-41AB-A517-B312AA2431BF}"/>
              </a:ext>
            </a:extLst>
          </p:cNvPr>
          <p:cNvSpPr/>
          <p:nvPr/>
        </p:nvSpPr>
        <p:spPr>
          <a:xfrm>
            <a:off x="680098" y="400401"/>
            <a:ext cx="134844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Contd</a:t>
            </a:r>
            <a:r>
              <a:rPr lang="en-US" sz="2400" b="1" dirty="0">
                <a:solidFill>
                  <a:srgbClr val="002060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..</a:t>
            </a:r>
            <a:r>
              <a:rPr lang="en-US" sz="2400" b="0" cap="none" spc="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A5195E-76CA-4130-B2E9-339D9E9D7795}"/>
              </a:ext>
            </a:extLst>
          </p:cNvPr>
          <p:cNvSpPr/>
          <p:nvPr/>
        </p:nvSpPr>
        <p:spPr>
          <a:xfrm>
            <a:off x="1153109" y="960632"/>
            <a:ext cx="9178565" cy="4936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Incoming Format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Till current release, only XML format supported. It is important that incoming   messages should be in same format.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Aggregation Algorithm: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 options are supporting 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Combine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and</a:t>
            </a: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Combine in Sequence</a:t>
            </a:r>
            <a:endParaRPr lang="en-US" dirty="0">
              <a:solidFill>
                <a:srgbClr val="002060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1. Combine: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All the incoming messages will be correlated but we cannot ensure the 	original messages will be in sequence.</a:t>
            </a: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2. Combine in Sequence: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Aggregated message contains all correlated incoming 	messages, and the original messages are put into a sequence.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Message Sequence Expression:</a:t>
            </a: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Enter an XPath expression for that message element based on which a sequence is being defined. You can use only numbers to define a sequence. Each sequence starts with 1.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Last Message Condition:</a:t>
            </a: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Define the condition (XPATH = value) to identify the last message of an aggregate.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Completion Timeout: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Defines the maximum time between two messages before aggregation is being stopped (period of inactivity).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Data Store Name: </a:t>
            </a:r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Enter the name of Data store where the aggregated message can be stored while processing.</a:t>
            </a:r>
          </a:p>
        </p:txBody>
      </p:sp>
    </p:spTree>
    <p:extLst>
      <p:ext uri="{BB962C8B-B14F-4D97-AF65-F5344CB8AC3E}">
        <p14:creationId xmlns:p14="http://schemas.microsoft.com/office/powerpoint/2010/main" val="3398541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DDAA52E-A773-4C4B-8306-27FE0EAB4050}"/>
              </a:ext>
            </a:extLst>
          </p:cNvPr>
          <p:cNvSpPr/>
          <p:nvPr/>
        </p:nvSpPr>
        <p:spPr>
          <a:xfrm>
            <a:off x="747630" y="277852"/>
            <a:ext cx="1948675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Contd..2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F52B39-FB13-49FC-AC96-26C3BF9E64E0}"/>
              </a:ext>
            </a:extLst>
          </p:cNvPr>
          <p:cNvSpPr/>
          <p:nvPr/>
        </p:nvSpPr>
        <p:spPr>
          <a:xfrm>
            <a:off x="1210852" y="961970"/>
            <a:ext cx="10091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Configure the Aggregation Strategy as per the previous slide.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83E6C7-934D-45AE-A7E0-C6F1724AF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51" y="1878497"/>
            <a:ext cx="7764183" cy="401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2802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7D421B-E3A3-4AFC-8FB6-509FD5B73C4A}"/>
              </a:ext>
            </a:extLst>
          </p:cNvPr>
          <p:cNvSpPr/>
          <p:nvPr/>
        </p:nvSpPr>
        <p:spPr>
          <a:xfrm>
            <a:off x="776414" y="216039"/>
            <a:ext cx="279608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 Store - Write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D1D4A2C-9ABD-4ADE-9E80-6402959A6AF6}"/>
              </a:ext>
            </a:extLst>
          </p:cNvPr>
          <p:cNvSpPr/>
          <p:nvPr/>
        </p:nvSpPr>
        <p:spPr>
          <a:xfrm>
            <a:off x="1154291" y="826035"/>
            <a:ext cx="1009188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alibri" panose="020F0502020204030204" pitchFamily="34" charset="0"/>
                <a:cs typeface="Times New Roman" panose="02020603050405020304" pitchFamily="18" charset="0"/>
              </a:rPr>
              <a:t>Select the Write Data store from Palate place it after Aggregator step for persisting aggregated message.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B4618E-3401-4CDA-BD5F-991E10BBDD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0992" y="1689653"/>
            <a:ext cx="7971182" cy="4244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958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A067C1-24F4-498E-A2F9-B2248EF59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32" y="958944"/>
            <a:ext cx="11854335" cy="293481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3F73400C-7BE6-4782-8302-457DE473B74E}"/>
              </a:ext>
            </a:extLst>
          </p:cNvPr>
          <p:cNvSpPr/>
          <p:nvPr/>
        </p:nvSpPr>
        <p:spPr>
          <a:xfrm>
            <a:off x="309507" y="393555"/>
            <a:ext cx="239129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Test -  Postman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518A075-CD35-4C6C-B6B3-3C3648FB10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33" y="4190067"/>
            <a:ext cx="3114675" cy="1400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C9161B-E755-4D8F-A695-28ED40267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267" y="4190067"/>
            <a:ext cx="3524250" cy="140017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16DF90E-D539-4B01-9056-5CC3FFF730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81476" y="4190067"/>
            <a:ext cx="40195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817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B8AEEAB-04E7-4E90-BE9D-D82A9143E69A}"/>
              </a:ext>
            </a:extLst>
          </p:cNvPr>
          <p:cNvSpPr/>
          <p:nvPr/>
        </p:nvSpPr>
        <p:spPr>
          <a:xfrm>
            <a:off x="92776" y="180720"/>
            <a:ext cx="322068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Message</a:t>
            </a:r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Monitoring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D0A2317-CF53-4092-8D09-745644DF87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861" y="1584229"/>
            <a:ext cx="10764078" cy="43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763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3CBC2F6-952E-4278-B0DD-3E1A1E9E1BB3}"/>
              </a:ext>
            </a:extLst>
          </p:cNvPr>
          <p:cNvSpPr/>
          <p:nvPr/>
        </p:nvSpPr>
        <p:spPr>
          <a:xfrm>
            <a:off x="182458" y="482377"/>
            <a:ext cx="402475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Payload Entry in Datastore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F0D8EE-6456-4E11-854D-2CBFAF702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044" y="1133061"/>
            <a:ext cx="10575234" cy="3842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242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31761AC-2034-4162-A967-733053E8E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5842" y="1131216"/>
            <a:ext cx="6215433" cy="504334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2E54F15-5EE7-4D68-B511-4FF022FD611B}"/>
              </a:ext>
            </a:extLst>
          </p:cNvPr>
          <p:cNvSpPr/>
          <p:nvPr/>
        </p:nvSpPr>
        <p:spPr>
          <a:xfrm>
            <a:off x="592386" y="303267"/>
            <a:ext cx="324261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Aggregated</a:t>
            </a:r>
            <a:r>
              <a:rPr lang="en-US" sz="40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dirty="0">
                <a:ln w="0"/>
                <a:solidFill>
                  <a:srgbClr val="00206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3543286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1926337" y="5458968"/>
            <a:ext cx="5222287" cy="1152144"/>
          </a:xfrm>
        </p:spPr>
        <p:txBody>
          <a:bodyPr/>
          <a:lstStyle/>
          <a:p>
            <a:pPr>
              <a:lnSpc>
                <a:spcPts val="900"/>
              </a:lnSpc>
            </a:pPr>
            <a:r>
              <a:rPr lang="en-US" b="1" dirty="0"/>
              <a:t>About Deloitte</a:t>
            </a:r>
            <a:br>
              <a:rPr lang="en-US" dirty="0"/>
            </a:br>
            <a:r>
              <a:rPr lang="en-US" dirty="0"/>
              <a:t>Deloitte refers to one or more of Deloitte </a:t>
            </a:r>
            <a:r>
              <a:rPr lang="en-US" dirty="0" err="1"/>
              <a:t>Touche</a:t>
            </a:r>
            <a:r>
              <a:rPr lang="en-US" dirty="0"/>
              <a:t> Tohmatsu Limited, a UK private company limited by guarantee, and its network of member firms, each of which is a legally separate and independent entity. Please see </a:t>
            </a:r>
            <a:r>
              <a:rPr lang="en-US" dirty="0">
                <a:hlinkClick r:id="rId3"/>
              </a:rPr>
              <a:t>www.deloitte.com/about</a:t>
            </a:r>
            <a:r>
              <a:rPr lang="en-US" dirty="0"/>
              <a:t> for a detailed description of the legal structure of Deloitte </a:t>
            </a:r>
            <a:r>
              <a:rPr lang="en-US" dirty="0" err="1"/>
              <a:t>Touche</a:t>
            </a:r>
            <a:r>
              <a:rPr lang="en-US" dirty="0"/>
              <a:t> Tohmatsu Limited and its member firms. Please see </a:t>
            </a:r>
            <a:r>
              <a:rPr lang="en-US" dirty="0">
                <a:hlinkClick r:id="rId4"/>
              </a:rPr>
              <a:t>www.deloitte.com/us/about</a:t>
            </a:r>
            <a:r>
              <a:rPr lang="en-US" dirty="0"/>
              <a:t> for a detailed description of the legal structure of Deloitte LLP and its subsidiaries. Certain services may not be available to attest clients under the rules and regulations of public accounting. </a:t>
            </a:r>
            <a:br>
              <a:rPr lang="en-US" dirty="0"/>
            </a:br>
            <a:br>
              <a:rPr lang="en-US" dirty="0"/>
            </a:br>
            <a:r>
              <a:rPr lang="en-US" dirty="0"/>
              <a:t>Copyright © 2019 Deloitte Development LLC. All rights reserved.</a:t>
            </a:r>
            <a:br>
              <a:rPr lang="en-US" dirty="0"/>
            </a:br>
            <a:r>
              <a:rPr lang="en-US" dirty="0"/>
              <a:t>36 USC 220506</a:t>
            </a:r>
            <a:br>
              <a:rPr lang="en-US" dirty="0"/>
            </a:br>
            <a:r>
              <a:rPr lang="en-US" dirty="0"/>
              <a:t>Member of Deloitte Touche Tohmatsu Limited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8982" y="4823544"/>
            <a:ext cx="3439237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5288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9F06D354A65BD46B62A95A3455428F7" ma:contentTypeVersion="6" ma:contentTypeDescription="Create a new document." ma:contentTypeScope="" ma:versionID="5a9b685b6f5b38d1f824be75f8c2c10f">
  <xsd:schema xmlns:xsd="http://www.w3.org/2001/XMLSchema" xmlns:xs="http://www.w3.org/2001/XMLSchema" xmlns:p="http://schemas.microsoft.com/office/2006/metadata/properties" xmlns:ns2="ee74452c-ad38-4f48-abaa-0382c4e578b3" xmlns:ns3="5ecd7d5c-5014-4c99-afc7-30d8cd30d8fe" targetNamespace="http://schemas.microsoft.com/office/2006/metadata/properties" ma:root="true" ma:fieldsID="9a155d52bd2634fbb5a04034cc4aad99" ns2:_="" ns3:_="">
    <xsd:import namespace="ee74452c-ad38-4f48-abaa-0382c4e578b3"/>
    <xsd:import namespace="5ecd7d5c-5014-4c99-afc7-30d8cd30d8f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74452c-ad38-4f48-abaa-0382c4e578b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d7d5c-5014-4c99-afc7-30d8cd30d8f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9C16AD5-018E-486F-99F2-3699D2DDC88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F63172-8740-462E-B72A-737D44B465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74452c-ad38-4f48-abaa-0382c4e578b3"/>
    <ds:schemaRef ds:uri="5ecd7d5c-5014-4c99-afc7-30d8cd30d8f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BFFF94-5DA6-4B06-A79E-1DF132F5E795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240</TotalTime>
  <Words>523</Words>
  <Application>Microsoft Office PowerPoint</Application>
  <PresentationFormat>Widescreen</PresentationFormat>
  <Paragraphs>33</Paragraphs>
  <Slides>12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Jain, Vishal</cp:lastModifiedBy>
  <cp:revision>22</cp:revision>
  <dcterms:created xsi:type="dcterms:W3CDTF">2018-04-19T19:43:08Z</dcterms:created>
  <dcterms:modified xsi:type="dcterms:W3CDTF">2021-06-15T11:52:13Z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2021-06-03T12:13:05Z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a8eb35e4-2bad-4083-97e4-26b262a451da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0x010100A9F06D354A65BD46B62A95A3455428F7</vt:lpwstr>
  </property>
</Properties>
</file>