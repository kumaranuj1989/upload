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Lst>
  <p:notesMasterIdLst>
    <p:notesMasterId r:id="rId28"/>
  </p:notesMasterIdLst>
  <p:handoutMasterIdLst>
    <p:handoutMasterId r:id="rId29"/>
  </p:handoutMasterIdLst>
  <p:sldIdLst>
    <p:sldId id="304" r:id="rId5"/>
    <p:sldId id="593" r:id="rId6"/>
    <p:sldId id="706" r:id="rId7"/>
    <p:sldId id="707" r:id="rId8"/>
    <p:sldId id="694" r:id="rId9"/>
    <p:sldId id="699" r:id="rId10"/>
    <p:sldId id="708" r:id="rId11"/>
    <p:sldId id="709" r:id="rId12"/>
    <p:sldId id="695" r:id="rId13"/>
    <p:sldId id="702" r:id="rId14"/>
    <p:sldId id="703" r:id="rId15"/>
    <p:sldId id="711" r:id="rId16"/>
    <p:sldId id="704" r:id="rId17"/>
    <p:sldId id="713" r:id="rId18"/>
    <p:sldId id="715" r:id="rId19"/>
    <p:sldId id="712" r:id="rId20"/>
    <p:sldId id="714" r:id="rId21"/>
    <p:sldId id="716" r:id="rId22"/>
    <p:sldId id="717" r:id="rId23"/>
    <p:sldId id="719" r:id="rId24"/>
    <p:sldId id="718" r:id="rId25"/>
    <p:sldId id="720" r:id="rId26"/>
    <p:sldId id="588" r:id="rId27"/>
  </p:sldIdLst>
  <p:sldSz cx="9144000" cy="6858000" type="screen4x3"/>
  <p:notesSz cx="6858000" cy="9296400"/>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882">
          <p15:clr>
            <a:srgbClr val="A4A3A4"/>
          </p15:clr>
        </p15:guide>
        <p15:guide id="2" orient="horz" pos="491">
          <p15:clr>
            <a:srgbClr val="A4A3A4"/>
          </p15:clr>
        </p15:guide>
        <p15:guide id="3" orient="horz" pos="158">
          <p15:clr>
            <a:srgbClr val="A4A3A4"/>
          </p15:clr>
        </p15:guide>
        <p15:guide id="4" orient="horz" pos="4166">
          <p15:clr>
            <a:srgbClr val="A4A3A4"/>
          </p15:clr>
        </p15:guide>
        <p15:guide id="5" orient="horz" pos="727">
          <p15:clr>
            <a:srgbClr val="A4A3A4"/>
          </p15:clr>
        </p15:guide>
        <p15:guide id="6" orient="horz" pos="4274">
          <p15:clr>
            <a:srgbClr val="A4A3A4"/>
          </p15:clr>
        </p15:guide>
        <p15:guide id="7" orient="horz" pos="3960">
          <p15:clr>
            <a:srgbClr val="A4A3A4"/>
          </p15:clr>
        </p15:guide>
        <p15:guide id="8" orient="horz">
          <p15:clr>
            <a:srgbClr val="A4A3A4"/>
          </p15:clr>
        </p15:guide>
        <p15:guide id="9" orient="horz" pos="2110">
          <p15:clr>
            <a:srgbClr val="A4A3A4"/>
          </p15:clr>
        </p15:guide>
        <p15:guide id="10" orient="horz" pos="1163">
          <p15:clr>
            <a:srgbClr val="A4A3A4"/>
          </p15:clr>
        </p15:guide>
        <p15:guide id="11" orient="horz" pos="1284">
          <p15:clr>
            <a:srgbClr val="A4A3A4"/>
          </p15:clr>
        </p15:guide>
        <p15:guide id="12" pos="2973">
          <p15:clr>
            <a:srgbClr val="A4A3A4"/>
          </p15:clr>
        </p15:guide>
        <p15:guide id="13" pos="255">
          <p15:clr>
            <a:srgbClr val="A4A3A4"/>
          </p15:clr>
        </p15:guide>
        <p15:guide id="14" pos="5504">
          <p15:clr>
            <a:srgbClr val="A4A3A4"/>
          </p15:clr>
        </p15:guide>
        <p15:guide id="15" pos="2982">
          <p15:clr>
            <a:srgbClr val="A4A3A4"/>
          </p15:clr>
        </p15:guide>
        <p15:guide id="16" pos="2778">
          <p15:clr>
            <a:srgbClr val="A4A3A4"/>
          </p15:clr>
        </p15:guide>
        <p15:guide id="17" pos="369">
          <p15:clr>
            <a:srgbClr val="A4A3A4"/>
          </p15:clr>
        </p15:guide>
        <p15:guide id="18" pos="539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ammer, Jodi" initials="" lastIdx="79" clrIdx="0"/>
  <p:cmAuthor id="1" name="Youngraven, Leah" initials="" lastIdx="20" clrIdx="1"/>
  <p:cmAuthor id="2" name="Brittain, Dorothy" initials="" lastIdx="1" clrIdx="2"/>
  <p:cmAuthor id="3" name="Currie, Myles" initials="" lastIdx="7" clrIdx="3"/>
  <p:cmAuthor id="4" name="Sottile, Laura" initials="LS" lastIdx="4" clrIdx="4"/>
  <p:cmAuthor id="5" name="Brittain, Dorothy" initials="DB" lastIdx="104"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1DE"/>
    <a:srgbClr val="404040"/>
    <a:srgbClr val="BFBFBF"/>
    <a:srgbClr val="7F7F7F"/>
    <a:srgbClr val="CC3300"/>
    <a:srgbClr val="336600"/>
    <a:srgbClr val="FF9900"/>
    <a:srgbClr val="3C8A2D"/>
    <a:srgbClr val="002776"/>
    <a:srgbClr val="007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9C4FA-78FE-5FB8-B8D6-C52F078BABC1}" v="3" dt="2025-06-09T11:25:15.4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9059" autoAdjust="0"/>
  </p:normalViewPr>
  <p:slideViewPr>
    <p:cSldViewPr snapToGrid="0" snapToObjects="1">
      <p:cViewPr varScale="1">
        <p:scale>
          <a:sx n="62" d="100"/>
          <a:sy n="62" d="100"/>
        </p:scale>
        <p:origin x="1424" y="52"/>
      </p:cViewPr>
      <p:guideLst>
        <p:guide orient="horz" pos="882"/>
        <p:guide orient="horz" pos="491"/>
        <p:guide orient="horz" pos="158"/>
        <p:guide orient="horz" pos="4166"/>
        <p:guide orient="horz" pos="727"/>
        <p:guide orient="horz" pos="4274"/>
        <p:guide orient="horz" pos="3960"/>
        <p:guide orient="horz"/>
        <p:guide orient="horz" pos="2110"/>
        <p:guide orient="horz" pos="1163"/>
        <p:guide orient="horz" pos="1284"/>
        <p:guide pos="2973"/>
        <p:guide pos="255"/>
        <p:guide pos="5504"/>
        <p:guide pos="2982"/>
        <p:guide pos="2778"/>
        <p:guide pos="369"/>
        <p:guide pos="53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660"/>
    </p:cViewPr>
  </p:sorterViewPr>
  <p:notesViewPr>
    <p:cSldViewPr snapToGrid="0" snapToObjects="1">
      <p:cViewPr varScale="1">
        <p:scale>
          <a:sx n="98" d="100"/>
          <a:sy n="98" d="100"/>
        </p:scale>
        <p:origin x="-2622" y="-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ia, Hrishikesh" userId="S::hbania@deloitte.com::1dd16155-6baa-461c-9e9a-83da8030ec86" providerId="AD" clId="Web-{C859D758-059F-4425-B544-FE2B0022A6A8}"/>
    <pc:docChg chg="modSld">
      <pc:chgData name="Bania, Hrishikesh" userId="S::hbania@deloitte.com::1dd16155-6baa-461c-9e9a-83da8030ec86" providerId="AD" clId="Web-{C859D758-059F-4425-B544-FE2B0022A6A8}" dt="2021-05-05T12:33:07.662" v="1" actId="1076"/>
      <pc:docMkLst>
        <pc:docMk/>
      </pc:docMkLst>
      <pc:sldChg chg="modSp">
        <pc:chgData name="Bania, Hrishikesh" userId="S::hbania@deloitte.com::1dd16155-6baa-461c-9e9a-83da8030ec86" providerId="AD" clId="Web-{C859D758-059F-4425-B544-FE2B0022A6A8}" dt="2021-05-05T12:33:07.662" v="1" actId="1076"/>
        <pc:sldMkLst>
          <pc:docMk/>
          <pc:sldMk cId="4149833801" sldId="615"/>
        </pc:sldMkLst>
        <pc:spChg chg="mod">
          <ac:chgData name="Bania, Hrishikesh" userId="S::hbania@deloitte.com::1dd16155-6baa-461c-9e9a-83da8030ec86" providerId="AD" clId="Web-{C859D758-059F-4425-B544-FE2B0022A6A8}" dt="2021-05-05T12:33:07.662" v="1" actId="1076"/>
          <ac:spMkLst>
            <pc:docMk/>
            <pc:sldMk cId="4149833801" sldId="615"/>
            <ac:spMk id="5" creationId="{00000000-0000-0000-0000-000000000000}"/>
          </ac:spMkLst>
        </pc:spChg>
      </pc:sldChg>
    </pc:docChg>
  </pc:docChgLst>
  <pc:docChgLst>
    <pc:chgData name="Soni, Saloni" userId="S::salosoni@deloitte.com::56d1ee55-f47d-4517-8d5f-65ecd2cdb8da" providerId="AD" clId="Web-{3B849AA7-5C42-A88D-424C-0DF2B94BB27B}"/>
    <pc:docChg chg="modSld">
      <pc:chgData name="Soni, Saloni" userId="S::salosoni@deloitte.com::56d1ee55-f47d-4517-8d5f-65ecd2cdb8da" providerId="AD" clId="Web-{3B849AA7-5C42-A88D-424C-0DF2B94BB27B}" dt="2024-03-14T04:09:41.235" v="1" actId="20577"/>
      <pc:docMkLst>
        <pc:docMk/>
      </pc:docMkLst>
      <pc:sldChg chg="modSp">
        <pc:chgData name="Soni, Saloni" userId="S::salosoni@deloitte.com::56d1ee55-f47d-4517-8d5f-65ecd2cdb8da" providerId="AD" clId="Web-{3B849AA7-5C42-A88D-424C-0DF2B94BB27B}" dt="2024-03-14T04:09:41.235" v="1" actId="20577"/>
        <pc:sldMkLst>
          <pc:docMk/>
          <pc:sldMk cId="0" sldId="304"/>
        </pc:sldMkLst>
        <pc:spChg chg="mod">
          <ac:chgData name="Soni, Saloni" userId="S::salosoni@deloitte.com::56d1ee55-f47d-4517-8d5f-65ecd2cdb8da" providerId="AD" clId="Web-{3B849AA7-5C42-A88D-424C-0DF2B94BB27B}" dt="2024-03-14T04:09:41.235" v="1" actId="20577"/>
          <ac:spMkLst>
            <pc:docMk/>
            <pc:sldMk cId="0" sldId="304"/>
            <ac:spMk id="121891" creationId="{00000000-0000-0000-0000-000000000000}"/>
          </ac:spMkLst>
        </pc:spChg>
      </pc:sldChg>
    </pc:docChg>
  </pc:docChgLst>
  <pc:docChgLst>
    <pc:chgData name="S, Chandramouli" userId="S::chandrams@deloitte.com::564170b3-b9cc-44f0-9607-e1c68f73d942" providerId="AD" clId="Web-{86F8B02B-CB49-4B68-80D4-0AA0493A34E4}"/>
    <pc:docChg chg="modSld">
      <pc:chgData name="S, Chandramouli" userId="S::chandrams@deloitte.com::564170b3-b9cc-44f0-9607-e1c68f73d942" providerId="AD" clId="Web-{86F8B02B-CB49-4B68-80D4-0AA0493A34E4}" dt="2021-07-29T03:42:37.758" v="0" actId="1076"/>
      <pc:docMkLst>
        <pc:docMk/>
      </pc:docMkLst>
      <pc:sldChg chg="modSp">
        <pc:chgData name="S, Chandramouli" userId="S::chandrams@deloitte.com::564170b3-b9cc-44f0-9607-e1c68f73d942" providerId="AD" clId="Web-{86F8B02B-CB49-4B68-80D4-0AA0493A34E4}" dt="2021-07-29T03:42:37.758" v="0" actId="1076"/>
        <pc:sldMkLst>
          <pc:docMk/>
          <pc:sldMk cId="3310440264" sldId="594"/>
        </pc:sldMkLst>
        <pc:spChg chg="mod">
          <ac:chgData name="S, Chandramouli" userId="S::chandrams@deloitte.com::564170b3-b9cc-44f0-9607-e1c68f73d942" providerId="AD" clId="Web-{86F8B02B-CB49-4B68-80D4-0AA0493A34E4}" dt="2021-07-29T03:42:37.758" v="0" actId="1076"/>
          <ac:spMkLst>
            <pc:docMk/>
            <pc:sldMk cId="3310440264" sldId="594"/>
            <ac:spMk id="8" creationId="{00000000-0000-0000-0000-000000000000}"/>
          </ac:spMkLst>
        </pc:spChg>
      </pc:sldChg>
    </pc:docChg>
  </pc:docChgLst>
  <pc:docChgLst>
    <pc:chgData name="Moin Khaja, Shaik" userId="S::mmoinkhaja@deloitte.com::781edcc4-8406-4a1c-a708-37c6142ad11e" providerId="AD" clId="Web-{3E79C4FA-78FE-5FB8-B8D6-C52F078BABC1}"/>
    <pc:docChg chg="sldOrd">
      <pc:chgData name="Moin Khaja, Shaik" userId="S::mmoinkhaja@deloitte.com::781edcc4-8406-4a1c-a708-37c6142ad11e" providerId="AD" clId="Web-{3E79C4FA-78FE-5FB8-B8D6-C52F078BABC1}" dt="2025-06-09T11:25:15.402" v="2"/>
      <pc:docMkLst>
        <pc:docMk/>
      </pc:docMkLst>
      <pc:sldChg chg="ord">
        <pc:chgData name="Moin Khaja, Shaik" userId="S::mmoinkhaja@deloitte.com::781edcc4-8406-4a1c-a708-37c6142ad11e" providerId="AD" clId="Web-{3E79C4FA-78FE-5FB8-B8D6-C52F078BABC1}" dt="2025-06-09T11:15:47.194" v="0"/>
        <pc:sldMkLst>
          <pc:docMk/>
          <pc:sldMk cId="174229727" sldId="593"/>
        </pc:sldMkLst>
      </pc:sldChg>
      <pc:sldChg chg="ord">
        <pc:chgData name="Moin Khaja, Shaik" userId="S::mmoinkhaja@deloitte.com::781edcc4-8406-4a1c-a708-37c6142ad11e" providerId="AD" clId="Web-{3E79C4FA-78FE-5FB8-B8D6-C52F078BABC1}" dt="2025-06-09T11:25:15.355" v="1"/>
        <pc:sldMkLst>
          <pc:docMk/>
          <pc:sldMk cId="1903668319" sldId="718"/>
        </pc:sldMkLst>
      </pc:sldChg>
      <pc:sldChg chg="ord">
        <pc:chgData name="Moin Khaja, Shaik" userId="S::mmoinkhaja@deloitte.com::781edcc4-8406-4a1c-a708-37c6142ad11e" providerId="AD" clId="Web-{3E79C4FA-78FE-5FB8-B8D6-C52F078BABC1}" dt="2025-06-09T11:25:15.402" v="2"/>
        <pc:sldMkLst>
          <pc:docMk/>
          <pc:sldMk cId="3583277006" sldId="720"/>
        </pc:sldMkLst>
      </pc:sldChg>
    </pc:docChg>
  </pc:docChgLst>
  <pc:docChgLst>
    <pc:chgData name="Mantri, Mr. Rushikesh" userId="733fc16f-cf56-4a1f-87dc-05dcf502a291" providerId="ADAL" clId="{31A9480F-5D89-4E46-88F8-7FD89FBEFB57}"/>
    <pc:docChg chg="modSld">
      <pc:chgData name="Mantri, Mr. Rushikesh" userId="733fc16f-cf56-4a1f-87dc-05dcf502a291" providerId="ADAL" clId="{31A9480F-5D89-4E46-88F8-7FD89FBEFB57}" dt="2023-03-29T06:52:59.817" v="0" actId="1076"/>
      <pc:docMkLst>
        <pc:docMk/>
      </pc:docMkLst>
      <pc:sldChg chg="modSp mod">
        <pc:chgData name="Mantri, Mr. Rushikesh" userId="733fc16f-cf56-4a1f-87dc-05dcf502a291" providerId="ADAL" clId="{31A9480F-5D89-4E46-88F8-7FD89FBEFB57}" dt="2023-03-29T06:52:59.817" v="0" actId="1076"/>
        <pc:sldMkLst>
          <pc:docMk/>
          <pc:sldMk cId="2789723989" sldId="702"/>
        </pc:sldMkLst>
        <pc:spChg chg="mod">
          <ac:chgData name="Mantri, Mr. Rushikesh" userId="733fc16f-cf56-4a1f-87dc-05dcf502a291" providerId="ADAL" clId="{31A9480F-5D89-4E46-88F8-7FD89FBEFB57}" dt="2023-03-29T06:52:59.817" v="0" actId="1076"/>
          <ac:spMkLst>
            <pc:docMk/>
            <pc:sldMk cId="2789723989" sldId="702"/>
            <ac:spMk id="2" creationId="{F4717DA6-2EBC-43CF-A3F4-179CB88C3577}"/>
          </ac:spMkLst>
        </pc:spChg>
      </pc:sldChg>
    </pc:docChg>
  </pc:docChgLst>
  <pc:docChgLst>
    <pc:chgData name="Agarwal, Shreyansh" userId="S::shreyanagarwal@deloitte.com::fb6e8a2e-0a2e-40ea-8002-25afb9f356ea" providerId="AD" clId="Web-{5001DDF6-0249-468B-AF7D-926FFCECFDEA}"/>
    <pc:docChg chg="sldOrd">
      <pc:chgData name="Agarwal, Shreyansh" userId="S::shreyanagarwal@deloitte.com::fb6e8a2e-0a2e-40ea-8002-25afb9f356ea" providerId="AD" clId="Web-{5001DDF6-0249-468B-AF7D-926FFCECFDEA}" dt="2023-08-02T01:23:13.092" v="0"/>
      <pc:docMkLst>
        <pc:docMk/>
      </pc:docMkLst>
      <pc:sldChg chg="ord">
        <pc:chgData name="Agarwal, Shreyansh" userId="S::shreyanagarwal@deloitte.com::fb6e8a2e-0a2e-40ea-8002-25afb9f356ea" providerId="AD" clId="Web-{5001DDF6-0249-468B-AF7D-926FFCECFDEA}" dt="2023-08-02T01:23:13.092" v="0"/>
        <pc:sldMkLst>
          <pc:docMk/>
          <pc:sldMk cId="0" sldId="588"/>
        </pc:sldMkLst>
      </pc:sldChg>
    </pc:docChg>
  </pc:docChgLst>
  <pc:docChgLst>
    <pc:chgData name="Saumay, Shivam" userId="S::ssaumay@deloitte.com::33920cf1-91eb-4aab-8531-31cb5027a181" providerId="AD" clId="Web-{5BFEC2F8-57AD-43A5-95C3-A0888A5809F9}"/>
    <pc:docChg chg="sldOrd">
      <pc:chgData name="Saumay, Shivam" userId="S::ssaumay@deloitte.com::33920cf1-91eb-4aab-8531-31cb5027a181" providerId="AD" clId="Web-{5BFEC2F8-57AD-43A5-95C3-A0888A5809F9}" dt="2023-08-09T04:14:47.554" v="0"/>
      <pc:docMkLst>
        <pc:docMk/>
      </pc:docMkLst>
      <pc:sldChg chg="ord">
        <pc:chgData name="Saumay, Shivam" userId="S::ssaumay@deloitte.com::33920cf1-91eb-4aab-8531-31cb5027a181" providerId="AD" clId="Web-{5BFEC2F8-57AD-43A5-95C3-A0888A5809F9}" dt="2023-08-09T04:14:47.554" v="0"/>
        <pc:sldMkLst>
          <pc:docMk/>
          <pc:sldMk cId="174229727" sldId="59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l" defTabSz="634922">
              <a:spcBef>
                <a:spcPct val="0"/>
              </a:spcBef>
              <a:defRPr sz="800" b="0"/>
            </a:lvl1pPr>
          </a:lstStyle>
          <a:p>
            <a:endParaRPr lang="en-GB" dirty="0"/>
          </a:p>
        </p:txBody>
      </p:sp>
      <p:sp>
        <p:nvSpPr>
          <p:cNvPr id="3" name="Date Placeholder 2"/>
          <p:cNvSpPr>
            <a:spLocks noGrp="1"/>
          </p:cNvSpPr>
          <p:nvPr>
            <p:ph type="dt" sz="quarter" idx="1"/>
          </p:nvPr>
        </p:nvSpPr>
        <p:spPr bwMode="auto">
          <a:xfrm>
            <a:off x="3884613" y="0"/>
            <a:ext cx="2971800"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r" defTabSz="634922">
              <a:spcBef>
                <a:spcPct val="0"/>
              </a:spcBef>
              <a:defRPr sz="800" b="0"/>
            </a:lvl1pPr>
          </a:lstStyle>
          <a:p>
            <a:fld id="{55F4F54F-BFE9-4158-8CC4-DD040336CB83}" type="datetimeFigureOut">
              <a:rPr lang="en-US"/>
              <a:pPr/>
              <a:t>6/9/2025</a:t>
            </a:fld>
            <a:endParaRPr lang="en-GB" dirty="0"/>
          </a:p>
        </p:txBody>
      </p:sp>
      <p:sp>
        <p:nvSpPr>
          <p:cNvPr id="4" name="Footer Placeholder 3"/>
          <p:cNvSpPr>
            <a:spLocks noGrp="1"/>
          </p:cNvSpPr>
          <p:nvPr>
            <p:ph type="ftr" sz="quarter" idx="2"/>
          </p:nvPr>
        </p:nvSpPr>
        <p:spPr bwMode="auto">
          <a:xfrm>
            <a:off x="0" y="8831263"/>
            <a:ext cx="2973388"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l" defTabSz="634922">
              <a:spcBef>
                <a:spcPct val="0"/>
              </a:spcBef>
              <a:defRPr sz="800" b="0"/>
            </a:lvl1pPr>
          </a:lstStyle>
          <a:p>
            <a:endParaRPr lang="en-GB" dirty="0"/>
          </a:p>
        </p:txBody>
      </p:sp>
      <p:sp>
        <p:nvSpPr>
          <p:cNvPr id="5" name="Slide Number Placeholder 4"/>
          <p:cNvSpPr>
            <a:spLocks noGrp="1"/>
          </p:cNvSpPr>
          <p:nvPr>
            <p:ph type="sldNum" sz="quarter" idx="3"/>
          </p:nvPr>
        </p:nvSpPr>
        <p:spPr bwMode="auto">
          <a:xfrm>
            <a:off x="3884613" y="8831263"/>
            <a:ext cx="2971800"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r" defTabSz="634922">
              <a:spcBef>
                <a:spcPct val="0"/>
              </a:spcBef>
              <a:defRPr sz="800" b="0"/>
            </a:lvl1pPr>
          </a:lstStyle>
          <a:p>
            <a:fld id="{4A1FC2AB-82DE-43D4-878D-2B0CA2799EF2}" type="slidenum">
              <a:rPr lang="en-GB"/>
              <a:pPr/>
              <a:t>‹#›</a:t>
            </a:fld>
            <a:endParaRPr lang="en-GB" dirty="0"/>
          </a:p>
        </p:txBody>
      </p:sp>
    </p:spTree>
    <p:extLst>
      <p:ext uri="{BB962C8B-B14F-4D97-AF65-F5344CB8AC3E}">
        <p14:creationId xmlns:p14="http://schemas.microsoft.com/office/powerpoint/2010/main" val="4704309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l" defTabSz="634922">
              <a:spcBef>
                <a:spcPct val="0"/>
              </a:spcBef>
              <a:defRPr sz="1200" b="0"/>
            </a:lvl1pPr>
          </a:lstStyle>
          <a:p>
            <a:endParaRPr lang="en-GB" dirty="0"/>
          </a:p>
        </p:txBody>
      </p:sp>
      <p:sp>
        <p:nvSpPr>
          <p:cNvPr id="3" name="Date Placeholder 2"/>
          <p:cNvSpPr>
            <a:spLocks noGrp="1"/>
          </p:cNvSpPr>
          <p:nvPr>
            <p:ph type="dt" idx="1"/>
          </p:nvPr>
        </p:nvSpPr>
        <p:spPr bwMode="auto">
          <a:xfrm>
            <a:off x="3884613" y="0"/>
            <a:ext cx="2971800"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r" defTabSz="634922">
              <a:spcBef>
                <a:spcPct val="0"/>
              </a:spcBef>
              <a:defRPr sz="1200" b="0"/>
            </a:lvl1pPr>
          </a:lstStyle>
          <a:p>
            <a:fld id="{48C56040-B352-4CF8-B5D5-F47EA68AB32D}" type="datetimeFigureOut">
              <a:rPr lang="en-US"/>
              <a:pPr/>
              <a:t>6/9/2025</a:t>
            </a:fld>
            <a:endParaRPr lang="en-GB" dirty="0"/>
          </a:p>
        </p:txBody>
      </p:sp>
      <p:sp>
        <p:nvSpPr>
          <p:cNvPr id="4" name="Slide Image Placeholder 3"/>
          <p:cNvSpPr>
            <a:spLocks noGrp="1" noRot="1" noChangeAspect="1"/>
          </p:cNvSpPr>
          <p:nvPr>
            <p:ph type="sldImg" idx="2"/>
          </p:nvPr>
        </p:nvSpPr>
        <p:spPr>
          <a:xfrm>
            <a:off x="1106488" y="698500"/>
            <a:ext cx="4646612" cy="3486150"/>
          </a:xfrm>
          <a:prstGeom prst="rect">
            <a:avLst/>
          </a:prstGeom>
          <a:noFill/>
          <a:ln w="12700">
            <a:solidFill>
              <a:prstClr val="black"/>
            </a:solidFill>
          </a:ln>
        </p:spPr>
        <p:txBody>
          <a:bodyPr vert="horz" lIns="139373" tIns="69688" rIns="139373" bIns="69688" rtlCol="0" anchor="ctr"/>
          <a:lstStyle/>
          <a:p>
            <a:pPr lvl="0"/>
            <a:endParaRPr lang="en-GB" noProof="0" dirty="0"/>
          </a:p>
        </p:txBody>
      </p:sp>
      <p:sp>
        <p:nvSpPr>
          <p:cNvPr id="5" name="Notes Placeholder 4"/>
          <p:cNvSpPr>
            <a:spLocks noGrp="1"/>
          </p:cNvSpPr>
          <p:nvPr>
            <p:ph type="body" sz="quarter" idx="3"/>
          </p:nvPr>
        </p:nvSpPr>
        <p:spPr bwMode="gray">
          <a:xfrm>
            <a:off x="684214" y="4416426"/>
            <a:ext cx="5489575" cy="91757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bwMode="auto">
          <a:xfrm>
            <a:off x="0" y="8831263"/>
            <a:ext cx="2973388"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l" defTabSz="634922">
              <a:spcBef>
                <a:spcPct val="0"/>
              </a:spcBef>
              <a:defRPr sz="1200" b="0"/>
            </a:lvl1pPr>
          </a:lstStyle>
          <a:p>
            <a:endParaRPr lang="en-GB" dirty="0"/>
          </a:p>
        </p:txBody>
      </p:sp>
      <p:sp>
        <p:nvSpPr>
          <p:cNvPr id="7" name="Slide Number Placeholder 6"/>
          <p:cNvSpPr>
            <a:spLocks noGrp="1"/>
          </p:cNvSpPr>
          <p:nvPr>
            <p:ph type="sldNum" sz="quarter" idx="5"/>
          </p:nvPr>
        </p:nvSpPr>
        <p:spPr bwMode="auto">
          <a:xfrm>
            <a:off x="3884613" y="8831263"/>
            <a:ext cx="2971800"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r" defTabSz="634922">
              <a:spcBef>
                <a:spcPct val="0"/>
              </a:spcBef>
              <a:defRPr sz="1200" b="0"/>
            </a:lvl1pPr>
          </a:lstStyle>
          <a:p>
            <a:fld id="{F6715F80-3722-40A8-A13B-913CAEEA0A98}" type="slidenum">
              <a:rPr lang="en-GB"/>
              <a:pPr/>
              <a:t>‹#›</a:t>
            </a:fld>
            <a:endParaRPr lang="en-GB" dirty="0"/>
          </a:p>
        </p:txBody>
      </p:sp>
    </p:spTree>
    <p:extLst>
      <p:ext uri="{BB962C8B-B14F-4D97-AF65-F5344CB8AC3E}">
        <p14:creationId xmlns:p14="http://schemas.microsoft.com/office/powerpoint/2010/main" val="886304488"/>
      </p:ext>
    </p:extLst>
  </p:cSld>
  <p:clrMap bg1="lt1" tx1="dk1" bg2="lt2" tx2="dk2" accent1="accent1" accent2="accent2" accent3="accent3" accent4="accent4" accent5="accent5" accent6="accent6" hlink="hlink" folHlink="folHlink"/>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4" name="Rectangle 4"/>
          <p:cNvSpPr>
            <a:spLocks noGrp="1" noRot="1" noChangeAspect="1" noTextEdit="1"/>
          </p:cNvSpPr>
          <p:nvPr>
            <p:ph type="sldImg"/>
          </p:nvPr>
        </p:nvSpPr>
        <p:spPr bwMode="auto">
          <a:noFill/>
          <a:ln>
            <a:solidFill>
              <a:srgbClr val="000000"/>
            </a:solidFill>
            <a:miter lim="800000"/>
            <a:headEnd/>
            <a:tailEnd/>
          </a:ln>
        </p:spPr>
      </p:sp>
      <p:sp>
        <p:nvSpPr>
          <p:cNvPr id="281605" name="Rectangle 5"/>
          <p:cNvSpPr>
            <a:spLocks noGrp="1"/>
          </p:cNvSpPr>
          <p:nvPr>
            <p:ph type="body" idx="1"/>
          </p:nvPr>
        </p:nvSpPr>
        <p:spPr>
          <a:xfrm>
            <a:off x="684214" y="4416427"/>
            <a:ext cx="5489575" cy="169277"/>
          </a:xfrm>
        </p:spPr>
        <p:txBody>
          <a:bodyPr/>
          <a:lstStyle/>
          <a:p>
            <a:endParaRPr lang="en-US" dirty="0"/>
          </a:p>
        </p:txBody>
      </p:sp>
    </p:spTree>
    <p:extLst>
      <p:ext uri="{BB962C8B-B14F-4D97-AF65-F5344CB8AC3E}">
        <p14:creationId xmlns:p14="http://schemas.microsoft.com/office/powerpoint/2010/main" val="3284713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3" name="Rectangle 7"/>
          <p:cNvSpPr txBox="1">
            <a:spLocks noGrp="1" noChangeArrowheads="1"/>
          </p:cNvSpPr>
          <p:nvPr/>
        </p:nvSpPr>
        <p:spPr bwMode="auto">
          <a:xfrm>
            <a:off x="370896" y="8891734"/>
            <a:ext cx="216406" cy="169277"/>
          </a:xfrm>
          <a:prstGeom prst="rect">
            <a:avLst/>
          </a:prstGeom>
          <a:noFill/>
          <a:ln w="9525">
            <a:noFill/>
            <a:miter lim="800000"/>
            <a:headEnd/>
            <a:tailEnd/>
          </a:ln>
        </p:spPr>
        <p:txBody>
          <a:bodyPr wrap="none" lIns="0" tIns="0" rIns="0" bIns="0" anchor="b">
            <a:spAutoFit/>
          </a:bodyPr>
          <a:lstStyle/>
          <a:p>
            <a:pPr defTabSz="606362"/>
            <a:fld id="{5846B39A-30BE-4295-A2C8-CD2E1E9535F7}" type="slidenum">
              <a:rPr lang="en-GB">
                <a:latin typeface="Calibri" pitchFamily="34" charset="0"/>
              </a:rPr>
              <a:pPr defTabSz="606362"/>
              <a:t>22</a:t>
            </a:fld>
            <a:endParaRPr lang="en-GB" dirty="0">
              <a:latin typeface="Calibri" pitchFamily="34" charset="0"/>
            </a:endParaRPr>
          </a:p>
        </p:txBody>
      </p:sp>
      <p:sp>
        <p:nvSpPr>
          <p:cNvPr id="847874" name="Rectangle 2"/>
          <p:cNvSpPr>
            <a:spLocks noGrp="1" noRot="1" noChangeAspect="1" noChangeArrowheads="1" noTextEdit="1"/>
          </p:cNvSpPr>
          <p:nvPr>
            <p:ph type="sldImg"/>
          </p:nvPr>
        </p:nvSpPr>
        <p:spPr bwMode="auto">
          <a:xfrm>
            <a:off x="677863" y="366713"/>
            <a:ext cx="5486400" cy="4114800"/>
          </a:xfrm>
          <a:noFill/>
          <a:ln>
            <a:solidFill>
              <a:srgbClr val="000000"/>
            </a:solidFill>
            <a:miter lim="800000"/>
            <a:headEnd/>
            <a:tailEnd/>
          </a:ln>
        </p:spPr>
      </p:sp>
      <p:sp>
        <p:nvSpPr>
          <p:cNvPr id="847875" name="Rectangle 3"/>
          <p:cNvSpPr>
            <a:spLocks noGrp="1" noChangeArrowheads="1"/>
          </p:cNvSpPr>
          <p:nvPr>
            <p:ph type="body" idx="1"/>
          </p:nvPr>
        </p:nvSpPr>
        <p:spPr>
          <a:xfrm>
            <a:off x="360527" y="4576690"/>
            <a:ext cx="6120925" cy="169277"/>
          </a:xfrm>
          <a:noFill/>
          <a:ln/>
        </p:spPr>
        <p:txBody>
          <a:bodyPr/>
          <a:lstStyle/>
          <a:p>
            <a:pPr marL="218290" indent="-218290" eaLnBrk="1" hangingPunct="1">
              <a:spcBef>
                <a:spcPct val="0"/>
              </a:spcBef>
            </a:pPr>
            <a:endParaRPr lang="en-US" dirty="0">
              <a:latin typeface="Arial" charset="0"/>
            </a:endParaRPr>
          </a:p>
        </p:txBody>
      </p:sp>
    </p:spTree>
    <p:extLst>
      <p:ext uri="{BB962C8B-B14F-4D97-AF65-F5344CB8AC3E}">
        <p14:creationId xmlns:p14="http://schemas.microsoft.com/office/powerpoint/2010/main" val="4425399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143000" y="2641627"/>
            <a:ext cx="4113213" cy="743793"/>
          </a:xfrm>
          <a:prstGeom prst="rect">
            <a:avLst/>
          </a:prstGeom>
        </p:spPr>
        <p:txBody>
          <a:bodyPr anchor="b" anchorCtr="0">
            <a:spAutoFit/>
          </a:bodyPr>
          <a:lstStyle>
            <a:lvl1pPr>
              <a:lnSpc>
                <a:spcPct val="85000"/>
              </a:lnSpc>
              <a:defRPr sz="2800" b="0" smtClean="0">
                <a:latin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1143000" y="3689350"/>
            <a:ext cx="4113213" cy="276999"/>
          </a:xfrm>
          <a:prstGeom prst="rect">
            <a:avLst/>
          </a:prstGeom>
        </p:spPr>
        <p:txBody>
          <a:bodyPr>
            <a:spAutoFit/>
          </a:bodyPr>
          <a:lstStyle>
            <a:lvl1pPr>
              <a:lnSpc>
                <a:spcPct val="100000"/>
              </a:lnSpc>
              <a:defRPr sz="1800" b="1" smtClean="0">
                <a:latin typeface="Arial" pitchFamily="34" charset="0"/>
              </a:defRPr>
            </a:lvl1pPr>
          </a:lstStyle>
          <a:p>
            <a:r>
              <a:rPr lang="en-US"/>
              <a:t>Click to edit Master subtitle style</a:t>
            </a:r>
            <a:endParaRPr/>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04813" y="303213"/>
            <a:ext cx="1636712" cy="307975"/>
          </a:xfrm>
          <a:prstGeom prst="rect">
            <a:avLst/>
          </a:prstGeom>
          <a:noFill/>
        </p:spPr>
      </p:pic>
    </p:spTree>
  </p:cSld>
  <p:clrMapOvr>
    <a:masterClrMapping/>
  </p:clrMapOv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11480" y="2773363"/>
            <a:ext cx="4325112" cy="731520"/>
          </a:xfrm>
          <a:prstGeom prst="rect">
            <a:avLst/>
          </a:prstGeom>
        </p:spPr>
        <p:txBody>
          <a:bodyPr>
            <a:spAutoFit/>
          </a:bodyPr>
          <a:lstStyle>
            <a:lvl1pPr>
              <a:lnSpc>
                <a:spcPct val="85000"/>
              </a:lnSpc>
              <a:defRPr sz="2800" b="1" smtClean="0">
                <a:latin typeface="+mj-lt"/>
              </a:defRPr>
            </a:lvl1pPr>
          </a:lstStyle>
          <a:p>
            <a:r>
              <a:rPr lang="en-US"/>
              <a:t>Click to edit Master title style</a:t>
            </a:r>
            <a:endParaRPr lang="en-US" dirty="0"/>
          </a:p>
        </p:txBody>
      </p:sp>
      <p:sp>
        <p:nvSpPr>
          <p:cNvPr id="120836" name="Text Placeholder 2"/>
          <p:cNvSpPr>
            <a:spLocks noGrp="1"/>
          </p:cNvSpPr>
          <p:nvPr>
            <p:ph type="subTitle" idx="1"/>
          </p:nvPr>
        </p:nvSpPr>
        <p:spPr bwMode="gray">
          <a:xfrm>
            <a:off x="411480" y="3694176"/>
            <a:ext cx="4325112" cy="307777"/>
          </a:xfrm>
          <a:prstGeom prst="rect">
            <a:avLst/>
          </a:prstGeom>
        </p:spPr>
        <p:txBody>
          <a:bodyPr>
            <a:spAutoFit/>
          </a:bodyPr>
          <a:lstStyle>
            <a:lvl1pPr>
              <a:lnSpc>
                <a:spcPct val="100000"/>
              </a:lnSpc>
              <a:defRPr sz="2000" b="0" smtClean="0">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11480" y="2824696"/>
            <a:ext cx="8149908" cy="680186"/>
          </a:xfrm>
          <a:prstGeom prst="rect">
            <a:avLst/>
          </a:prstGeom>
        </p:spPr>
        <p:txBody>
          <a:bodyPr anchor="b" anchorCtr="0">
            <a:spAutoFit/>
          </a:bodyPr>
          <a:lstStyle>
            <a:lvl1pPr>
              <a:lnSpc>
                <a:spcPct val="85000"/>
              </a:lnSpc>
              <a:defRPr sz="5200" b="0" smtClean="0">
                <a:solidFill>
                  <a:schemeClr val="bg1"/>
                </a:solidFill>
                <a:latin typeface="Times New Roman" pitchFamily="18" charset="0"/>
                <a:cs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auto">
          <a:xfrm>
            <a:off x="411480" y="3694176"/>
            <a:ext cx="4325112" cy="276999"/>
          </a:xfrm>
          <a:prstGeom prst="rect">
            <a:avLst/>
          </a:prstGeom>
        </p:spPr>
        <p:txBody>
          <a:bodyPr>
            <a:spAutoFit/>
          </a:bodyPr>
          <a:lstStyle>
            <a:lvl1pPr>
              <a:lnSpc>
                <a:spcPct val="100000"/>
              </a:lnSpc>
              <a:defRPr sz="1800" b="1" smtClean="0">
                <a:solidFill>
                  <a:schemeClr val="bg1"/>
                </a:solidFill>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388302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 Column">
    <p:bg>
      <p:bgPr>
        <a:solidFill>
          <a:schemeClr val="bg1"/>
        </a:solidFill>
        <a:effectLst/>
      </p:bgPr>
    </p:bg>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7468"/>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7" name="Content Placeholder 20"/>
          <p:cNvSpPr>
            <a:spLocks noGrp="1"/>
          </p:cNvSpPr>
          <p:nvPr>
            <p:ph sz="quarter" idx="14"/>
          </p:nvPr>
        </p:nvSpPr>
        <p:spPr bwMode="gray">
          <a:xfrm>
            <a:off x="4724400"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8" y="1399031"/>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20"/>
          <p:cNvSpPr>
            <a:spLocks noGrp="1"/>
          </p:cNvSpPr>
          <p:nvPr>
            <p:ph sz="quarter" idx="11"/>
          </p:nvPr>
        </p:nvSpPr>
        <p:spPr bwMode="gray">
          <a:xfrm>
            <a:off x="325481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2"/>
          </p:nvPr>
        </p:nvSpPr>
        <p:spPr bwMode="gray">
          <a:xfrm>
            <a:off x="609815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4737846"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1" name="Content Placeholder 20"/>
          <p:cNvSpPr>
            <a:spLocks noGrp="1"/>
          </p:cNvSpPr>
          <p:nvPr>
            <p:ph sz="quarter" idx="18"/>
          </p:nvPr>
        </p:nvSpPr>
        <p:spPr bwMode="gray">
          <a:xfrm>
            <a:off x="4724400"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1"/>
          <p:cNvSpPr>
            <a:spLocks noGrp="1"/>
          </p:cNvSpPr>
          <p:nvPr>
            <p:ph type="body" sz="quarter" idx="19"/>
          </p:nvPr>
        </p:nvSpPr>
        <p:spPr bwMode="gray">
          <a:xfrm>
            <a:off x="4727259"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cSld>
  <p:clrMapOvr>
    <a:masterClrMapping/>
  </p:clrMapOvr>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5965825" y="6656388"/>
            <a:ext cx="2774950" cy="107722"/>
          </a:xfrm>
          <a:prstGeom prst="rect">
            <a:avLst/>
          </a:prstGeom>
          <a:noFill/>
          <a:ln w="25400" algn="ctr">
            <a:noFill/>
            <a:miter lim="800000"/>
            <a:headEnd/>
            <a:tailEnd/>
          </a:ln>
        </p:spPr>
        <p:txBody>
          <a:bodyPr lIns="0" tIns="0" rIns="0" bIns="0" anchor="b">
            <a:spAutoFit/>
          </a:bodyPr>
          <a:lstStyle/>
          <a:p>
            <a:pPr algn="r">
              <a:spcBef>
                <a:spcPct val="0"/>
              </a:spcBef>
            </a:pPr>
            <a:r>
              <a:rPr lang="en-US" sz="700" b="0" dirty="0">
                <a:solidFill>
                  <a:schemeClr val="tx2"/>
                </a:solidFill>
              </a:rPr>
              <a:t>Copyright © 2019 Deloitte Development LLC. All rights reserved.</a:t>
            </a:r>
          </a:p>
        </p:txBody>
      </p:sp>
      <p:sp>
        <p:nvSpPr>
          <p:cNvPr id="19" name="Slide Number Placeholder 9"/>
          <p:cNvSpPr>
            <a:spLocks/>
          </p:cNvSpPr>
          <p:nvPr/>
        </p:nvSpPr>
        <p:spPr bwMode="gray">
          <a:xfrm>
            <a:off x="414338" y="6640513"/>
            <a:ext cx="268287" cy="138499"/>
          </a:xfrm>
          <a:prstGeom prst="rect">
            <a:avLst/>
          </a:prstGeom>
          <a:noFill/>
          <a:ln w="9525">
            <a:noFill/>
            <a:miter lim="800000"/>
            <a:headEnd/>
            <a:tailEnd/>
          </a:ln>
        </p:spPr>
        <p:txBody>
          <a:bodyPr lIns="0" tIns="0" rIns="0" bIns="0" anchor="b">
            <a:spAutoFit/>
          </a:bodyPr>
          <a:lstStyle/>
          <a:p>
            <a:pPr algn="l">
              <a:spcBef>
                <a:spcPct val="0"/>
              </a:spcBef>
            </a:pPr>
            <a:fld id="{86C77FDF-45C5-4665-AAEE-45520AE6BEA9}" type="slidenum">
              <a:rPr lang="en-US" sz="900">
                <a:solidFill>
                  <a:schemeClr val="tx2"/>
                </a:solidFill>
              </a:rPr>
              <a:pPr algn="l">
                <a:spcBef>
                  <a:spcPct val="0"/>
                </a:spcBef>
              </a:pPr>
              <a:t>‹#›</a:t>
            </a:fld>
            <a:endParaRPr lang="en-US" sz="900" dirty="0">
              <a:solidFill>
                <a:schemeClr val="tx2"/>
              </a:solidFill>
            </a:endParaRP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16" name="Text Placeholder 15"/>
          <p:cNvSpPr>
            <a:spLocks noGrp="1"/>
          </p:cNvSpPr>
          <p:nvPr>
            <p:ph type="body" idx="1"/>
          </p:nvPr>
        </p:nvSpPr>
        <p:spPr bwMode="gray">
          <a:xfrm>
            <a:off x="411480" y="1400175"/>
            <a:ext cx="8330184" cy="149784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7" r:id="rId3"/>
    <p:sldLayoutId id="2147483908" r:id="rId4"/>
    <p:sldLayoutId id="2147483898" r:id="rId5"/>
    <p:sldLayoutId id="2147483904" r:id="rId6"/>
    <p:sldLayoutId id="2147483906" r:id="rId7"/>
    <p:sldLayoutId id="2147483905" r:id="rId8"/>
    <p:sldLayoutId id="2147483897" r:id="rId9"/>
    <p:sldLayoutId id="2147483899" r:id="rId10"/>
    <p:sldLayoutId id="2147483900" r:id="rId11"/>
  </p:sldLayoutIdLst>
  <p:hf hd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p:titleStyle>
    <p:body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help.sap.com/learning-journeys/ec5aa55abb8c4970bc3b07efe2253cfb" TargetMode="External"/><Relationship Id="rId3" Type="http://schemas.openxmlformats.org/officeDocument/2006/relationships/hyperlink" Target="https://learning.sap.com/learning-journey/developing-with-sap-integration-suite" TargetMode="External"/><Relationship Id="rId7" Type="http://schemas.openxmlformats.org/officeDocument/2006/relationships/hyperlink" Target="https://community.sap.com/search/?ct=blog&amp;q=integration+suite" TargetMode="External"/><Relationship Id="rId2" Type="http://schemas.openxmlformats.org/officeDocument/2006/relationships/hyperlink" Target="https://help.sap.com/docs/SAP_CLOUD_PLATFORM_INTEGRATION_SUITE/51ab953548be4459bfe8539ecaeee98d/5cc6987511104c418b7cb4c25f3d9cb0.html" TargetMode="External"/><Relationship Id="rId1" Type="http://schemas.openxmlformats.org/officeDocument/2006/relationships/slideLayout" Target="../slideLayouts/slideLayout4.xml"/><Relationship Id="rId6" Type="http://schemas.openxmlformats.org/officeDocument/2006/relationships/hyperlink" Target="https://community.sap.com/topics/business-technology-platform" TargetMode="External"/><Relationship Id="rId5" Type="http://schemas.openxmlformats.org/officeDocument/2006/relationships/hyperlink" Target="https://help.sap.com/docs/BTP" TargetMode="External"/><Relationship Id="rId4" Type="http://schemas.openxmlformats.org/officeDocument/2006/relationships/hyperlink" Target="https://help.sap.com/learning-journeys/500a46f27a261014ba6a9420b00213f1" TargetMode="External"/><Relationship Id="rId9" Type="http://schemas.openxmlformats.org/officeDocument/2006/relationships/hyperlink" Target="https://www.sap.com/products/technology-platform/integration-suite/capabilities.html#cloud-integration"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www.deloitte.com/about"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hyperlink" Target="http://www.deloitte.com/us/abou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90" name="Rectangle 34"/>
          <p:cNvSpPr>
            <a:spLocks noGrp="1"/>
          </p:cNvSpPr>
          <p:nvPr>
            <p:ph type="ctrTitle"/>
          </p:nvPr>
        </p:nvSpPr>
        <p:spPr bwMode="gray">
          <a:xfrm>
            <a:off x="657546" y="1946565"/>
            <a:ext cx="7520683" cy="1438855"/>
          </a:xfrm>
        </p:spPr>
        <p:txBody>
          <a:bodyPr/>
          <a:lstStyle/>
          <a:p>
            <a:r>
              <a:rPr lang="en-US" sz="2200" dirty="0">
                <a:latin typeface="+mn-lt"/>
              </a:rPr>
              <a:t>Cloud Computing, </a:t>
            </a:r>
            <a:br>
              <a:rPr lang="en-US" sz="2200" dirty="0">
                <a:latin typeface="+mn-lt"/>
              </a:rPr>
            </a:br>
            <a:br>
              <a:rPr lang="en-US" sz="2200" dirty="0">
                <a:latin typeface="+mn-lt"/>
              </a:rPr>
            </a:br>
            <a:r>
              <a:rPr lang="en-US" sz="2200" dirty="0">
                <a:latin typeface="+mn-lt"/>
              </a:rPr>
              <a:t>SAP Business Technology Platform (BTP) and </a:t>
            </a:r>
            <a:br>
              <a:rPr lang="en-US" sz="2200" dirty="0">
                <a:latin typeface="+mn-lt"/>
              </a:rPr>
            </a:br>
            <a:br>
              <a:rPr lang="en-US" sz="2200" dirty="0">
                <a:latin typeface="+mn-lt"/>
              </a:rPr>
            </a:br>
            <a:r>
              <a:rPr lang="en-US" sz="2200" dirty="0">
                <a:latin typeface="+mn-lt"/>
              </a:rPr>
              <a:t>SAP Integration Suite Overview</a:t>
            </a:r>
            <a:endParaRPr lang="en-US" sz="2200" dirty="0">
              <a:solidFill>
                <a:schemeClr val="accent2"/>
              </a:solidFill>
              <a:latin typeface="+mn-lt"/>
            </a:endParaRPr>
          </a:p>
        </p:txBody>
      </p:sp>
      <p:sp>
        <p:nvSpPr>
          <p:cNvPr id="121891" name="Rectangle 35"/>
          <p:cNvSpPr>
            <a:spLocks noGrp="1"/>
          </p:cNvSpPr>
          <p:nvPr>
            <p:ph type="subTitle" idx="1"/>
          </p:nvPr>
        </p:nvSpPr>
        <p:spPr bwMode="gray">
          <a:xfrm>
            <a:off x="886146" y="5610617"/>
            <a:ext cx="4113213" cy="276999"/>
          </a:xfrm>
        </p:spPr>
        <p:txBody>
          <a:bodyPr vert="horz" lIns="0" tIns="0" rIns="0" bIns="0" rtlCol="0" anchor="t">
            <a:spAutoFit/>
          </a:bodyPr>
          <a:lstStyle/>
          <a:p>
            <a:r>
              <a:rPr lang="en-US" dirty="0">
                <a:latin typeface="+mn-lt"/>
                <a:cs typeface="Arial"/>
              </a:rPr>
              <a:t>September 2023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a:xfrm>
            <a:off x="411479" y="945223"/>
            <a:ext cx="6852350" cy="5341278"/>
          </a:xfrm>
        </p:spPr>
        <p:txBody>
          <a:bodyPr/>
          <a:lstStyle/>
          <a:p>
            <a:r>
              <a:rPr lang="en-US" sz="1600" dirty="0"/>
              <a:t>Introduction to Cloud Computing</a:t>
            </a:r>
          </a:p>
          <a:p>
            <a:r>
              <a:rPr lang="en-US" sz="1600" dirty="0"/>
              <a:t>Cloud Computing Advantages</a:t>
            </a:r>
          </a:p>
          <a:p>
            <a:r>
              <a:rPr lang="en-US" sz="1600" dirty="0"/>
              <a:t>Cloud Computing Services</a:t>
            </a:r>
          </a:p>
          <a:p>
            <a:r>
              <a:rPr lang="en-US" sz="1600" dirty="0"/>
              <a:t>SAP Business Technology Platform (BTP) Overview</a:t>
            </a:r>
          </a:p>
          <a:p>
            <a:r>
              <a:rPr lang="en-US" sz="1600" dirty="0"/>
              <a:t>SAP Business Technology Platform (BTP) Capabilities </a:t>
            </a:r>
          </a:p>
          <a:p>
            <a:r>
              <a:rPr lang="en-US" sz="1600" dirty="0"/>
              <a:t>SAP Integration Suite Overview</a:t>
            </a:r>
          </a:p>
          <a:p>
            <a:r>
              <a:rPr lang="en-US" sz="1600" dirty="0"/>
              <a:t>SAP Integration Suite Capabilities</a:t>
            </a:r>
          </a:p>
          <a:p>
            <a:r>
              <a:rPr lang="en-US" sz="1600" dirty="0"/>
              <a:t>SAP Integration Suite Pricing Models</a:t>
            </a:r>
          </a:p>
          <a:p>
            <a:r>
              <a:rPr lang="en-US" sz="1600" dirty="0"/>
              <a:t>References</a:t>
            </a:r>
          </a:p>
          <a:p>
            <a:endParaRPr lang="en-US" dirty="0"/>
          </a:p>
        </p:txBody>
      </p:sp>
      <p:sp>
        <p:nvSpPr>
          <p:cNvPr id="3" name="Title 2"/>
          <p:cNvSpPr>
            <a:spLocks noGrp="1"/>
          </p:cNvSpPr>
          <p:nvPr>
            <p:ph type="title"/>
          </p:nvPr>
        </p:nvSpPr>
        <p:spPr>
          <a:xfrm>
            <a:off x="414338" y="446038"/>
            <a:ext cx="8330184" cy="333425"/>
          </a:xfrm>
        </p:spPr>
        <p:txBody>
          <a:bodyPr/>
          <a:lstStyle/>
          <a:p>
            <a:r>
              <a:rPr lang="en-US" dirty="0"/>
              <a:t>Agenda</a:t>
            </a:r>
          </a:p>
        </p:txBody>
      </p:sp>
    </p:spTree>
    <p:extLst>
      <p:ext uri="{BB962C8B-B14F-4D97-AF65-F5344CB8AC3E}">
        <p14:creationId xmlns:p14="http://schemas.microsoft.com/office/powerpoint/2010/main" val="174229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77FAA4-D257-4FD3-806A-A42DC4DB09EA}"/>
              </a:ext>
            </a:extLst>
          </p:cNvPr>
          <p:cNvSpPr>
            <a:spLocks noGrp="1"/>
          </p:cNvSpPr>
          <p:nvPr>
            <p:ph sz="quarter" idx="11"/>
          </p:nvPr>
        </p:nvSpPr>
        <p:spPr>
          <a:xfrm>
            <a:off x="411479" y="1399029"/>
            <a:ext cx="8330185" cy="4887471"/>
          </a:xfrm>
        </p:spPr>
        <p:txBody>
          <a:bodyPr wrap="square"/>
          <a:lstStyle/>
          <a:p>
            <a:r>
              <a:rPr lang="en-US" b="1" i="0" dirty="0">
                <a:solidFill>
                  <a:srgbClr val="000000"/>
                </a:solidFill>
                <a:effectLst/>
                <a:latin typeface="MuseoSansCyrl300"/>
              </a:rPr>
              <a:t>            </a:t>
            </a:r>
            <a:r>
              <a:rPr lang="en-US" sz="1400" b="1" dirty="0"/>
              <a:t>Cloud Computing </a:t>
            </a:r>
            <a:r>
              <a:rPr lang="en-US" sz="1400" dirty="0"/>
              <a:t>is the concept of delivering computing services and resources over the Internet. </a:t>
            </a:r>
          </a:p>
          <a:p>
            <a:pPr>
              <a:spcBef>
                <a:spcPts val="0"/>
              </a:spcBef>
            </a:pPr>
            <a:r>
              <a:rPr lang="en-US" sz="1400" dirty="0"/>
              <a:t>              We broadly categorize computing services as applications, data, runtime, middleware, OS, virtualization, servers, storage and networking. If one or more of these services are delivered via the Internet, we call it as cloud computing.</a:t>
            </a:r>
          </a:p>
          <a:p>
            <a:endParaRPr lang="en-US" dirty="0"/>
          </a:p>
        </p:txBody>
      </p:sp>
      <p:sp>
        <p:nvSpPr>
          <p:cNvPr id="3" name="Title 2">
            <a:extLst>
              <a:ext uri="{FF2B5EF4-FFF2-40B4-BE49-F238E27FC236}">
                <a16:creationId xmlns:a16="http://schemas.microsoft.com/office/drawing/2014/main" id="{17AE9DE9-252C-4157-A115-E11DABB4E8E1}"/>
              </a:ext>
            </a:extLst>
          </p:cNvPr>
          <p:cNvSpPr>
            <a:spLocks noGrp="1"/>
          </p:cNvSpPr>
          <p:nvPr>
            <p:ph type="title"/>
          </p:nvPr>
        </p:nvSpPr>
        <p:spPr>
          <a:xfrm>
            <a:off x="414338" y="446038"/>
            <a:ext cx="8330184" cy="333425"/>
          </a:xfrm>
        </p:spPr>
        <p:txBody>
          <a:bodyPr/>
          <a:lstStyle/>
          <a:p>
            <a:r>
              <a:rPr lang="en-US" dirty="0"/>
              <a:t>Introduction to Cloud Computing</a:t>
            </a:r>
          </a:p>
        </p:txBody>
      </p:sp>
      <p:pic>
        <p:nvPicPr>
          <p:cNvPr id="4" name="Content Placeholder 4">
            <a:extLst>
              <a:ext uri="{FF2B5EF4-FFF2-40B4-BE49-F238E27FC236}">
                <a16:creationId xmlns:a16="http://schemas.microsoft.com/office/drawing/2014/main" id="{854AA522-1FB4-4555-ABD5-5C845F86DE81}"/>
              </a:ext>
            </a:extLst>
          </p:cNvPr>
          <p:cNvPicPr>
            <a:picLocks noChangeAspect="1"/>
          </p:cNvPicPr>
          <p:nvPr/>
        </p:nvPicPr>
        <p:blipFill>
          <a:blip r:embed="rId2"/>
          <a:stretch>
            <a:fillRect/>
          </a:stretch>
        </p:blipFill>
        <p:spPr bwMode="gray">
          <a:xfrm>
            <a:off x="811855" y="3149946"/>
            <a:ext cx="5311543" cy="2309025"/>
          </a:xfrm>
          <a:prstGeom prst="rect">
            <a:avLst/>
          </a:prstGeom>
          <a:noFill/>
          <a:ln w="9525" algn="ctr">
            <a:noFill/>
            <a:miter lim="800000"/>
            <a:headEnd/>
            <a:tailEnd/>
          </a:ln>
          <a:effectLst/>
        </p:spPr>
      </p:pic>
    </p:spTree>
    <p:extLst>
      <p:ext uri="{BB962C8B-B14F-4D97-AF65-F5344CB8AC3E}">
        <p14:creationId xmlns:p14="http://schemas.microsoft.com/office/powerpoint/2010/main" val="3828677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9C973C-0194-4111-B0C4-43761C75D58A}"/>
              </a:ext>
            </a:extLst>
          </p:cNvPr>
          <p:cNvSpPr>
            <a:spLocks noGrp="1"/>
          </p:cNvSpPr>
          <p:nvPr>
            <p:ph sz="quarter" idx="11"/>
          </p:nvPr>
        </p:nvSpPr>
        <p:spPr>
          <a:xfrm>
            <a:off x="411479" y="1399029"/>
            <a:ext cx="8085249" cy="4887471"/>
          </a:xfrm>
        </p:spPr>
        <p:txBody>
          <a:bodyPr/>
          <a:lstStyle/>
          <a:p>
            <a:pPr algn="l">
              <a:buFont typeface="Arial" panose="020B0604020202020204" pitchFamily="34" charset="0"/>
              <a:buChar char="•"/>
            </a:pPr>
            <a:r>
              <a:rPr lang="en-US" sz="1400" b="1" dirty="0"/>
              <a:t>Availability</a:t>
            </a:r>
            <a:r>
              <a:rPr lang="en-US" sz="1400" dirty="0"/>
              <a:t>: You can access your solutions and services anytime from anywhere with any device. The same cannot be said for traditional computing.</a:t>
            </a:r>
          </a:p>
          <a:p>
            <a:pPr algn="l">
              <a:buFont typeface="Arial" panose="020B0604020202020204" pitchFamily="34" charset="0"/>
              <a:buChar char="•"/>
            </a:pPr>
            <a:r>
              <a:rPr lang="en-US" sz="1400" b="1" dirty="0"/>
              <a:t>Cost-effectiveness</a:t>
            </a:r>
            <a:r>
              <a:rPr lang="en-US" sz="1400" dirty="0"/>
              <a:t>: Cloud computing allows organizations to avoid high costs of network implementation and hardware purchases. Additionally, you only pay for what you use which reduces IT costs.</a:t>
            </a:r>
          </a:p>
          <a:p>
            <a:pPr algn="l">
              <a:buFont typeface="Arial" panose="020B0604020202020204" pitchFamily="34" charset="0"/>
              <a:buChar char="•"/>
            </a:pPr>
            <a:r>
              <a:rPr lang="en-US" sz="1400" b="1" dirty="0"/>
              <a:t>Scalability: </a:t>
            </a:r>
            <a:r>
              <a:rPr lang="en-US" sz="1400" dirty="0"/>
              <a:t>You can easily scale up or scale down your services and requirements in a shorter time period than traditional computing. Moreover, the scaling up can be done with minimum IT costs and capital costs for hardware purchases.</a:t>
            </a:r>
          </a:p>
          <a:p>
            <a:pPr algn="l">
              <a:buFont typeface="Arial" panose="020B0604020202020204" pitchFamily="34" charset="0"/>
              <a:buChar char="•"/>
            </a:pPr>
            <a:r>
              <a:rPr lang="en-US" sz="1400" b="1" dirty="0"/>
              <a:t>Simplicity</a:t>
            </a:r>
            <a:r>
              <a:rPr lang="en-US" sz="1400" dirty="0"/>
              <a:t>: Another great advantage of cloud computing is the simplicity of use. Your IT team requires less effort when it comes to system updates, upgrades, and general maintenance</a:t>
            </a:r>
            <a:r>
              <a:rPr lang="en-US" sz="1600" dirty="0"/>
              <a:t>.</a:t>
            </a:r>
          </a:p>
          <a:p>
            <a:endParaRPr lang="en-US" dirty="0"/>
          </a:p>
        </p:txBody>
      </p:sp>
      <p:sp>
        <p:nvSpPr>
          <p:cNvPr id="3" name="Title 2">
            <a:extLst>
              <a:ext uri="{FF2B5EF4-FFF2-40B4-BE49-F238E27FC236}">
                <a16:creationId xmlns:a16="http://schemas.microsoft.com/office/drawing/2014/main" id="{AF793E7A-7686-400A-BB26-2607122A70BC}"/>
              </a:ext>
            </a:extLst>
          </p:cNvPr>
          <p:cNvSpPr>
            <a:spLocks noGrp="1"/>
          </p:cNvSpPr>
          <p:nvPr>
            <p:ph type="title"/>
          </p:nvPr>
        </p:nvSpPr>
        <p:spPr>
          <a:xfrm>
            <a:off x="414338" y="446038"/>
            <a:ext cx="8330184" cy="333425"/>
          </a:xfrm>
        </p:spPr>
        <p:txBody>
          <a:bodyPr/>
          <a:lstStyle/>
          <a:p>
            <a:r>
              <a:rPr lang="en-US" dirty="0"/>
              <a:t>Cloud Computing : Advantages</a:t>
            </a:r>
          </a:p>
        </p:txBody>
      </p:sp>
    </p:spTree>
    <p:extLst>
      <p:ext uri="{BB962C8B-B14F-4D97-AF65-F5344CB8AC3E}">
        <p14:creationId xmlns:p14="http://schemas.microsoft.com/office/powerpoint/2010/main" val="14102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33C016-B9C5-49FE-BDEC-9B28C710EC2E}"/>
              </a:ext>
            </a:extLst>
          </p:cNvPr>
          <p:cNvSpPr>
            <a:spLocks noGrp="1"/>
          </p:cNvSpPr>
          <p:nvPr>
            <p:ph type="title"/>
          </p:nvPr>
        </p:nvSpPr>
        <p:spPr>
          <a:xfrm>
            <a:off x="414338" y="446038"/>
            <a:ext cx="8330184" cy="333425"/>
          </a:xfrm>
        </p:spPr>
        <p:txBody>
          <a:bodyPr/>
          <a:lstStyle/>
          <a:p>
            <a:r>
              <a:rPr lang="en-US" dirty="0"/>
              <a:t>Cloud Computing : Services</a:t>
            </a:r>
          </a:p>
        </p:txBody>
      </p:sp>
      <p:pic>
        <p:nvPicPr>
          <p:cNvPr id="9" name="Content Placeholder 8">
            <a:extLst>
              <a:ext uri="{FF2B5EF4-FFF2-40B4-BE49-F238E27FC236}">
                <a16:creationId xmlns:a16="http://schemas.microsoft.com/office/drawing/2014/main" id="{79CD0E06-706F-44EE-887C-963967737FA0}"/>
              </a:ext>
            </a:extLst>
          </p:cNvPr>
          <p:cNvPicPr>
            <a:picLocks noGrp="1" noChangeAspect="1"/>
          </p:cNvPicPr>
          <p:nvPr>
            <p:ph sz="quarter" idx="11"/>
          </p:nvPr>
        </p:nvPicPr>
        <p:blipFill>
          <a:blip r:embed="rId2"/>
          <a:stretch>
            <a:fillRect/>
          </a:stretch>
        </p:blipFill>
        <p:spPr>
          <a:xfrm>
            <a:off x="791110" y="1150662"/>
            <a:ext cx="7048071" cy="4895445"/>
          </a:xfrm>
        </p:spPr>
      </p:pic>
    </p:spTree>
    <p:extLst>
      <p:ext uri="{BB962C8B-B14F-4D97-AF65-F5344CB8AC3E}">
        <p14:creationId xmlns:p14="http://schemas.microsoft.com/office/powerpoint/2010/main" val="2727727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D76364-9B8F-4693-B4E8-9F9FC001E549}"/>
              </a:ext>
            </a:extLst>
          </p:cNvPr>
          <p:cNvSpPr>
            <a:spLocks noGrp="1"/>
          </p:cNvSpPr>
          <p:nvPr>
            <p:ph sz="quarter" idx="11"/>
          </p:nvPr>
        </p:nvSpPr>
        <p:spPr>
          <a:xfrm>
            <a:off x="180876" y="1399029"/>
            <a:ext cx="8560787" cy="4887471"/>
          </a:xfrm>
        </p:spPr>
        <p:txBody>
          <a:bodyPr/>
          <a:lstStyle/>
          <a:p>
            <a:pPr algn="l"/>
            <a:r>
              <a:rPr lang="en-US" sz="1400" dirty="0"/>
              <a:t>The main characteristic of SaaS is that the software is hosted centrally and delivered over the Internet. Users access the hosted applications through web browsers, cell phones, tablets, etc. As you can see from the previous slide, cloud application providers manage the application/data and underline infrastructure.</a:t>
            </a:r>
          </a:p>
          <a:p>
            <a:pPr algn="l"/>
            <a:r>
              <a:rPr lang="en-US" sz="1400" dirty="0"/>
              <a:t>Customers can usually access these hosted applications on a subscription basis.</a:t>
            </a:r>
          </a:p>
          <a:p>
            <a:pPr algn="l"/>
            <a:r>
              <a:rPr lang="en-US" sz="1400" b="1" dirty="0"/>
              <a:t>Some of the SaaS Offering's from SAP</a:t>
            </a:r>
          </a:p>
          <a:p>
            <a:pPr algn="l"/>
            <a:r>
              <a:rPr lang="en-US" sz="1400" dirty="0"/>
              <a:t>SAP SuccessFactors</a:t>
            </a:r>
          </a:p>
          <a:p>
            <a:pPr algn="l"/>
            <a:r>
              <a:rPr lang="en-US" sz="1400" dirty="0"/>
              <a:t>SAP Ariba</a:t>
            </a:r>
          </a:p>
          <a:p>
            <a:pPr algn="l"/>
            <a:r>
              <a:rPr lang="en-US" sz="1400" dirty="0"/>
              <a:t>SAP Analytics Cloud</a:t>
            </a:r>
          </a:p>
          <a:p>
            <a:pPr algn="l"/>
            <a:r>
              <a:rPr lang="en-US" sz="1400" dirty="0"/>
              <a:t>SAP Concur</a:t>
            </a:r>
          </a:p>
          <a:p>
            <a:pPr algn="l"/>
            <a:r>
              <a:rPr lang="en-US" sz="1400" dirty="0"/>
              <a:t>SAP Business One Cloud</a:t>
            </a:r>
          </a:p>
          <a:p>
            <a:pPr algn="l"/>
            <a:endParaRPr lang="en-US" sz="1600" b="1" dirty="0"/>
          </a:p>
          <a:p>
            <a:endParaRPr lang="en-US" dirty="0"/>
          </a:p>
        </p:txBody>
      </p:sp>
      <p:sp>
        <p:nvSpPr>
          <p:cNvPr id="3" name="Title 2">
            <a:extLst>
              <a:ext uri="{FF2B5EF4-FFF2-40B4-BE49-F238E27FC236}">
                <a16:creationId xmlns:a16="http://schemas.microsoft.com/office/drawing/2014/main" id="{DEDAB95C-B422-4FA7-B6E9-20CD15A58777}"/>
              </a:ext>
            </a:extLst>
          </p:cNvPr>
          <p:cNvSpPr>
            <a:spLocks noGrp="1"/>
          </p:cNvSpPr>
          <p:nvPr>
            <p:ph type="title"/>
          </p:nvPr>
        </p:nvSpPr>
        <p:spPr>
          <a:xfrm>
            <a:off x="180876" y="404787"/>
            <a:ext cx="8330184" cy="333425"/>
          </a:xfrm>
        </p:spPr>
        <p:txBody>
          <a:bodyPr/>
          <a:lstStyle/>
          <a:p>
            <a:r>
              <a:rPr lang="en-US" dirty="0"/>
              <a:t>Cloud Services : Software-as-a-service (SaaS)</a:t>
            </a:r>
          </a:p>
        </p:txBody>
      </p:sp>
    </p:spTree>
    <p:extLst>
      <p:ext uri="{BB962C8B-B14F-4D97-AF65-F5344CB8AC3E}">
        <p14:creationId xmlns:p14="http://schemas.microsoft.com/office/powerpoint/2010/main" val="3970348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ACCBF5-F9F4-432E-854C-8892D003AA9B}"/>
              </a:ext>
            </a:extLst>
          </p:cNvPr>
          <p:cNvSpPr>
            <a:spLocks noGrp="1"/>
          </p:cNvSpPr>
          <p:nvPr>
            <p:ph sz="quarter" idx="11"/>
          </p:nvPr>
        </p:nvSpPr>
        <p:spPr>
          <a:xfrm>
            <a:off x="411479" y="1376737"/>
            <a:ext cx="8496215" cy="4909764"/>
          </a:xfrm>
        </p:spPr>
        <p:txBody>
          <a:bodyPr/>
          <a:lstStyle/>
          <a:p>
            <a:pPr algn="l"/>
            <a:r>
              <a:rPr lang="en-US" sz="1400" dirty="0"/>
              <a:t>Platform-as-a-service refers to cloud environments that allow the development, testing, deployment, and management of applications. Developers can build custom applications without having to manage the underline infrastructure, such as servers and networks.</a:t>
            </a:r>
          </a:p>
          <a:p>
            <a:pPr algn="l"/>
            <a:r>
              <a:rPr lang="en-US" sz="1400" dirty="0"/>
              <a:t>However, customers should manage the applications built on the platform, including their data.</a:t>
            </a:r>
          </a:p>
          <a:p>
            <a:r>
              <a:rPr lang="en-US" sz="1400" dirty="0"/>
              <a:t>The cloud resources are deployed and managed by cloud service providers while end-users have the liberty to use the service on a pay-per-use basis. </a:t>
            </a:r>
          </a:p>
          <a:p>
            <a:pPr algn="l"/>
            <a:r>
              <a:rPr lang="en-US" sz="1400" dirty="0"/>
              <a:t>Some of the widely used PaaS offerings in the world are SAP Integration Suite, Google App Engine, Red Hat OpenShift, and GitHub.</a:t>
            </a:r>
          </a:p>
          <a:p>
            <a:pPr algn="l"/>
            <a:r>
              <a:rPr lang="en-US" sz="1400" b="1" dirty="0"/>
              <a:t>SAP Integration Suite  </a:t>
            </a:r>
            <a:r>
              <a:rPr lang="en-US" sz="1400" dirty="0"/>
              <a:t>is an integration platform-as-a-service (iPaaS) offered by SAP. In Integration Suite, developers can build, test, monitor, and manage integration scenarios. Since it is integration-specific, the product belongs to a subcategory of PaaS called iPaaS, which stands for integration platform-as-a-service.</a:t>
            </a:r>
          </a:p>
          <a:p>
            <a:endParaRPr lang="en-US" dirty="0"/>
          </a:p>
        </p:txBody>
      </p:sp>
      <p:sp>
        <p:nvSpPr>
          <p:cNvPr id="3" name="Title 2">
            <a:extLst>
              <a:ext uri="{FF2B5EF4-FFF2-40B4-BE49-F238E27FC236}">
                <a16:creationId xmlns:a16="http://schemas.microsoft.com/office/drawing/2014/main" id="{36A21E18-C1A7-4D3C-8929-057A694C7EA4}"/>
              </a:ext>
            </a:extLst>
          </p:cNvPr>
          <p:cNvSpPr>
            <a:spLocks noGrp="1"/>
          </p:cNvSpPr>
          <p:nvPr>
            <p:ph type="title"/>
          </p:nvPr>
        </p:nvSpPr>
        <p:spPr>
          <a:xfrm>
            <a:off x="414338" y="404787"/>
            <a:ext cx="8330184" cy="333425"/>
          </a:xfrm>
        </p:spPr>
        <p:txBody>
          <a:bodyPr/>
          <a:lstStyle/>
          <a:p>
            <a:r>
              <a:rPr lang="en-US" dirty="0"/>
              <a:t>Cloud Services : Platform-as-a-Service (PaaS)</a:t>
            </a:r>
          </a:p>
        </p:txBody>
      </p:sp>
    </p:spTree>
    <p:extLst>
      <p:ext uri="{BB962C8B-B14F-4D97-AF65-F5344CB8AC3E}">
        <p14:creationId xmlns:p14="http://schemas.microsoft.com/office/powerpoint/2010/main" val="33400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8F04C9-94AB-4CFE-8A4C-20A81A2C0821}"/>
              </a:ext>
            </a:extLst>
          </p:cNvPr>
          <p:cNvSpPr>
            <a:spLocks noGrp="1"/>
          </p:cNvSpPr>
          <p:nvPr>
            <p:ph sz="quarter" idx="11"/>
          </p:nvPr>
        </p:nvSpPr>
        <p:spPr>
          <a:xfrm>
            <a:off x="411479" y="1399029"/>
            <a:ext cx="8208539" cy="4887471"/>
          </a:xfrm>
        </p:spPr>
        <p:txBody>
          <a:bodyPr/>
          <a:lstStyle/>
          <a:p>
            <a:pPr algn="l"/>
            <a:r>
              <a:rPr lang="en-US" sz="1400" dirty="0"/>
              <a:t> IaaS provides access to computing resources in a virtualized environment “the cloud” on internet. It provides computing infrastructure like virtual server space, network connections, bandwidth, load balancers and IP addresses on a pay-as-you-go basis. </a:t>
            </a:r>
          </a:p>
          <a:p>
            <a:pPr algn="l"/>
            <a:r>
              <a:rPr lang="en-US" sz="1400" dirty="0"/>
              <a:t> The pool of hardware resource is extracted from multiple servers and networks usually distributed across numerous data centers. This provides redundancy and reliability to IaaS.</a:t>
            </a:r>
          </a:p>
          <a:p>
            <a:pPr algn="l"/>
            <a:r>
              <a:rPr lang="en-US" sz="1400" dirty="0"/>
              <a:t>SAP Hana Enterprise Cloud (HEC) is SAP’s proprietary IaaS product. Amazon Web Services (AWS), Cisco Metapod, Microsoft Azure, Google Compute Engine (GCE) are some of the other IaaS solutions available worldwide.</a:t>
            </a:r>
          </a:p>
          <a:p>
            <a:endParaRPr lang="en-US" dirty="0"/>
          </a:p>
        </p:txBody>
      </p:sp>
      <p:sp>
        <p:nvSpPr>
          <p:cNvPr id="3" name="Title 2">
            <a:extLst>
              <a:ext uri="{FF2B5EF4-FFF2-40B4-BE49-F238E27FC236}">
                <a16:creationId xmlns:a16="http://schemas.microsoft.com/office/drawing/2014/main" id="{39400165-020F-4897-B198-3953B70DA4C4}"/>
              </a:ext>
            </a:extLst>
          </p:cNvPr>
          <p:cNvSpPr>
            <a:spLocks noGrp="1"/>
          </p:cNvSpPr>
          <p:nvPr>
            <p:ph type="title"/>
          </p:nvPr>
        </p:nvSpPr>
        <p:spPr>
          <a:xfrm>
            <a:off x="414338" y="446038"/>
            <a:ext cx="8330184" cy="333425"/>
          </a:xfrm>
        </p:spPr>
        <p:txBody>
          <a:bodyPr/>
          <a:lstStyle/>
          <a:p>
            <a:r>
              <a:rPr lang="en-US" dirty="0"/>
              <a:t>Cloud Services : Infrastructure-as-a-Service (IaaS)</a:t>
            </a:r>
          </a:p>
        </p:txBody>
      </p:sp>
    </p:spTree>
    <p:extLst>
      <p:ext uri="{BB962C8B-B14F-4D97-AF65-F5344CB8AC3E}">
        <p14:creationId xmlns:p14="http://schemas.microsoft.com/office/powerpoint/2010/main" val="4045785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10;&#10;Description automatically generated">
            <a:extLst>
              <a:ext uri="{FF2B5EF4-FFF2-40B4-BE49-F238E27FC236}">
                <a16:creationId xmlns:a16="http://schemas.microsoft.com/office/drawing/2014/main" id="{50389028-4716-4F1F-BA66-0401CA3A5E0C}"/>
              </a:ext>
            </a:extLst>
          </p:cNvPr>
          <p:cNvPicPr>
            <a:picLocks noGrp="1" noChangeAspect="1"/>
          </p:cNvPicPr>
          <p:nvPr>
            <p:ph sz="quarter" idx="11"/>
          </p:nvPr>
        </p:nvPicPr>
        <p:blipFill>
          <a:blip r:embed="rId2" cstate="print">
            <a:extLst>
              <a:ext uri="{28A0092B-C50C-407E-A947-70E740481C1C}">
                <a14:useLocalDpi xmlns:a14="http://schemas.microsoft.com/office/drawing/2010/main" val="0"/>
              </a:ext>
            </a:extLst>
          </a:blip>
          <a:stretch>
            <a:fillRect/>
          </a:stretch>
        </p:blipFill>
        <p:spPr>
          <a:xfrm>
            <a:off x="411162" y="1448655"/>
            <a:ext cx="7417746" cy="4605081"/>
          </a:xfrm>
        </p:spPr>
      </p:pic>
      <p:sp>
        <p:nvSpPr>
          <p:cNvPr id="3" name="Title 2">
            <a:extLst>
              <a:ext uri="{FF2B5EF4-FFF2-40B4-BE49-F238E27FC236}">
                <a16:creationId xmlns:a16="http://schemas.microsoft.com/office/drawing/2014/main" id="{CD54D1BB-EF69-4764-8CF5-16D9CE68E1E9}"/>
              </a:ext>
            </a:extLst>
          </p:cNvPr>
          <p:cNvSpPr>
            <a:spLocks noGrp="1"/>
          </p:cNvSpPr>
          <p:nvPr>
            <p:ph type="title"/>
          </p:nvPr>
        </p:nvSpPr>
        <p:spPr>
          <a:xfrm>
            <a:off x="414338" y="446038"/>
            <a:ext cx="8330184" cy="333425"/>
          </a:xfrm>
        </p:spPr>
        <p:txBody>
          <a:bodyPr/>
          <a:lstStyle/>
          <a:p>
            <a:r>
              <a:rPr lang="en-US" dirty="0"/>
              <a:t>Cloud Services : Use Case</a:t>
            </a:r>
          </a:p>
        </p:txBody>
      </p:sp>
    </p:spTree>
    <p:extLst>
      <p:ext uri="{BB962C8B-B14F-4D97-AF65-F5344CB8AC3E}">
        <p14:creationId xmlns:p14="http://schemas.microsoft.com/office/powerpoint/2010/main" val="3981356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717DA6-2EBC-43CF-A3F4-179CB88C3577}"/>
              </a:ext>
            </a:extLst>
          </p:cNvPr>
          <p:cNvSpPr>
            <a:spLocks noGrp="1"/>
          </p:cNvSpPr>
          <p:nvPr>
            <p:ph sz="quarter" idx="11"/>
          </p:nvPr>
        </p:nvSpPr>
        <p:spPr>
          <a:xfrm>
            <a:off x="329286" y="1019314"/>
            <a:ext cx="8330184" cy="5392648"/>
          </a:xfrm>
        </p:spPr>
        <p:txBody>
          <a:bodyPr/>
          <a:lstStyle/>
          <a:p>
            <a:r>
              <a:rPr lang="en-US" sz="1400" dirty="0"/>
              <a:t>SAP Business Technology Platform (SAP BTP) takes SAP’s products, services, and solutions, and puts them under one roof.</a:t>
            </a:r>
          </a:p>
          <a:p>
            <a:r>
              <a:rPr lang="en-US" sz="1400" dirty="0"/>
              <a:t>It’s not a tool or a system in and of itself, but instead a collection of on-premise and cloud products that can be grouped under four pillars</a:t>
            </a:r>
          </a:p>
          <a:p>
            <a:r>
              <a:rPr lang="en-US" sz="1400" dirty="0"/>
              <a:t>SAP's open platform as a service for developing cloud business applications in a fully provisioned environment. Using a set of end-to-end services, capabilities, and tools, developers can build, extend, and integrate business applications in the cloud.</a:t>
            </a:r>
          </a:p>
          <a:p>
            <a:pPr algn="l"/>
            <a:r>
              <a:rPr lang="en-US" sz="1400" dirty="0"/>
              <a:t>SAP BTP encompasses various capabilities that can be categorized into four pillars:</a:t>
            </a:r>
          </a:p>
          <a:p>
            <a:pPr marL="285750" indent="-285750" algn="l">
              <a:buFont typeface="Arial" panose="020B0604020202020204" pitchFamily="34" charset="0"/>
              <a:buChar char="•"/>
            </a:pPr>
            <a:r>
              <a:rPr lang="en-US" sz="1400" dirty="0"/>
              <a:t> Database and Data management</a:t>
            </a:r>
          </a:p>
          <a:p>
            <a:pPr marL="285750" indent="-285750" algn="l">
              <a:buFont typeface="Arial" panose="020B0604020202020204" pitchFamily="34" charset="0"/>
              <a:buChar char="•"/>
            </a:pPr>
            <a:r>
              <a:rPr lang="en-US" sz="1400" dirty="0"/>
              <a:t>Analytics </a:t>
            </a:r>
          </a:p>
          <a:p>
            <a:pPr marL="285750" indent="-285750" algn="l">
              <a:buFont typeface="Arial" panose="020B0604020202020204" pitchFamily="34" charset="0"/>
              <a:buChar char="•"/>
            </a:pPr>
            <a:r>
              <a:rPr lang="en-US" sz="1400" dirty="0"/>
              <a:t>Application Development and integration</a:t>
            </a:r>
          </a:p>
          <a:p>
            <a:pPr marL="285750" indent="-285750" algn="l">
              <a:buFont typeface="Arial" panose="020B0604020202020204" pitchFamily="34" charset="0"/>
              <a:buChar char="•"/>
            </a:pPr>
            <a:r>
              <a:rPr lang="en-US" sz="1400" dirty="0"/>
              <a:t>Intelligent Technologies </a:t>
            </a:r>
          </a:p>
          <a:p>
            <a:endParaRPr lang="en-US" dirty="0"/>
          </a:p>
        </p:txBody>
      </p:sp>
      <p:sp>
        <p:nvSpPr>
          <p:cNvPr id="3" name="Title 2">
            <a:extLst>
              <a:ext uri="{FF2B5EF4-FFF2-40B4-BE49-F238E27FC236}">
                <a16:creationId xmlns:a16="http://schemas.microsoft.com/office/drawing/2014/main" id="{7016225E-FDCA-4806-A57A-52D88EC59F17}"/>
              </a:ext>
            </a:extLst>
          </p:cNvPr>
          <p:cNvSpPr>
            <a:spLocks noGrp="1"/>
          </p:cNvSpPr>
          <p:nvPr>
            <p:ph type="title"/>
          </p:nvPr>
        </p:nvSpPr>
        <p:spPr>
          <a:xfrm>
            <a:off x="414338" y="446038"/>
            <a:ext cx="8330184" cy="333425"/>
          </a:xfrm>
        </p:spPr>
        <p:txBody>
          <a:bodyPr/>
          <a:lstStyle/>
          <a:p>
            <a:r>
              <a:rPr lang="en-US" dirty="0"/>
              <a:t>SAP Business Technology Platform (BTP)</a:t>
            </a:r>
          </a:p>
        </p:txBody>
      </p:sp>
    </p:spTree>
    <p:extLst>
      <p:ext uri="{BB962C8B-B14F-4D97-AF65-F5344CB8AC3E}">
        <p14:creationId xmlns:p14="http://schemas.microsoft.com/office/powerpoint/2010/main" val="2789723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936EF8-01A9-4A30-AA80-90A6F9316ED4}"/>
              </a:ext>
            </a:extLst>
          </p:cNvPr>
          <p:cNvPicPr>
            <a:picLocks noGrp="1" noChangeAspect="1"/>
          </p:cNvPicPr>
          <p:nvPr>
            <p:ph sz="quarter" idx="11"/>
          </p:nvPr>
        </p:nvPicPr>
        <p:blipFill>
          <a:blip r:embed="rId2"/>
          <a:stretch>
            <a:fillRect/>
          </a:stretch>
        </p:blipFill>
        <p:spPr>
          <a:xfrm>
            <a:off x="411162" y="1294544"/>
            <a:ext cx="8094673" cy="4109663"/>
          </a:xfrm>
        </p:spPr>
      </p:pic>
      <p:sp>
        <p:nvSpPr>
          <p:cNvPr id="3" name="Title 2">
            <a:extLst>
              <a:ext uri="{FF2B5EF4-FFF2-40B4-BE49-F238E27FC236}">
                <a16:creationId xmlns:a16="http://schemas.microsoft.com/office/drawing/2014/main" id="{13D97C62-C9A3-4C0F-8885-0447BA5C405C}"/>
              </a:ext>
            </a:extLst>
          </p:cNvPr>
          <p:cNvSpPr>
            <a:spLocks noGrp="1"/>
          </p:cNvSpPr>
          <p:nvPr>
            <p:ph type="title"/>
          </p:nvPr>
        </p:nvSpPr>
        <p:spPr>
          <a:xfrm>
            <a:off x="414338" y="446038"/>
            <a:ext cx="8330184" cy="333425"/>
          </a:xfrm>
        </p:spPr>
        <p:txBody>
          <a:bodyPr/>
          <a:lstStyle/>
          <a:p>
            <a:r>
              <a:rPr lang="en-US" dirty="0"/>
              <a:t>SAP Business Technology Platform (BTP) Capabilities </a:t>
            </a:r>
          </a:p>
        </p:txBody>
      </p:sp>
    </p:spTree>
    <p:extLst>
      <p:ext uri="{BB962C8B-B14F-4D97-AF65-F5344CB8AC3E}">
        <p14:creationId xmlns:p14="http://schemas.microsoft.com/office/powerpoint/2010/main" val="4120838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B472C2-6019-4016-ADFA-71BAA3F37DA3}"/>
              </a:ext>
            </a:extLst>
          </p:cNvPr>
          <p:cNvSpPr>
            <a:spLocks noGrp="1"/>
          </p:cNvSpPr>
          <p:nvPr>
            <p:ph sz="quarter" idx="11"/>
          </p:nvPr>
        </p:nvSpPr>
        <p:spPr>
          <a:xfrm>
            <a:off x="411479" y="1399029"/>
            <a:ext cx="8330184" cy="4887471"/>
          </a:xfrm>
        </p:spPr>
        <p:txBody>
          <a:bodyPr/>
          <a:lstStyle/>
          <a:p>
            <a:r>
              <a:rPr lang="en-US" sz="1400" dirty="0"/>
              <a:t> 	SAP Integration Suite is an integration platform as a service (iPaaS) that allows you to smoothly integrate on-premise and cloud-based applications and processes with tools and prebuilt content managed by SAP.</a:t>
            </a:r>
          </a:p>
          <a:p>
            <a:r>
              <a:rPr lang="en-US" sz="1400" dirty="0"/>
              <a:t>We can Develop and manage enterprise-wide integration across heterogeneous landscapes.</a:t>
            </a:r>
          </a:p>
          <a:p>
            <a:r>
              <a:rPr lang="en-US" sz="1400" dirty="0"/>
              <a:t>Pre-built integration packs along with existing investments can be composed to deliver new outcomes with less involvement by integration experts.</a:t>
            </a:r>
          </a:p>
          <a:p>
            <a:endParaRPr lang="en-US" dirty="0"/>
          </a:p>
        </p:txBody>
      </p:sp>
      <p:sp>
        <p:nvSpPr>
          <p:cNvPr id="3" name="Title 2">
            <a:extLst>
              <a:ext uri="{FF2B5EF4-FFF2-40B4-BE49-F238E27FC236}">
                <a16:creationId xmlns:a16="http://schemas.microsoft.com/office/drawing/2014/main" id="{697A26B9-75E8-4D81-B03A-1D96F37127AF}"/>
              </a:ext>
            </a:extLst>
          </p:cNvPr>
          <p:cNvSpPr>
            <a:spLocks noGrp="1"/>
          </p:cNvSpPr>
          <p:nvPr>
            <p:ph type="title"/>
          </p:nvPr>
        </p:nvSpPr>
        <p:spPr>
          <a:xfrm>
            <a:off x="414338" y="446038"/>
            <a:ext cx="8330184" cy="333425"/>
          </a:xfrm>
        </p:spPr>
        <p:txBody>
          <a:bodyPr/>
          <a:lstStyle/>
          <a:p>
            <a:r>
              <a:rPr lang="en-US" dirty="0"/>
              <a:t>SAP Integration Suite</a:t>
            </a:r>
          </a:p>
        </p:txBody>
      </p:sp>
    </p:spTree>
    <p:extLst>
      <p:ext uri="{BB962C8B-B14F-4D97-AF65-F5344CB8AC3E}">
        <p14:creationId xmlns:p14="http://schemas.microsoft.com/office/powerpoint/2010/main" val="323810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8B39E6-2296-4F19-8563-7673D8D0A579}"/>
              </a:ext>
            </a:extLst>
          </p:cNvPr>
          <p:cNvSpPr>
            <a:spLocks noGrp="1"/>
          </p:cNvSpPr>
          <p:nvPr>
            <p:ph type="title"/>
          </p:nvPr>
        </p:nvSpPr>
        <p:spPr>
          <a:xfrm>
            <a:off x="414338" y="112614"/>
            <a:ext cx="8330184" cy="666849"/>
          </a:xfrm>
        </p:spPr>
        <p:txBody>
          <a:bodyPr/>
          <a:lstStyle/>
          <a:p>
            <a:r>
              <a:rPr lang="en-US" dirty="0"/>
              <a:t>SAP Integration Suite Capabilities</a:t>
            </a:r>
            <a:br>
              <a:rPr lang="en-US" dirty="0"/>
            </a:br>
            <a:endParaRPr lang="en-US" dirty="0"/>
          </a:p>
        </p:txBody>
      </p:sp>
      <p:pic>
        <p:nvPicPr>
          <p:cNvPr id="11" name="Content Placeholder 10" descr="Diagram&#10;&#10;Description automatically generated">
            <a:extLst>
              <a:ext uri="{FF2B5EF4-FFF2-40B4-BE49-F238E27FC236}">
                <a16:creationId xmlns:a16="http://schemas.microsoft.com/office/drawing/2014/main" id="{83EBA9F1-2A8D-4113-8CF9-27F1F3DC14D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440952" y="779463"/>
            <a:ext cx="7922212" cy="5251467"/>
          </a:xfrm>
        </p:spPr>
      </p:pic>
    </p:spTree>
    <p:extLst>
      <p:ext uri="{BB962C8B-B14F-4D97-AF65-F5344CB8AC3E}">
        <p14:creationId xmlns:p14="http://schemas.microsoft.com/office/powerpoint/2010/main" val="3982977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5B4E89-FC0F-4293-AA7F-E6B37D86FC42}"/>
              </a:ext>
            </a:extLst>
          </p:cNvPr>
          <p:cNvSpPr>
            <a:spLocks noGrp="1"/>
          </p:cNvSpPr>
          <p:nvPr>
            <p:ph sz="quarter" idx="11"/>
          </p:nvPr>
        </p:nvSpPr>
        <p:spPr>
          <a:xfrm>
            <a:off x="411479" y="1450400"/>
            <a:ext cx="7982508" cy="4887471"/>
          </a:xfrm>
        </p:spPr>
        <p:txBody>
          <a:bodyPr/>
          <a:lstStyle/>
          <a:p>
            <a:r>
              <a:rPr lang="en-US" sz="1400" dirty="0"/>
              <a:t>       Simplify connectivity to more than 170 third-party applications and solutions for collaboration, messaging, CRM, help desk, and other application types.</a:t>
            </a:r>
          </a:p>
          <a:p>
            <a:pPr marL="285750" indent="-285750" algn="l">
              <a:buFont typeface="Arial" panose="020B0604020202020204" pitchFamily="34" charset="0"/>
              <a:buChar char="•"/>
            </a:pPr>
            <a:r>
              <a:rPr lang="en-US" sz="1400" dirty="0"/>
              <a:t>Use prebuilt connectors to simplify, standardize, and accelerate connectivity with third-party cloud applications</a:t>
            </a:r>
          </a:p>
          <a:p>
            <a:pPr marL="285750" indent="-285750" algn="l">
              <a:buFont typeface="Arial" panose="020B0604020202020204" pitchFamily="34" charset="0"/>
              <a:buChar char="•"/>
            </a:pPr>
            <a:r>
              <a:rPr lang="en-US" sz="1400" dirty="0"/>
              <a:t>Take advantage of open RESTful APIs and JSON data format, regardless of underlying third-party service architecture</a:t>
            </a:r>
          </a:p>
          <a:p>
            <a:pPr marL="285750" indent="-285750" algn="l">
              <a:buFont typeface="Arial" panose="020B0604020202020204" pitchFamily="34" charset="0"/>
              <a:buChar char="•"/>
            </a:pPr>
            <a:r>
              <a:rPr lang="en-US" sz="1400" dirty="0"/>
              <a:t>Apply common resource definitions to transform data fields from one or more third-party applications into a normalized form</a:t>
            </a:r>
          </a:p>
          <a:p>
            <a:pPr marL="285750" indent="-285750" algn="l">
              <a:buFont typeface="Arial" panose="020B0604020202020204" pitchFamily="34" charset="0"/>
              <a:buChar char="•"/>
            </a:pPr>
            <a:r>
              <a:rPr lang="en-US" sz="1400" dirty="0"/>
              <a:t>Support bulk data upload and download data in a normalized way, regardless of the underlying service architecture</a:t>
            </a:r>
          </a:p>
          <a:p>
            <a:endParaRPr lang="en-US" dirty="0"/>
          </a:p>
        </p:txBody>
      </p:sp>
      <p:sp>
        <p:nvSpPr>
          <p:cNvPr id="3" name="Title 2">
            <a:extLst>
              <a:ext uri="{FF2B5EF4-FFF2-40B4-BE49-F238E27FC236}">
                <a16:creationId xmlns:a16="http://schemas.microsoft.com/office/drawing/2014/main" id="{9E52B214-88B8-4748-BC3A-B434DDD20911}"/>
              </a:ext>
            </a:extLst>
          </p:cNvPr>
          <p:cNvSpPr>
            <a:spLocks noGrp="1"/>
          </p:cNvSpPr>
          <p:nvPr>
            <p:ph type="title"/>
          </p:nvPr>
        </p:nvSpPr>
        <p:spPr>
          <a:xfrm>
            <a:off x="414338" y="446038"/>
            <a:ext cx="8330184" cy="333425"/>
          </a:xfrm>
        </p:spPr>
        <p:txBody>
          <a:bodyPr/>
          <a:lstStyle/>
          <a:p>
            <a:r>
              <a:rPr lang="en-US" dirty="0"/>
              <a:t>SAP Integration Suite: Open Connectors</a:t>
            </a:r>
          </a:p>
        </p:txBody>
      </p:sp>
    </p:spTree>
    <p:extLst>
      <p:ext uri="{BB962C8B-B14F-4D97-AF65-F5344CB8AC3E}">
        <p14:creationId xmlns:p14="http://schemas.microsoft.com/office/powerpoint/2010/main" val="238707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C1DF1D-D244-40D5-8957-CB8B3139F9D7}"/>
              </a:ext>
            </a:extLst>
          </p:cNvPr>
          <p:cNvSpPr>
            <a:spLocks noGrp="1"/>
          </p:cNvSpPr>
          <p:nvPr>
            <p:ph sz="quarter" idx="11"/>
          </p:nvPr>
        </p:nvSpPr>
        <p:spPr>
          <a:xfrm>
            <a:off x="411479" y="1417834"/>
            <a:ext cx="7900314" cy="4868666"/>
          </a:xfrm>
        </p:spPr>
        <p:txBody>
          <a:bodyPr/>
          <a:lstStyle/>
          <a:p>
            <a:r>
              <a:rPr lang="en-US" sz="1400" dirty="0"/>
              <a:t>      Create simple, connected digital experiences for your consumers, partners, and employees and unlock new opportunities and business potential in the API economy by exposing processes and data as APIs through their complete end-to-end lifecycle in an enterprise API portal.</a:t>
            </a:r>
          </a:p>
          <a:p>
            <a:pPr marL="285750" indent="-285750">
              <a:buFont typeface="Arial" panose="020B0604020202020204" pitchFamily="34" charset="0"/>
              <a:buChar char="•"/>
            </a:pPr>
            <a:r>
              <a:rPr lang="en-US" sz="1400" dirty="0"/>
              <a:t>Design your APIs based on open standards, including OData and the Open API specification</a:t>
            </a:r>
          </a:p>
          <a:p>
            <a:pPr marL="285750" indent="-285750" algn="l">
              <a:buFont typeface="Arial" panose="020B0604020202020204" pitchFamily="34" charset="0"/>
              <a:buChar char="•"/>
            </a:pPr>
            <a:r>
              <a:rPr lang="en-US" sz="1400" dirty="0"/>
              <a:t>Develop your APIs by exposing and composing back-end interfaces from apps or middleware</a:t>
            </a:r>
          </a:p>
          <a:p>
            <a:pPr marL="285750" indent="-285750" algn="l">
              <a:buFont typeface="Arial" panose="020B0604020202020204" pitchFamily="34" charset="0"/>
              <a:buChar char="•"/>
            </a:pPr>
            <a:r>
              <a:rPr lang="en-US" sz="1400" dirty="0"/>
              <a:t>Protect your APIs from security threats, manage traffic, and cache your data on the edge with more than 40 built-in policies</a:t>
            </a:r>
          </a:p>
          <a:p>
            <a:pPr marL="285750" indent="-285750" algn="l">
              <a:buFont typeface="Arial" panose="020B0604020202020204" pitchFamily="34" charset="0"/>
              <a:buChar char="•"/>
            </a:pPr>
            <a:r>
              <a:rPr lang="en-US" sz="1400" dirty="0"/>
              <a:t>Monitor and analyze API usage, performance, and errors</a:t>
            </a:r>
          </a:p>
          <a:p>
            <a:pPr marL="285750" indent="-285750" algn="l">
              <a:buFont typeface="Arial" panose="020B0604020202020204" pitchFamily="34" charset="0"/>
              <a:buChar char="•"/>
            </a:pPr>
            <a:r>
              <a:rPr lang="en-US" sz="1400" dirty="0"/>
              <a:t>Engage with application developers and monetize your digital assets through API portals</a:t>
            </a:r>
          </a:p>
          <a:p>
            <a:endParaRPr lang="en-US" dirty="0"/>
          </a:p>
        </p:txBody>
      </p:sp>
      <p:sp>
        <p:nvSpPr>
          <p:cNvPr id="3" name="Title 2">
            <a:extLst>
              <a:ext uri="{FF2B5EF4-FFF2-40B4-BE49-F238E27FC236}">
                <a16:creationId xmlns:a16="http://schemas.microsoft.com/office/drawing/2014/main" id="{6E5CA6BC-8E33-439A-8943-A8EF840D7B06}"/>
              </a:ext>
            </a:extLst>
          </p:cNvPr>
          <p:cNvSpPr>
            <a:spLocks noGrp="1"/>
          </p:cNvSpPr>
          <p:nvPr>
            <p:ph type="title"/>
          </p:nvPr>
        </p:nvSpPr>
        <p:spPr>
          <a:xfrm>
            <a:off x="414338" y="446038"/>
            <a:ext cx="8330184" cy="333425"/>
          </a:xfrm>
        </p:spPr>
        <p:txBody>
          <a:bodyPr/>
          <a:lstStyle/>
          <a:p>
            <a:r>
              <a:rPr lang="en-US" dirty="0"/>
              <a:t>SAP Integration Suite: API Management</a:t>
            </a:r>
          </a:p>
        </p:txBody>
      </p:sp>
    </p:spTree>
    <p:extLst>
      <p:ext uri="{BB962C8B-B14F-4D97-AF65-F5344CB8AC3E}">
        <p14:creationId xmlns:p14="http://schemas.microsoft.com/office/powerpoint/2010/main" val="459454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FDCAFC-18DE-4F07-A44D-D6AF5B3791FB}"/>
              </a:ext>
            </a:extLst>
          </p:cNvPr>
          <p:cNvSpPr>
            <a:spLocks noGrp="1"/>
          </p:cNvSpPr>
          <p:nvPr>
            <p:ph sz="quarter" idx="11"/>
          </p:nvPr>
        </p:nvSpPr>
        <p:spPr>
          <a:xfrm>
            <a:off x="411479" y="1399029"/>
            <a:ext cx="8465393" cy="4887471"/>
          </a:xfrm>
        </p:spPr>
        <p:txBody>
          <a:bodyPr/>
          <a:lstStyle/>
          <a:p>
            <a:pPr algn="l"/>
            <a:r>
              <a:rPr lang="en-US" b="0" i="0" dirty="0">
                <a:effectLst/>
                <a:latin typeface="SAPRegular"/>
              </a:rPr>
              <a:t>   </a:t>
            </a:r>
            <a:r>
              <a:rPr lang="en-US" sz="1400" b="0" i="0" dirty="0">
                <a:effectLst/>
              </a:rPr>
              <a:t>SAP Event Mesh, a cloud-based capability, allows applications to communicate through asynchronous events, and extend your digital core. Intelligent enterprises use SAP Event Mesh to trigger process integration with one or more related applications.</a:t>
            </a:r>
          </a:p>
          <a:p>
            <a:pPr marL="285750" indent="-285750" algn="l">
              <a:buFont typeface="Arial" panose="020B0604020202020204" pitchFamily="34" charset="0"/>
              <a:buChar char="•"/>
            </a:pPr>
            <a:r>
              <a:rPr lang="en-US" sz="1400" dirty="0"/>
              <a:t>Respond natively to business events from core SAP solutions, like SAP S/4HANA and SAP SuccessFactors solutions, or third-party sources</a:t>
            </a:r>
          </a:p>
          <a:p>
            <a:pPr marL="285750" indent="-285750" algn="l">
              <a:buFont typeface="Arial" panose="020B0604020202020204" pitchFamily="34" charset="0"/>
              <a:buChar char="•"/>
            </a:pPr>
            <a:r>
              <a:rPr lang="en-US" sz="1400" dirty="0"/>
              <a:t>Publish and subscribe to business events from SAP and third-party sources across hybrid, multi-cloud, and edge environments</a:t>
            </a:r>
          </a:p>
          <a:p>
            <a:pPr marL="285750" indent="-285750" algn="l">
              <a:buFont typeface="Arial" panose="020B0604020202020204" pitchFamily="34" charset="0"/>
              <a:buChar char="•"/>
            </a:pPr>
            <a:r>
              <a:rPr lang="en-US" sz="1400" dirty="0"/>
              <a:t>Manage, monitor, and visualize decentralized event streaming across distributed landscapes.</a:t>
            </a:r>
          </a:p>
          <a:p>
            <a:pPr algn="l"/>
            <a:endParaRPr lang="en-US" sz="1400" b="0" i="0" dirty="0">
              <a:effectLst/>
            </a:endParaRPr>
          </a:p>
          <a:p>
            <a:pPr algn="l"/>
            <a:endParaRPr lang="en-US" sz="1400" b="0" i="0" dirty="0">
              <a:effectLst/>
            </a:endParaRPr>
          </a:p>
          <a:p>
            <a:endParaRPr lang="en-US" dirty="0"/>
          </a:p>
        </p:txBody>
      </p:sp>
      <p:sp>
        <p:nvSpPr>
          <p:cNvPr id="3" name="Title 2">
            <a:extLst>
              <a:ext uri="{FF2B5EF4-FFF2-40B4-BE49-F238E27FC236}">
                <a16:creationId xmlns:a16="http://schemas.microsoft.com/office/drawing/2014/main" id="{61166D05-8BBE-404E-BD2F-51952EAA5793}"/>
              </a:ext>
            </a:extLst>
          </p:cNvPr>
          <p:cNvSpPr>
            <a:spLocks noGrp="1"/>
          </p:cNvSpPr>
          <p:nvPr>
            <p:ph type="title"/>
          </p:nvPr>
        </p:nvSpPr>
        <p:spPr>
          <a:xfrm>
            <a:off x="414338" y="446038"/>
            <a:ext cx="8330184" cy="333425"/>
          </a:xfrm>
        </p:spPr>
        <p:txBody>
          <a:bodyPr/>
          <a:lstStyle/>
          <a:p>
            <a:r>
              <a:rPr lang="en-US" dirty="0"/>
              <a:t>SAP Integration Suite: Event Mesh</a:t>
            </a:r>
          </a:p>
        </p:txBody>
      </p:sp>
    </p:spTree>
    <p:extLst>
      <p:ext uri="{BB962C8B-B14F-4D97-AF65-F5344CB8AC3E}">
        <p14:creationId xmlns:p14="http://schemas.microsoft.com/office/powerpoint/2010/main" val="1743981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97A7C7-8E9C-4704-B2D8-376A139B3897}"/>
              </a:ext>
            </a:extLst>
          </p:cNvPr>
          <p:cNvSpPr>
            <a:spLocks noGrp="1"/>
          </p:cNvSpPr>
          <p:nvPr>
            <p:ph sz="quarter" idx="11"/>
          </p:nvPr>
        </p:nvSpPr>
        <p:spPr>
          <a:xfrm>
            <a:off x="411479" y="1399029"/>
            <a:ext cx="7920863" cy="4887471"/>
          </a:xfrm>
        </p:spPr>
        <p:txBody>
          <a:bodyPr/>
          <a:lstStyle/>
          <a:p>
            <a:r>
              <a:rPr lang="en-US" b="0" i="0" dirty="0">
                <a:solidFill>
                  <a:srgbClr val="3C3C3C"/>
                </a:solidFill>
                <a:effectLst/>
                <a:latin typeface="SAPBook"/>
              </a:rPr>
              <a:t>    </a:t>
            </a:r>
            <a:r>
              <a:rPr lang="en-US" sz="1400" dirty="0"/>
              <a:t>Create and maintain trading partner profiles with their unique B2B requirements</a:t>
            </a:r>
            <a:r>
              <a:rPr lang="en-US" b="0" i="0" dirty="0">
                <a:solidFill>
                  <a:srgbClr val="3C3C3C"/>
                </a:solidFill>
                <a:effectLst/>
                <a:latin typeface="SAPBook"/>
              </a:rPr>
              <a:t>.</a:t>
            </a:r>
          </a:p>
          <a:p>
            <a:pPr marL="285750" indent="-285750" algn="l">
              <a:buFont typeface="Arial" panose="020B0604020202020204" pitchFamily="34" charset="0"/>
              <a:buChar char="•"/>
            </a:pPr>
            <a:r>
              <a:rPr lang="en-US" sz="1400" dirty="0"/>
              <a:t>Simplify B2B integration scenario management with multiple trading partners</a:t>
            </a:r>
          </a:p>
          <a:p>
            <a:pPr marL="285750" indent="-285750" algn="l">
              <a:buFont typeface="Arial" panose="020B0604020202020204" pitchFamily="34" charset="0"/>
              <a:buChar char="•"/>
            </a:pPr>
            <a:r>
              <a:rPr lang="en-US" sz="1400" dirty="0"/>
              <a:t>Accelerate onboarding of trading partners</a:t>
            </a:r>
          </a:p>
          <a:p>
            <a:pPr marL="285750" indent="-285750" algn="l">
              <a:buFont typeface="Arial" panose="020B0604020202020204" pitchFamily="34" charset="0"/>
              <a:buChar char="•"/>
            </a:pPr>
            <a:r>
              <a:rPr lang="en-US" sz="1400" dirty="0"/>
              <a:t>Create trading partner agreements that define the choreography of business transactions</a:t>
            </a:r>
          </a:p>
          <a:p>
            <a:pPr marL="285750" indent="-285750" algn="l">
              <a:buFont typeface="Arial" panose="020B0604020202020204" pitchFamily="34" charset="0"/>
              <a:buChar char="•"/>
            </a:pPr>
            <a:r>
              <a:rPr lang="en-US" sz="1400" dirty="0"/>
              <a:t>Monitor integrations with business partners</a:t>
            </a:r>
          </a:p>
          <a:p>
            <a:pPr marL="285750" indent="-285750" algn="l">
              <a:buFont typeface="Arial" panose="020B0604020202020204" pitchFamily="34" charset="0"/>
              <a:buChar char="•"/>
            </a:pPr>
            <a:r>
              <a:rPr lang="en-US" sz="1400" dirty="0"/>
              <a:t>Exchange business data with trading partners with the Integration Advisor and Cloud Integration capabilities</a:t>
            </a:r>
          </a:p>
          <a:p>
            <a:endParaRPr lang="en-US" dirty="0"/>
          </a:p>
        </p:txBody>
      </p:sp>
      <p:sp>
        <p:nvSpPr>
          <p:cNvPr id="3" name="Title 2">
            <a:extLst>
              <a:ext uri="{FF2B5EF4-FFF2-40B4-BE49-F238E27FC236}">
                <a16:creationId xmlns:a16="http://schemas.microsoft.com/office/drawing/2014/main" id="{12603062-E046-4B39-B0B3-230350EF579B}"/>
              </a:ext>
            </a:extLst>
          </p:cNvPr>
          <p:cNvSpPr>
            <a:spLocks noGrp="1"/>
          </p:cNvSpPr>
          <p:nvPr>
            <p:ph type="title"/>
          </p:nvPr>
        </p:nvSpPr>
        <p:spPr>
          <a:xfrm>
            <a:off x="414338" y="446038"/>
            <a:ext cx="8330184" cy="333425"/>
          </a:xfrm>
        </p:spPr>
        <p:txBody>
          <a:bodyPr/>
          <a:lstStyle/>
          <a:p>
            <a:r>
              <a:rPr lang="en-US" dirty="0"/>
              <a:t>SAP Integration Suite: Trading Partner and Management</a:t>
            </a:r>
          </a:p>
        </p:txBody>
      </p:sp>
    </p:spTree>
    <p:extLst>
      <p:ext uri="{BB962C8B-B14F-4D97-AF65-F5344CB8AC3E}">
        <p14:creationId xmlns:p14="http://schemas.microsoft.com/office/powerpoint/2010/main" val="341826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A62B62-62F4-4F86-B475-7E3AFB13B8D6}"/>
              </a:ext>
            </a:extLst>
          </p:cNvPr>
          <p:cNvSpPr>
            <a:spLocks noGrp="1"/>
          </p:cNvSpPr>
          <p:nvPr>
            <p:ph sz="quarter" idx="11"/>
          </p:nvPr>
        </p:nvSpPr>
        <p:spPr>
          <a:xfrm>
            <a:off x="411479" y="1399029"/>
            <a:ext cx="8330184" cy="4887471"/>
          </a:xfrm>
        </p:spPr>
        <p:txBody>
          <a:bodyPr/>
          <a:lstStyle/>
          <a:p>
            <a:r>
              <a:rPr lang="en-US" b="0" i="0" dirty="0">
                <a:solidFill>
                  <a:srgbClr val="3C3C3C"/>
                </a:solidFill>
                <a:effectLst/>
                <a:latin typeface="SAPBook"/>
              </a:rPr>
              <a:t>     </a:t>
            </a:r>
            <a:r>
              <a:rPr lang="en-US" sz="1400" dirty="0"/>
              <a:t>Apply a systematic and guided approach to the design and execution of your enterprise integration strategy.</a:t>
            </a:r>
          </a:p>
          <a:p>
            <a:pPr marL="285750" indent="-285750">
              <a:buFont typeface="Arial" panose="020B0604020202020204" pitchFamily="34" charset="0"/>
              <a:buChar char="•"/>
            </a:pPr>
            <a:r>
              <a:rPr lang="en-US" sz="1400" dirty="0"/>
              <a:t>Simplify integration with a systematic integration approach</a:t>
            </a:r>
          </a:p>
          <a:p>
            <a:pPr marL="285750" indent="-285750">
              <a:buFont typeface="Arial" panose="020B0604020202020204" pitchFamily="34" charset="0"/>
              <a:buChar char="•"/>
            </a:pPr>
            <a:r>
              <a:rPr lang="en-US" sz="1400" dirty="0"/>
              <a:t>Leverage the latest SAP integration technology recommendations</a:t>
            </a:r>
          </a:p>
          <a:p>
            <a:pPr marL="285750" indent="-285750">
              <a:buFont typeface="Arial" panose="020B0604020202020204" pitchFamily="34" charset="0"/>
              <a:buChar char="•"/>
            </a:pPr>
            <a:r>
              <a:rPr lang="en-US" sz="1400" dirty="0"/>
              <a:t>Document your integration landscape and integration technology strategy to improve communication between project teams and systems integrators</a:t>
            </a:r>
          </a:p>
          <a:p>
            <a:pPr marL="285750" indent="-285750">
              <a:buFont typeface="Arial" panose="020B0604020202020204" pitchFamily="34" charset="0"/>
              <a:buChar char="•"/>
            </a:pPr>
            <a:r>
              <a:rPr lang="en-US" sz="1400" dirty="0"/>
              <a:t>React faster to new interface requests or change requests</a:t>
            </a:r>
          </a:p>
          <a:p>
            <a:pPr marL="285750" indent="-285750">
              <a:buFont typeface="Arial" panose="020B0604020202020204" pitchFamily="34" charset="0"/>
              <a:buChar char="•"/>
            </a:pPr>
            <a:r>
              <a:rPr lang="en-US" sz="1400" dirty="0"/>
              <a:t>Establish integration as a recognized discipline within an organization and leverage it as a competitive differentiator</a:t>
            </a:r>
          </a:p>
        </p:txBody>
      </p:sp>
      <p:sp>
        <p:nvSpPr>
          <p:cNvPr id="3" name="Title 2">
            <a:extLst>
              <a:ext uri="{FF2B5EF4-FFF2-40B4-BE49-F238E27FC236}">
                <a16:creationId xmlns:a16="http://schemas.microsoft.com/office/drawing/2014/main" id="{966B2B86-196A-4205-8213-AB7FB62E34F0}"/>
              </a:ext>
            </a:extLst>
          </p:cNvPr>
          <p:cNvSpPr>
            <a:spLocks noGrp="1"/>
          </p:cNvSpPr>
          <p:nvPr>
            <p:ph type="title"/>
          </p:nvPr>
        </p:nvSpPr>
        <p:spPr>
          <a:xfrm>
            <a:off x="414338" y="446038"/>
            <a:ext cx="8330184" cy="333425"/>
          </a:xfrm>
        </p:spPr>
        <p:txBody>
          <a:bodyPr/>
          <a:lstStyle/>
          <a:p>
            <a:r>
              <a:rPr lang="en-US" dirty="0"/>
              <a:t>SAP Integration Suite: Integration Assessment</a:t>
            </a:r>
          </a:p>
        </p:txBody>
      </p:sp>
    </p:spTree>
    <p:extLst>
      <p:ext uri="{BB962C8B-B14F-4D97-AF65-F5344CB8AC3E}">
        <p14:creationId xmlns:p14="http://schemas.microsoft.com/office/powerpoint/2010/main" val="1604975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B0DF88-5E0F-48A6-BD88-05F76A654E3E}"/>
              </a:ext>
            </a:extLst>
          </p:cNvPr>
          <p:cNvSpPr>
            <a:spLocks noGrp="1"/>
          </p:cNvSpPr>
          <p:nvPr>
            <p:ph sz="quarter" idx="11"/>
          </p:nvPr>
        </p:nvSpPr>
        <p:spPr>
          <a:xfrm>
            <a:off x="411479" y="1399029"/>
            <a:ext cx="8330184" cy="4887471"/>
          </a:xfrm>
        </p:spPr>
        <p:txBody>
          <a:bodyPr/>
          <a:lstStyle/>
          <a:p>
            <a:r>
              <a:rPr lang="en-US" sz="1400" dirty="0"/>
              <a:t>     A crowdsourced machine learning approach to solve the biggest problems you face in B2B, A2A, and B2G integration scenarios.</a:t>
            </a:r>
          </a:p>
          <a:p>
            <a:pPr>
              <a:buFont typeface="Arial" pitchFamily="34" charset="0"/>
              <a:buChar char="•"/>
            </a:pPr>
            <a:r>
              <a:rPr lang="en-US" sz="1400" dirty="0"/>
              <a:t>Support multiple business partners using different industry-standard message formats</a:t>
            </a:r>
          </a:p>
          <a:p>
            <a:pPr>
              <a:buFont typeface="Arial" pitchFamily="34" charset="0"/>
              <a:buChar char="•"/>
            </a:pPr>
            <a:r>
              <a:rPr lang="en-US" sz="1400" dirty="0"/>
              <a:t>Save implementation time by starting with a library of prebuilt industry-standard message type definitions</a:t>
            </a:r>
          </a:p>
          <a:p>
            <a:pPr>
              <a:buFont typeface="Arial" pitchFamily="34" charset="0"/>
              <a:buChar char="•"/>
            </a:pPr>
            <a:r>
              <a:rPr lang="en-US" sz="1400" dirty="0"/>
              <a:t>Define and document source and target message implementation guidelines based on industry and geographic context</a:t>
            </a:r>
          </a:p>
          <a:p>
            <a:pPr>
              <a:buFont typeface="Arial" pitchFamily="34" charset="0"/>
              <a:buChar char="•"/>
            </a:pPr>
            <a:r>
              <a:rPr lang="en-US" sz="1400" dirty="0"/>
              <a:t>Simplify the creation of the message mapping artifacts by taking advantage of the AI-powered mapping proposals</a:t>
            </a:r>
          </a:p>
          <a:p>
            <a:endParaRPr lang="en-US" dirty="0"/>
          </a:p>
        </p:txBody>
      </p:sp>
      <p:sp>
        <p:nvSpPr>
          <p:cNvPr id="3" name="Title 2">
            <a:extLst>
              <a:ext uri="{FF2B5EF4-FFF2-40B4-BE49-F238E27FC236}">
                <a16:creationId xmlns:a16="http://schemas.microsoft.com/office/drawing/2014/main" id="{C98C8C7F-2F21-4BFB-A252-9433D697AD81}"/>
              </a:ext>
            </a:extLst>
          </p:cNvPr>
          <p:cNvSpPr>
            <a:spLocks noGrp="1"/>
          </p:cNvSpPr>
          <p:nvPr>
            <p:ph type="title"/>
          </p:nvPr>
        </p:nvSpPr>
        <p:spPr>
          <a:xfrm>
            <a:off x="414338" y="446038"/>
            <a:ext cx="8330184" cy="333425"/>
          </a:xfrm>
        </p:spPr>
        <p:txBody>
          <a:bodyPr/>
          <a:lstStyle/>
          <a:p>
            <a:r>
              <a:rPr lang="en-US" dirty="0"/>
              <a:t>SAP Integration Suite: Integration Advisor </a:t>
            </a:r>
          </a:p>
        </p:txBody>
      </p:sp>
    </p:spTree>
    <p:extLst>
      <p:ext uri="{BB962C8B-B14F-4D97-AF65-F5344CB8AC3E}">
        <p14:creationId xmlns:p14="http://schemas.microsoft.com/office/powerpoint/2010/main" val="4236487986"/>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E9BD8-388B-4E18-A51D-54AB07633D2E}"/>
              </a:ext>
            </a:extLst>
          </p:cNvPr>
          <p:cNvSpPr>
            <a:spLocks noGrp="1"/>
          </p:cNvSpPr>
          <p:nvPr>
            <p:ph sz="quarter" idx="11"/>
          </p:nvPr>
        </p:nvSpPr>
        <p:spPr>
          <a:xfrm>
            <a:off x="411479" y="1399029"/>
            <a:ext cx="8198265" cy="4887471"/>
          </a:xfrm>
        </p:spPr>
        <p:txBody>
          <a:bodyPr/>
          <a:lstStyle/>
          <a:p>
            <a:pPr algn="l"/>
            <a:r>
              <a:rPr lang="en-US" sz="1400" dirty="0"/>
              <a:t>   Build and run application-to-application (A2A), business-to-business (B2B), and business-to-government (B2G) integration flows and support end-to-end process integration through the exchange of messages between applications, whether on premise, in the cloud, or across hybrid landscapes.</a:t>
            </a:r>
          </a:p>
          <a:p>
            <a:pPr marL="285750" indent="-285750" algn="l">
              <a:buFont typeface="Arial" panose="020B0604020202020204" pitchFamily="34" charset="0"/>
              <a:buChar char="•"/>
            </a:pPr>
            <a:r>
              <a:rPr lang="en-US" sz="1400" dirty="0"/>
              <a:t>Leverage over 2,500 prebuilt integrations</a:t>
            </a:r>
          </a:p>
          <a:p>
            <a:pPr marL="285750" indent="-285750" algn="l">
              <a:buFont typeface="Arial" panose="020B0604020202020204" pitchFamily="34" charset="0"/>
              <a:buChar char="•"/>
            </a:pPr>
            <a:r>
              <a:rPr lang="en-US" sz="1400" dirty="0"/>
              <a:t>Simplify integration between SAP and third-party applications and data source</a:t>
            </a:r>
          </a:p>
          <a:p>
            <a:pPr marL="285750" indent="-285750" algn="l">
              <a:buFont typeface="Arial" panose="020B0604020202020204" pitchFamily="34" charset="0"/>
              <a:buChar char="•"/>
            </a:pPr>
            <a:r>
              <a:rPr lang="en-US" sz="1400" dirty="0"/>
              <a:t>Intuitive AI-assisted Web interface.</a:t>
            </a:r>
          </a:p>
          <a:p>
            <a:pPr marL="285750" indent="-285750" algn="l">
              <a:buFont typeface="Arial" panose="020B0604020202020204" pitchFamily="34" charset="0"/>
              <a:buChar char="•"/>
            </a:pPr>
            <a:r>
              <a:rPr lang="en-US" sz="1400" dirty="0"/>
              <a:t>Design and manage integration flows quickly and easily.</a:t>
            </a:r>
          </a:p>
          <a:p>
            <a:pPr algn="l"/>
            <a:br>
              <a:rPr lang="en-US" b="0" i="0" dirty="0">
                <a:solidFill>
                  <a:srgbClr val="3C3C3C"/>
                </a:solidFill>
                <a:effectLst/>
                <a:latin typeface="SAPBook"/>
              </a:rPr>
            </a:br>
            <a:endParaRPr lang="en-US" b="0" i="0" dirty="0">
              <a:solidFill>
                <a:srgbClr val="3C3C3C"/>
              </a:solidFill>
              <a:effectLst/>
              <a:latin typeface="SAPBook"/>
            </a:endParaRPr>
          </a:p>
          <a:p>
            <a:pPr algn="l"/>
            <a:r>
              <a:rPr lang="en-US" b="0" i="0" dirty="0">
                <a:solidFill>
                  <a:srgbClr val="3C3C3C"/>
                </a:solidFill>
                <a:effectLst/>
                <a:latin typeface="SAPBook"/>
              </a:rPr>
              <a:t> </a:t>
            </a:r>
          </a:p>
          <a:p>
            <a:endParaRPr lang="en-US" dirty="0"/>
          </a:p>
        </p:txBody>
      </p:sp>
      <p:sp>
        <p:nvSpPr>
          <p:cNvPr id="3" name="Title 2">
            <a:extLst>
              <a:ext uri="{FF2B5EF4-FFF2-40B4-BE49-F238E27FC236}">
                <a16:creationId xmlns:a16="http://schemas.microsoft.com/office/drawing/2014/main" id="{742E89C0-D8A1-486B-AD8E-62CF9DFE35B5}"/>
              </a:ext>
            </a:extLst>
          </p:cNvPr>
          <p:cNvSpPr>
            <a:spLocks noGrp="1"/>
          </p:cNvSpPr>
          <p:nvPr>
            <p:ph type="title"/>
          </p:nvPr>
        </p:nvSpPr>
        <p:spPr>
          <a:xfrm>
            <a:off x="414338" y="394668"/>
            <a:ext cx="8330184" cy="333425"/>
          </a:xfrm>
        </p:spPr>
        <p:txBody>
          <a:bodyPr/>
          <a:lstStyle/>
          <a:p>
            <a:r>
              <a:rPr lang="en-US" dirty="0"/>
              <a:t>SAP Integration Suite: Cloud Integration (CI)</a:t>
            </a:r>
          </a:p>
        </p:txBody>
      </p:sp>
    </p:spTree>
    <p:extLst>
      <p:ext uri="{BB962C8B-B14F-4D97-AF65-F5344CB8AC3E}">
        <p14:creationId xmlns:p14="http://schemas.microsoft.com/office/powerpoint/2010/main" val="3754558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632F3E-8219-4EDF-874A-19C70BB6E199}"/>
              </a:ext>
            </a:extLst>
          </p:cNvPr>
          <p:cNvSpPr>
            <a:spLocks noGrp="1"/>
          </p:cNvSpPr>
          <p:nvPr>
            <p:ph sz="quarter" idx="11"/>
          </p:nvPr>
        </p:nvSpPr>
        <p:spPr>
          <a:xfrm>
            <a:off x="411479" y="996593"/>
            <a:ext cx="8003056" cy="5289907"/>
          </a:xfrm>
        </p:spPr>
        <p:txBody>
          <a:bodyPr/>
          <a:lstStyle/>
          <a:p>
            <a:r>
              <a:rPr lang="en-US" dirty="0"/>
              <a:t> </a:t>
            </a:r>
            <a:r>
              <a:rPr lang="en-US" sz="1400" dirty="0"/>
              <a:t>  SAP provides 3 types of Service Plans for Integration Suite.</a:t>
            </a:r>
          </a:p>
          <a:p>
            <a:r>
              <a:rPr lang="en-US" sz="1400" b="1" dirty="0"/>
              <a:t>Cloud Platform Enterprise Agreement (CPEA): </a:t>
            </a:r>
            <a:br>
              <a:rPr lang="en-US" sz="1400" dirty="0"/>
            </a:br>
            <a:r>
              <a:rPr lang="en-US" sz="1400" dirty="0"/>
              <a:t>Service plans for CPEA (Cloud Platform Enterprise Agreement) is a consumption based commercial model.</a:t>
            </a:r>
          </a:p>
          <a:p>
            <a:pPr>
              <a:spcBef>
                <a:spcPts val="0"/>
              </a:spcBef>
            </a:pPr>
            <a:r>
              <a:rPr lang="en-US" sz="1400" b="1" dirty="0"/>
              <a:t>  Standard Edition</a:t>
            </a:r>
            <a:r>
              <a:rPr lang="en-US" sz="1400" dirty="0"/>
              <a:t>: 1 Tenant + 10K Bundled Messages (per month) . </a:t>
            </a:r>
          </a:p>
          <a:p>
            <a:pPr>
              <a:spcBef>
                <a:spcPts val="0"/>
              </a:spcBef>
            </a:pPr>
            <a:r>
              <a:rPr lang="en-US" sz="1400" b="1" dirty="0"/>
              <a:t>  Messages: </a:t>
            </a:r>
            <a:r>
              <a:rPr lang="fr-FR" sz="1400" dirty="0"/>
              <a:t>Transactions (10K messages per block). </a:t>
            </a:r>
            <a:r>
              <a:rPr lang="en-US" sz="1400" dirty="0"/>
              <a:t>Billing will be calculated based on the number   of messages using Price Slab. </a:t>
            </a:r>
            <a:endParaRPr lang="fr-FR" sz="1400" dirty="0"/>
          </a:p>
          <a:p>
            <a:pPr>
              <a:spcBef>
                <a:spcPts val="0"/>
              </a:spcBef>
            </a:pPr>
            <a:endParaRPr lang="fr-FR" sz="1400" dirty="0"/>
          </a:p>
          <a:p>
            <a:pPr>
              <a:spcBef>
                <a:spcPts val="0"/>
              </a:spcBef>
            </a:pPr>
            <a:r>
              <a:rPr lang="fr-FR" sz="1400" b="1" dirty="0"/>
              <a:t>Pay As you Go (PAYGO) :</a:t>
            </a:r>
          </a:p>
          <a:p>
            <a:pPr>
              <a:spcBef>
                <a:spcPts val="0"/>
              </a:spcBef>
            </a:pPr>
            <a:r>
              <a:rPr lang="en-US" sz="1400" dirty="0"/>
              <a:t>Service plans for PAYGO (Pay-As-You-Go is a consumption based commercial model)</a:t>
            </a:r>
            <a:endParaRPr lang="fr-FR" sz="1400" dirty="0"/>
          </a:p>
          <a:p>
            <a:pPr>
              <a:spcBef>
                <a:spcPts val="0"/>
              </a:spcBef>
            </a:pPr>
            <a:r>
              <a:rPr lang="en-US" sz="1400" b="1" dirty="0"/>
              <a:t>  Standard Edition</a:t>
            </a:r>
            <a:r>
              <a:rPr lang="en-US" sz="1400" dirty="0"/>
              <a:t>: 1 Tenant + 10K Bundled Messages (per month) . </a:t>
            </a:r>
          </a:p>
          <a:p>
            <a:pPr>
              <a:spcBef>
                <a:spcPts val="0"/>
              </a:spcBef>
            </a:pPr>
            <a:r>
              <a:rPr lang="en-US" sz="1400" b="1" dirty="0"/>
              <a:t>  Messages: </a:t>
            </a:r>
            <a:r>
              <a:rPr lang="fr-FR" sz="1400" dirty="0"/>
              <a:t>Transactions (10K messages per block). </a:t>
            </a:r>
            <a:r>
              <a:rPr lang="en-US" sz="1400" dirty="0"/>
              <a:t>Billing will be calculated based on the number   of messages using Price Slab. </a:t>
            </a:r>
            <a:endParaRPr lang="fr-FR" sz="1400" dirty="0"/>
          </a:p>
          <a:p>
            <a:r>
              <a:rPr lang="en-US" sz="1400" b="1" dirty="0"/>
              <a:t>Subscription: </a:t>
            </a:r>
          </a:p>
          <a:p>
            <a:pPr>
              <a:spcBef>
                <a:spcPts val="0"/>
              </a:spcBef>
            </a:pPr>
            <a:r>
              <a:rPr lang="en-US" sz="1400" dirty="0"/>
              <a:t>Service plans for Subscription (A subscription allows access to cloud service up to a licensed maximum, independent of actual usage).</a:t>
            </a:r>
          </a:p>
          <a:p>
            <a:pPr>
              <a:spcBef>
                <a:spcPts val="0"/>
              </a:spcBef>
            </a:pPr>
            <a:r>
              <a:rPr lang="en-US" sz="1400" dirty="0"/>
              <a:t>  </a:t>
            </a:r>
            <a:r>
              <a:rPr lang="en-US" sz="1400" b="1" dirty="0"/>
              <a:t>Standard Edition</a:t>
            </a:r>
            <a:r>
              <a:rPr lang="en-US" sz="1400" dirty="0"/>
              <a:t>:1 Tenant + 10K Bundled Messages (per month)</a:t>
            </a:r>
          </a:p>
          <a:p>
            <a:pPr>
              <a:spcBef>
                <a:spcPts val="0"/>
              </a:spcBef>
            </a:pPr>
            <a:r>
              <a:rPr lang="en-US" sz="1400" b="1" dirty="0"/>
              <a:t>  Premium Edition</a:t>
            </a:r>
            <a:r>
              <a:rPr lang="en-US" sz="1400" dirty="0"/>
              <a:t>: 4 Tenants + 10M Bundled Messages (per month)</a:t>
            </a:r>
          </a:p>
          <a:p>
            <a:pPr>
              <a:spcBef>
                <a:spcPts val="0"/>
              </a:spcBef>
            </a:pPr>
            <a:r>
              <a:rPr lang="en-US" sz="1400" b="1" dirty="0"/>
              <a:t>  Messages: </a:t>
            </a:r>
            <a:r>
              <a:rPr lang="fr-FR" sz="1400" dirty="0"/>
              <a:t>Transactions (10K messages per block). </a:t>
            </a:r>
            <a:r>
              <a:rPr lang="en-US" sz="1400" dirty="0"/>
              <a:t>Billing will be calculated based on the number   of messages using Price Slab. </a:t>
            </a:r>
            <a:endParaRPr lang="fr-FR" sz="1400" dirty="0"/>
          </a:p>
          <a:p>
            <a:endParaRPr lang="en-US" dirty="0">
              <a:solidFill>
                <a:srgbClr val="32363A"/>
              </a:solidFill>
              <a:latin typeface="72"/>
            </a:endParaRPr>
          </a:p>
          <a:p>
            <a:endParaRPr lang="en-US" b="0" i="0" dirty="0">
              <a:solidFill>
                <a:srgbClr val="32363A"/>
              </a:solidFill>
              <a:effectLst/>
              <a:latin typeface="72"/>
            </a:endParaRPr>
          </a:p>
          <a:p>
            <a:endParaRPr lang="en-US" b="0" i="0" dirty="0">
              <a:solidFill>
                <a:srgbClr val="32363A"/>
              </a:solidFill>
              <a:effectLst/>
              <a:latin typeface="72"/>
            </a:endParaRPr>
          </a:p>
        </p:txBody>
      </p:sp>
      <p:sp>
        <p:nvSpPr>
          <p:cNvPr id="3" name="Title 2">
            <a:extLst>
              <a:ext uri="{FF2B5EF4-FFF2-40B4-BE49-F238E27FC236}">
                <a16:creationId xmlns:a16="http://schemas.microsoft.com/office/drawing/2014/main" id="{6C3CB3D0-88DD-4977-B224-4DD77FCC9DFC}"/>
              </a:ext>
            </a:extLst>
          </p:cNvPr>
          <p:cNvSpPr>
            <a:spLocks noGrp="1"/>
          </p:cNvSpPr>
          <p:nvPr>
            <p:ph type="title"/>
          </p:nvPr>
        </p:nvSpPr>
        <p:spPr>
          <a:xfrm>
            <a:off x="414338" y="446038"/>
            <a:ext cx="8330184" cy="333425"/>
          </a:xfrm>
        </p:spPr>
        <p:txBody>
          <a:bodyPr/>
          <a:lstStyle/>
          <a:p>
            <a:r>
              <a:rPr lang="en-US" dirty="0"/>
              <a:t>SAP Integration Suite Pricing Models</a:t>
            </a:r>
          </a:p>
        </p:txBody>
      </p:sp>
    </p:spTree>
    <p:extLst>
      <p:ext uri="{BB962C8B-B14F-4D97-AF65-F5344CB8AC3E}">
        <p14:creationId xmlns:p14="http://schemas.microsoft.com/office/powerpoint/2010/main" val="1903668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D1E1D0-A5CB-4618-9F9C-79EC4DC5EF90}"/>
              </a:ext>
            </a:extLst>
          </p:cNvPr>
          <p:cNvSpPr>
            <a:spLocks noGrp="1"/>
          </p:cNvSpPr>
          <p:nvPr>
            <p:ph sz="quarter" idx="11"/>
          </p:nvPr>
        </p:nvSpPr>
        <p:spPr>
          <a:xfrm>
            <a:off x="411479" y="945223"/>
            <a:ext cx="8330184" cy="5341278"/>
          </a:xfrm>
        </p:spPr>
        <p:txBody>
          <a:bodyPr/>
          <a:lstStyle/>
          <a:p>
            <a:endParaRPr lang="en-US" sz="1400" dirty="0">
              <a:hlinkClick r:id="rId2"/>
            </a:endParaRPr>
          </a:p>
          <a:p>
            <a:r>
              <a:rPr lang="en-US" sz="1400" dirty="0">
                <a:hlinkClick r:id="rId2">
                  <a:extLst>
                    <a:ext uri="{A12FA001-AC4F-418D-AE19-62706E023703}">
                      <ahyp:hlinkClr xmlns:ahyp="http://schemas.microsoft.com/office/drawing/2018/hyperlinkcolor" val="tx"/>
                    </a:ext>
                  </a:extLst>
                </a:hlinkClick>
              </a:rPr>
              <a:t>https://help.sap.com/docs/SAP_CLOUD_PLATFORM_INTEGRATION_SUITE/51ab953548be4459bfe8539ecaeee98d/5cc6987511104c418b7cb4c25f3d9cb0.html</a:t>
            </a:r>
            <a:endParaRPr lang="en-US" sz="1400" dirty="0"/>
          </a:p>
          <a:p>
            <a:r>
              <a:rPr lang="en-US" sz="1400" dirty="0">
                <a:hlinkClick r:id="rId3">
                  <a:extLst>
                    <a:ext uri="{A12FA001-AC4F-418D-AE19-62706E023703}">
                      <ahyp:hlinkClr xmlns:ahyp="http://schemas.microsoft.com/office/drawing/2018/hyperlinkcolor" val="tx"/>
                    </a:ext>
                  </a:extLst>
                </a:hlinkClick>
              </a:rPr>
              <a:t>https://learning.sap.com/learning-journey/developing-with-sap-integration-suite</a:t>
            </a:r>
            <a:endParaRPr lang="en-US" sz="1400" dirty="0"/>
          </a:p>
          <a:p>
            <a:r>
              <a:rPr lang="en-US" sz="1400" dirty="0">
                <a:hlinkClick r:id="rId4">
                  <a:extLst>
                    <a:ext uri="{A12FA001-AC4F-418D-AE19-62706E023703}">
                      <ahyp:hlinkClr xmlns:ahyp="http://schemas.microsoft.com/office/drawing/2018/hyperlinkcolor" val="tx"/>
                    </a:ext>
                  </a:extLst>
                </a:hlinkClick>
              </a:rPr>
              <a:t>https://help.sap.com/learning-journeys/500a46f27a261014ba6a9420b00213f1</a:t>
            </a:r>
            <a:endParaRPr lang="en-US" sz="1400" dirty="0"/>
          </a:p>
          <a:p>
            <a:r>
              <a:rPr lang="en-US" sz="1400" dirty="0">
                <a:hlinkClick r:id="rId5">
                  <a:extLst>
                    <a:ext uri="{A12FA001-AC4F-418D-AE19-62706E023703}">
                      <ahyp:hlinkClr xmlns:ahyp="http://schemas.microsoft.com/office/drawing/2018/hyperlinkcolor" val="tx"/>
                    </a:ext>
                  </a:extLst>
                </a:hlinkClick>
              </a:rPr>
              <a:t>https://help.sap.com/docs/BTP</a:t>
            </a:r>
            <a:endParaRPr lang="en-US" sz="1400" dirty="0"/>
          </a:p>
          <a:p>
            <a:r>
              <a:rPr lang="en-US" sz="1400" dirty="0">
                <a:hlinkClick r:id="rId6">
                  <a:extLst>
                    <a:ext uri="{A12FA001-AC4F-418D-AE19-62706E023703}">
                      <ahyp:hlinkClr xmlns:ahyp="http://schemas.microsoft.com/office/drawing/2018/hyperlinkcolor" val="tx"/>
                    </a:ext>
                  </a:extLst>
                </a:hlinkClick>
              </a:rPr>
              <a:t>https://community.sap.com/topics/business-technology-platform</a:t>
            </a:r>
            <a:endParaRPr lang="en-US" sz="1400" dirty="0"/>
          </a:p>
          <a:p>
            <a:r>
              <a:rPr lang="en-US" sz="1400" dirty="0">
                <a:hlinkClick r:id="rId7">
                  <a:extLst>
                    <a:ext uri="{A12FA001-AC4F-418D-AE19-62706E023703}">
                      <ahyp:hlinkClr xmlns:ahyp="http://schemas.microsoft.com/office/drawing/2018/hyperlinkcolor" val="tx"/>
                    </a:ext>
                  </a:extLst>
                </a:hlinkClick>
              </a:rPr>
              <a:t>https://community.sap.com/search/?ct=blog&amp;q=integration+suite</a:t>
            </a:r>
            <a:endParaRPr lang="en-US" sz="1400" dirty="0"/>
          </a:p>
          <a:p>
            <a:r>
              <a:rPr lang="en-US" sz="1400" dirty="0">
                <a:hlinkClick r:id="rId8">
                  <a:extLst>
                    <a:ext uri="{A12FA001-AC4F-418D-AE19-62706E023703}">
                      <ahyp:hlinkClr xmlns:ahyp="http://schemas.microsoft.com/office/drawing/2018/hyperlinkcolor" val="tx"/>
                    </a:ext>
                  </a:extLst>
                </a:hlinkClick>
              </a:rPr>
              <a:t>https://help.sap.com/learning-journeys/ec5aa55abb8c4970bc3b07efe2253cfb</a:t>
            </a:r>
            <a:endParaRPr lang="en-US" sz="1400" dirty="0"/>
          </a:p>
          <a:p>
            <a:r>
              <a:rPr lang="en-US" sz="1400" dirty="0">
                <a:hlinkClick r:id="rId9">
                  <a:extLst>
                    <a:ext uri="{A12FA001-AC4F-418D-AE19-62706E023703}">
                      <ahyp:hlinkClr xmlns:ahyp="http://schemas.microsoft.com/office/drawing/2018/hyperlinkcolor" val="tx"/>
                    </a:ext>
                  </a:extLst>
                </a:hlinkClick>
              </a:rPr>
              <a:t>https://www.sap.com/products/technology-platform/integration-suite/capabilities.html#cloud-integration</a:t>
            </a:r>
            <a:endParaRPr lang="en-US" sz="1400" dirty="0"/>
          </a:p>
          <a:p>
            <a:endParaRPr lang="en-US" sz="1400" dirty="0"/>
          </a:p>
          <a:p>
            <a:endParaRPr lang="en-US" sz="1400" dirty="0"/>
          </a:p>
          <a:p>
            <a:endParaRPr lang="en-US" sz="1400" dirty="0"/>
          </a:p>
          <a:p>
            <a:endParaRPr lang="en-US" sz="1400" dirty="0"/>
          </a:p>
          <a:p>
            <a:endParaRPr lang="en-US" sz="1400" dirty="0"/>
          </a:p>
        </p:txBody>
      </p:sp>
      <p:sp>
        <p:nvSpPr>
          <p:cNvPr id="3" name="Title 2">
            <a:extLst>
              <a:ext uri="{FF2B5EF4-FFF2-40B4-BE49-F238E27FC236}">
                <a16:creationId xmlns:a16="http://schemas.microsoft.com/office/drawing/2014/main" id="{CFC66D87-C4EB-4BFA-A356-4E35ECDC0762}"/>
              </a:ext>
            </a:extLst>
          </p:cNvPr>
          <p:cNvSpPr>
            <a:spLocks noGrp="1"/>
          </p:cNvSpPr>
          <p:nvPr>
            <p:ph type="title"/>
          </p:nvPr>
        </p:nvSpPr>
        <p:spPr>
          <a:xfrm>
            <a:off x="414338" y="446038"/>
            <a:ext cx="8330184" cy="333425"/>
          </a:xfrm>
        </p:spPr>
        <p:txBody>
          <a:bodyPr/>
          <a:lstStyle/>
          <a:p>
            <a:r>
              <a:rPr lang="en-US" dirty="0"/>
              <a:t>References </a:t>
            </a:r>
          </a:p>
        </p:txBody>
      </p:sp>
    </p:spTree>
    <p:extLst>
      <p:ext uri="{BB962C8B-B14F-4D97-AF65-F5344CB8AC3E}">
        <p14:creationId xmlns:p14="http://schemas.microsoft.com/office/powerpoint/2010/main" val="3583277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2336" y="5458968"/>
            <a:ext cx="5222287" cy="1152144"/>
          </a:xfrm>
        </p:spPr>
        <p:txBody>
          <a:bodyPr/>
          <a:lstStyle/>
          <a:p>
            <a:pPr lvl="0">
              <a:lnSpc>
                <a:spcPts val="900"/>
              </a:lnSpc>
            </a:pPr>
            <a:r>
              <a:rPr lang="en-US" b="1" dirty="0"/>
              <a:t>About Deloitte</a:t>
            </a:r>
            <a:br>
              <a:rPr lang="en-US" dirty="0"/>
            </a:br>
            <a:r>
              <a:rPr lang="en-US" dirty="0"/>
              <a:t>Deloitte refers to one or more of Deloitte Touche Tohmatsu Limited, a UK private company limited by guarantee, and its network of member firms, each of which is a legally separate and independent entity. Please see </a:t>
            </a:r>
            <a:r>
              <a:rPr lang="en-US" dirty="0">
                <a:hlinkClick r:id="rId3"/>
              </a:rPr>
              <a:t>www.deloitte.com/about</a:t>
            </a:r>
            <a:r>
              <a:rPr lang="en-US" dirty="0"/>
              <a:t> for a detailed description of the legal structure of Deloitte Touche Tohmatsu Limited and its member firms. Please see </a:t>
            </a:r>
            <a:r>
              <a:rPr lang="en-US" dirty="0">
                <a:hlinkClick r:id="rId4"/>
              </a:rPr>
              <a:t>www.deloitte.com/us/about</a:t>
            </a:r>
            <a:r>
              <a:rPr lang="en-US" dirty="0"/>
              <a:t> for a detailed description of the legal structure of Deloitte LLP and its subsidiaries. Certain services may not be available to attest clients under the rules and regulations of public accounting. </a:t>
            </a:r>
            <a:br>
              <a:rPr lang="en-US" dirty="0"/>
            </a:br>
            <a:br>
              <a:rPr lang="en-US" dirty="0"/>
            </a:br>
            <a:r>
              <a:rPr lang="en-US" dirty="0"/>
              <a:t>Copyright © 2013 Deloitte Development LLC. All rights reserved.</a:t>
            </a:r>
            <a:br>
              <a:rPr lang="en-US" dirty="0"/>
            </a:br>
            <a:r>
              <a:rPr lang="en-US" dirty="0"/>
              <a:t>36 USC 220506</a:t>
            </a:r>
            <a:br>
              <a:rPr lang="en-US" dirty="0"/>
            </a:br>
            <a:r>
              <a:rPr lang="en-US" dirty="0"/>
              <a:t>Member of Deloitte Touche Tohmatsu Limited</a:t>
            </a: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4981" y="4823544"/>
            <a:ext cx="3439237" cy="640080"/>
          </a:xfrm>
          <a:prstGeom prst="rect">
            <a:avLst/>
          </a:prstGeom>
        </p:spPr>
      </p:pic>
    </p:spTree>
  </p:cSld>
  <p:clrMapOvr>
    <a:masterClrMapping/>
  </p:clrMapOvr>
</p:sld>
</file>

<file path=ppt/theme/theme1.xml><?xml version="1.0" encoding="utf-8"?>
<a:theme xmlns:a="http://schemas.openxmlformats.org/drawingml/2006/main" name="Deloitte Timesaver">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DED98EF32D3214CB70C05B8744D0929" ma:contentTypeVersion="7" ma:contentTypeDescription="Create a new document." ma:contentTypeScope="" ma:versionID="40cc7d733678059ff86da90372e2fa7a">
  <xsd:schema xmlns:xsd="http://www.w3.org/2001/XMLSchema" xmlns:xs="http://www.w3.org/2001/XMLSchema" xmlns:p="http://schemas.microsoft.com/office/2006/metadata/properties" xmlns:ns2="b5121742-9793-4a32-84c8-2960490017f9" targetNamespace="http://schemas.microsoft.com/office/2006/metadata/properties" ma:root="true" ma:fieldsID="eaa0850f9aed016f3b95f56877da1c6c" ns2:_="">
    <xsd:import namespace="b5121742-9793-4a32-84c8-2960490017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121742-9793-4a32-84c8-2960490017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2E57C6-276C-46F4-9C38-D43034ECA86B}">
  <ds:schemaRefs>
    <ds:schemaRef ds:uri="http://schemas.microsoft.com/office/2006/documentManagement/types"/>
    <ds:schemaRef ds:uri="http://schemas.microsoft.com/office/2006/metadata/properties"/>
    <ds:schemaRef ds:uri="http://schemas.microsoft.com/office/infopath/2007/PartnerControls"/>
    <ds:schemaRef ds:uri="http://purl.org/dc/elements/1.1/"/>
    <ds:schemaRef ds:uri="60abb974-290a-4d2d-a7d7-9131eff0095d"/>
    <ds:schemaRef ds:uri="http://purl.org/dc/terms/"/>
    <ds:schemaRef ds:uri="http://www.w3.org/XML/1998/namespace"/>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FEAC78C4-5423-4912-8972-6FB5B8C92481}">
  <ds:schemaRefs>
    <ds:schemaRef ds:uri="http://schemas.microsoft.com/sharepoint/v3/contenttype/forms"/>
  </ds:schemaRefs>
</ds:datastoreItem>
</file>

<file path=customXml/itemProps3.xml><?xml version="1.0" encoding="utf-8"?>
<ds:datastoreItem xmlns:ds="http://schemas.openxmlformats.org/officeDocument/2006/customXml" ds:itemID="{50E621BC-F43E-4561-B105-CDEDC17E1A3E}"/>
</file>

<file path=docProps/app.xml><?xml version="1.0" encoding="utf-8"?>
<Properties xmlns="http://schemas.openxmlformats.org/officeDocument/2006/extended-properties" xmlns:vt="http://schemas.openxmlformats.org/officeDocument/2006/docPropsVTypes">
  <Template/>
  <TotalTime>11344</TotalTime>
  <Words>1970</Words>
  <Application>Microsoft Office PowerPoint</Application>
  <PresentationFormat>On-screen Show (4:3)</PresentationFormat>
  <Paragraphs>134</Paragraphs>
  <Slides>23</Slides>
  <Notes>2</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Deloitte Timesaver</vt:lpstr>
      <vt:lpstr>Cloud Computing,   SAP Business Technology Platform (BTP) and   SAP Integration Suite Overview</vt:lpstr>
      <vt:lpstr>Agenda</vt:lpstr>
      <vt:lpstr>Introduction to Cloud Computing</vt:lpstr>
      <vt:lpstr>Cloud Computing : Advantages</vt:lpstr>
      <vt:lpstr>Cloud Computing : Services</vt:lpstr>
      <vt:lpstr>Cloud Services : Software-as-a-service (SaaS)</vt:lpstr>
      <vt:lpstr>Cloud Services : Platform-as-a-Service (PaaS)</vt:lpstr>
      <vt:lpstr>Cloud Services : Infrastructure-as-a-Service (IaaS)</vt:lpstr>
      <vt:lpstr>Cloud Services : Use Case</vt:lpstr>
      <vt:lpstr>SAP Business Technology Platform (BTP)</vt:lpstr>
      <vt:lpstr>SAP Business Technology Platform (BTP) Capabilities </vt:lpstr>
      <vt:lpstr>SAP Integration Suite</vt:lpstr>
      <vt:lpstr>SAP Integration Suite Capabilities </vt:lpstr>
      <vt:lpstr>SAP Integration Suite: Open Connectors</vt:lpstr>
      <vt:lpstr>SAP Integration Suite: API Management</vt:lpstr>
      <vt:lpstr>SAP Integration Suite: Event Mesh</vt:lpstr>
      <vt:lpstr>SAP Integration Suite: Trading Partner and Management</vt:lpstr>
      <vt:lpstr>SAP Integration Suite: Integration Assessment</vt:lpstr>
      <vt:lpstr>SAP Integration Suite: Integration Advisor </vt:lpstr>
      <vt:lpstr>SAP Integration Suite: Cloud Integration (CI)</vt:lpstr>
      <vt:lpstr>SAP Integration Suite Pricing Models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CPI Overview</dc:title>
  <dc:creator>Jain, Vishal</dc:creator>
  <cp:lastModifiedBy>Mantri, Mr. Rushikesh</cp:lastModifiedBy>
  <cp:revision>137</cp:revision>
  <dcterms:created xsi:type="dcterms:W3CDTF">2020-09-22T09:45:28Z</dcterms:created>
  <dcterms:modified xsi:type="dcterms:W3CDTF">2025-06-09T14:33:56Z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0x0101005DED98EF32D3214CB70C05B8744D0929</vt:lpwstr>
  </property>
  <property fmtid="{D5CDD505-2E9C-101B-9397-08002B2CF9AE}" pid="3" name="MSIP_Label_ea60d57e-af5b-4752-ac57-3e4f28ca11dc_Enabled">
    <vt:lpwstr>true</vt:lpwstr>
  </property>
  <property fmtid="{D5CDD505-2E9C-101B-9397-08002B2CF9AE}" pid="4" name="MSIP_Label_ea60d57e-af5b-4752-ac57-3e4f28ca11dc_SetDate">
    <vt:lpwstr>2021-06-28T07:52:46Z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5c8a733d-4feb-4243-b7dd-63d8e0cb6f54</vt:lpwstr>
  </property>
  <property fmtid="{D5CDD505-2E9C-101B-9397-08002B2CF9AE}" pid="9" name="MSIP_Label_ea60d57e-af5b-4752-ac57-3e4f28ca11dc_ContentBits">
    <vt:lpwstr>0</vt:lpwstr>
  </property>
  <property fmtid="{D5CDD505-2E9C-101B-9397-08002B2CF9AE}" pid="10" name="Order">
    <vt:r8>600</vt:r8>
  </property>
  <property fmtid="{D5CDD505-2E9C-101B-9397-08002B2CF9AE}" pid="11" name="xd_Signature">
    <vt:bool>false</vt:bool>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ies>
</file>